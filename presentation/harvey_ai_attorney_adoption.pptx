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31"/>
  </p:notesMasterIdLst>
  <p:sldIdLst>
    <p:sldId id="256" r:id="rId2"/>
    <p:sldId id="257" r:id="rId3"/>
    <p:sldId id="284" r:id="rId4"/>
    <p:sldId id="263" r:id="rId5"/>
    <p:sldId id="285" r:id="rId6"/>
    <p:sldId id="289" r:id="rId7"/>
    <p:sldId id="288" r:id="rId8"/>
    <p:sldId id="287" r:id="rId9"/>
    <p:sldId id="291" r:id="rId10"/>
    <p:sldId id="292" r:id="rId11"/>
    <p:sldId id="258" r:id="rId12"/>
    <p:sldId id="259" r:id="rId13"/>
    <p:sldId id="281" r:id="rId14"/>
    <p:sldId id="266" r:id="rId15"/>
    <p:sldId id="267" r:id="rId16"/>
    <p:sldId id="274" r:id="rId17"/>
    <p:sldId id="282" r:id="rId18"/>
    <p:sldId id="275" r:id="rId19"/>
    <p:sldId id="276" r:id="rId20"/>
    <p:sldId id="277" r:id="rId21"/>
    <p:sldId id="278" r:id="rId22"/>
    <p:sldId id="279" r:id="rId23"/>
    <p:sldId id="283" r:id="rId24"/>
    <p:sldId id="280" r:id="rId25"/>
    <p:sldId id="260" r:id="rId26"/>
    <p:sldId id="261" r:id="rId27"/>
    <p:sldId id="262" r:id="rId28"/>
    <p:sldId id="264" r:id="rId29"/>
    <p:sldId id="265" r:id="rId30"/>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27"/>
    <p:restoredTop sz="94610"/>
  </p:normalViewPr>
  <p:slideViewPr>
    <p:cSldViewPr snapToGrid="0" snapToObjects="1">
      <p:cViewPr>
        <p:scale>
          <a:sx n="180" d="100"/>
          <a:sy n="180" d="100"/>
        </p:scale>
        <p:origin x="1360" y="12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B55BFE-1854-4576-A1AB-8661170F780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2485C10F-341F-4B44-9C96-8E017F3AC65C}">
      <dgm:prSet/>
      <dgm:spPr>
        <a:solidFill>
          <a:schemeClr val="accent5"/>
        </a:solidFill>
      </dgm:spPr>
      <dgm:t>
        <a:bodyPr/>
        <a:lstStyle/>
        <a:p>
          <a:r>
            <a:rPr lang="en-US" b="1" dirty="0"/>
            <a:t>Consumer Protection &amp; Business Misconduct</a:t>
          </a:r>
          <a:endParaRPr lang="en-US" dirty="0"/>
        </a:p>
      </dgm:t>
    </dgm:pt>
    <dgm:pt modelId="{8CD5076F-E260-4E0F-90AF-3C3461603F10}" type="parTrans" cxnId="{4CC42FB6-51D5-48CA-9D2F-0E4D4576155B}">
      <dgm:prSet/>
      <dgm:spPr/>
      <dgm:t>
        <a:bodyPr/>
        <a:lstStyle/>
        <a:p>
          <a:endParaRPr lang="en-US"/>
        </a:p>
      </dgm:t>
    </dgm:pt>
    <dgm:pt modelId="{CF49494A-89DC-46D9-9E00-079DB037A369}" type="sibTrans" cxnId="{4CC42FB6-51D5-48CA-9D2F-0E4D4576155B}">
      <dgm:prSet/>
      <dgm:spPr/>
      <dgm:t>
        <a:bodyPr/>
        <a:lstStyle/>
        <a:p>
          <a:endParaRPr lang="en-US"/>
        </a:p>
      </dgm:t>
    </dgm:pt>
    <dgm:pt modelId="{A7222CDF-261A-442B-B9C3-E2AB33912CB6}">
      <dgm:prSet/>
      <dgm:spPr/>
      <dgm:t>
        <a:bodyPr/>
        <a:lstStyle/>
        <a:p>
          <a:r>
            <a:rPr lang="en-US"/>
            <a:t>Contract disputes and breach claims (UCC Ch. 671–672)</a:t>
          </a:r>
        </a:p>
      </dgm:t>
    </dgm:pt>
    <dgm:pt modelId="{1F637C0B-D64A-4A2C-94F4-E35D14413BFF}" type="parTrans" cxnId="{D4E46DE5-0D60-4F31-AF2D-0095B71AFBA0}">
      <dgm:prSet/>
      <dgm:spPr/>
      <dgm:t>
        <a:bodyPr/>
        <a:lstStyle/>
        <a:p>
          <a:endParaRPr lang="en-US"/>
        </a:p>
      </dgm:t>
    </dgm:pt>
    <dgm:pt modelId="{C0C71C5F-47D9-499F-A1D6-D5A75A1CAF58}" type="sibTrans" cxnId="{D4E46DE5-0D60-4F31-AF2D-0095B71AFBA0}">
      <dgm:prSet/>
      <dgm:spPr/>
      <dgm:t>
        <a:bodyPr/>
        <a:lstStyle/>
        <a:p>
          <a:endParaRPr lang="en-US"/>
        </a:p>
      </dgm:t>
    </dgm:pt>
    <dgm:pt modelId="{07EF68EF-CFF3-4D06-A746-93C99D34E795}">
      <dgm:prSet/>
      <dgm:spPr/>
      <dgm:t>
        <a:bodyPr/>
        <a:lstStyle/>
        <a:p>
          <a:r>
            <a:rPr lang="en-US"/>
            <a:t>FDUTPA consumer protection claims (Ch. 501, Part II)</a:t>
          </a:r>
        </a:p>
      </dgm:t>
    </dgm:pt>
    <dgm:pt modelId="{50D3FDBE-6F11-4B53-B56E-B7F58EC15798}" type="parTrans" cxnId="{A57EC9E4-E496-468F-ADA9-EB53F7C9BBE8}">
      <dgm:prSet/>
      <dgm:spPr/>
      <dgm:t>
        <a:bodyPr/>
        <a:lstStyle/>
        <a:p>
          <a:endParaRPr lang="en-US"/>
        </a:p>
      </dgm:t>
    </dgm:pt>
    <dgm:pt modelId="{18E7B9E3-F5CE-42E8-8518-D5278902EA2B}" type="sibTrans" cxnId="{A57EC9E4-E496-468F-ADA9-EB53F7C9BBE8}">
      <dgm:prSet/>
      <dgm:spPr/>
      <dgm:t>
        <a:bodyPr/>
        <a:lstStyle/>
        <a:p>
          <a:endParaRPr lang="en-US"/>
        </a:p>
      </dgm:t>
    </dgm:pt>
    <dgm:pt modelId="{03E631DB-8A96-4BAD-8AAF-2D2675086227}">
      <dgm:prSet/>
      <dgm:spPr/>
      <dgm:t>
        <a:bodyPr/>
        <a:lstStyle/>
        <a:p>
          <a:r>
            <a:rPr lang="en-US"/>
            <a:t>Business organization disputes (LLCs Ch. 605; Corporations Ch. 607)</a:t>
          </a:r>
        </a:p>
      </dgm:t>
    </dgm:pt>
    <dgm:pt modelId="{81D3B353-CCE6-4335-AE29-57F036AC3C7F}" type="parTrans" cxnId="{121EC7D7-4656-4133-8236-5DD20AA82C46}">
      <dgm:prSet/>
      <dgm:spPr/>
      <dgm:t>
        <a:bodyPr/>
        <a:lstStyle/>
        <a:p>
          <a:endParaRPr lang="en-US"/>
        </a:p>
      </dgm:t>
    </dgm:pt>
    <dgm:pt modelId="{7D8229FA-98E0-4CCD-AF7B-6BD3FDEC6A3B}" type="sibTrans" cxnId="{121EC7D7-4656-4133-8236-5DD20AA82C46}">
      <dgm:prSet/>
      <dgm:spPr/>
      <dgm:t>
        <a:bodyPr/>
        <a:lstStyle/>
        <a:p>
          <a:endParaRPr lang="en-US"/>
        </a:p>
      </dgm:t>
    </dgm:pt>
    <dgm:pt modelId="{A9A527F9-A0CF-4BC4-AA74-19140BA19FD9}">
      <dgm:prSet/>
      <dgm:spPr/>
      <dgm:t>
        <a:bodyPr/>
        <a:lstStyle/>
        <a:p>
          <a:r>
            <a:rPr lang="en-US"/>
            <a:t>Timeshare disputes</a:t>
          </a:r>
          <a:br>
            <a:rPr lang="en-US"/>
          </a:br>
          <a:endParaRPr lang="en-US"/>
        </a:p>
      </dgm:t>
    </dgm:pt>
    <dgm:pt modelId="{23D2EA24-5EFD-438A-BF48-563B930338F6}" type="parTrans" cxnId="{AC75274F-92F6-4CDA-9423-4F27268D1E0B}">
      <dgm:prSet/>
      <dgm:spPr/>
      <dgm:t>
        <a:bodyPr/>
        <a:lstStyle/>
        <a:p>
          <a:endParaRPr lang="en-US"/>
        </a:p>
      </dgm:t>
    </dgm:pt>
    <dgm:pt modelId="{88B3E06F-F3B4-4214-ACF5-BA996000226E}" type="sibTrans" cxnId="{AC75274F-92F6-4CDA-9423-4F27268D1E0B}">
      <dgm:prSet/>
      <dgm:spPr/>
      <dgm:t>
        <a:bodyPr/>
        <a:lstStyle/>
        <a:p>
          <a:endParaRPr lang="en-US"/>
        </a:p>
      </dgm:t>
    </dgm:pt>
    <dgm:pt modelId="{73A6F8C1-19E7-406B-B56C-0C5D4E32F256}">
      <dgm:prSet/>
      <dgm:spPr>
        <a:solidFill>
          <a:schemeClr val="accent5"/>
        </a:solidFill>
      </dgm:spPr>
      <dgm:t>
        <a:bodyPr/>
        <a:lstStyle/>
        <a:p>
          <a:r>
            <a:rPr lang="en-US" b="1" dirty="0"/>
            <a:t>Real Estate &amp; Property Disputes</a:t>
          </a:r>
          <a:endParaRPr lang="en-US" dirty="0"/>
        </a:p>
      </dgm:t>
    </dgm:pt>
    <dgm:pt modelId="{44DB871B-508C-4EEB-B5CD-8ADD033B778B}" type="parTrans" cxnId="{96CE7789-8453-4198-A00C-162EAA3F8F18}">
      <dgm:prSet/>
      <dgm:spPr/>
      <dgm:t>
        <a:bodyPr/>
        <a:lstStyle/>
        <a:p>
          <a:endParaRPr lang="en-US"/>
        </a:p>
      </dgm:t>
    </dgm:pt>
    <dgm:pt modelId="{280F68C4-5281-42E2-B8F8-BA94279C7C0B}" type="sibTrans" cxnId="{96CE7789-8453-4198-A00C-162EAA3F8F18}">
      <dgm:prSet/>
      <dgm:spPr/>
      <dgm:t>
        <a:bodyPr/>
        <a:lstStyle/>
        <a:p>
          <a:endParaRPr lang="en-US"/>
        </a:p>
      </dgm:t>
    </dgm:pt>
    <dgm:pt modelId="{643AE552-043B-4E26-AD92-85B3EE45286B}">
      <dgm:prSet/>
      <dgm:spPr/>
      <dgm:t>
        <a:bodyPr/>
        <a:lstStyle/>
        <a:p>
          <a:r>
            <a:rPr lang="en-US"/>
            <a:t>Landlord–tenant matters (Ch. 83)</a:t>
          </a:r>
        </a:p>
      </dgm:t>
    </dgm:pt>
    <dgm:pt modelId="{7E5CD49F-EE1B-4EDD-8867-ABC8D705E6DA}" type="parTrans" cxnId="{D929E6F2-C274-4463-8B71-A5F6E21F4EB6}">
      <dgm:prSet/>
      <dgm:spPr/>
      <dgm:t>
        <a:bodyPr/>
        <a:lstStyle/>
        <a:p>
          <a:endParaRPr lang="en-US"/>
        </a:p>
      </dgm:t>
    </dgm:pt>
    <dgm:pt modelId="{07C1B9DE-B721-4E7D-B798-EE1B396EC388}" type="sibTrans" cxnId="{D929E6F2-C274-4463-8B71-A5F6E21F4EB6}">
      <dgm:prSet/>
      <dgm:spPr/>
      <dgm:t>
        <a:bodyPr/>
        <a:lstStyle/>
        <a:p>
          <a:endParaRPr lang="en-US"/>
        </a:p>
      </dgm:t>
    </dgm:pt>
    <dgm:pt modelId="{16CE38CF-192A-4865-B755-2AD4E4A9F1C8}">
      <dgm:prSet/>
      <dgm:spPr/>
      <dgm:t>
        <a:bodyPr/>
        <a:lstStyle/>
        <a:p>
          <a:r>
            <a:rPr lang="en-US"/>
            <a:t>Foreclosure defense and procedures (Ch. 702)</a:t>
          </a:r>
        </a:p>
      </dgm:t>
    </dgm:pt>
    <dgm:pt modelId="{CF0B0FD5-F203-49B0-823C-F8E96D4C3C3B}" type="parTrans" cxnId="{3217B58B-1D0A-4F98-8290-C3973A84AEA8}">
      <dgm:prSet/>
      <dgm:spPr/>
      <dgm:t>
        <a:bodyPr/>
        <a:lstStyle/>
        <a:p>
          <a:endParaRPr lang="en-US"/>
        </a:p>
      </dgm:t>
    </dgm:pt>
    <dgm:pt modelId="{C30EC16B-7A3B-4F5F-AEE3-2185F93C60D2}" type="sibTrans" cxnId="{3217B58B-1D0A-4F98-8290-C3973A84AEA8}">
      <dgm:prSet/>
      <dgm:spPr/>
      <dgm:t>
        <a:bodyPr/>
        <a:lstStyle/>
        <a:p>
          <a:endParaRPr lang="en-US"/>
        </a:p>
      </dgm:t>
    </dgm:pt>
    <dgm:pt modelId="{7BF6AB4F-8B5A-4D1A-AFD5-7AADE18C91E5}">
      <dgm:prSet/>
      <dgm:spPr/>
      <dgm:t>
        <a:bodyPr/>
        <a:lstStyle/>
        <a:p>
          <a:r>
            <a:rPr lang="en-US"/>
            <a:t>Property damage and insurance claims (Ch. 627)</a:t>
          </a:r>
        </a:p>
      </dgm:t>
    </dgm:pt>
    <dgm:pt modelId="{5194CFAF-43E8-4D1A-8FFE-B7E5F096B141}" type="parTrans" cxnId="{749FC0DF-BFC0-427F-AB68-3FB3E32877F2}">
      <dgm:prSet/>
      <dgm:spPr/>
      <dgm:t>
        <a:bodyPr/>
        <a:lstStyle/>
        <a:p>
          <a:endParaRPr lang="en-US"/>
        </a:p>
      </dgm:t>
    </dgm:pt>
    <dgm:pt modelId="{A37A5E71-2377-48EF-A5C9-6DD6194FE088}" type="sibTrans" cxnId="{749FC0DF-BFC0-427F-AB68-3FB3E32877F2}">
      <dgm:prSet/>
      <dgm:spPr/>
      <dgm:t>
        <a:bodyPr/>
        <a:lstStyle/>
        <a:p>
          <a:endParaRPr lang="en-US"/>
        </a:p>
      </dgm:t>
    </dgm:pt>
    <dgm:pt modelId="{193CDB2D-D7CF-4CFD-8FA2-BB7936FEB3F1}">
      <dgm:prSet/>
      <dgm:spPr/>
      <dgm:t>
        <a:bodyPr/>
        <a:lstStyle/>
        <a:p>
          <a:r>
            <a:rPr lang="en-US"/>
            <a:t>Construction defects (Ch. 558)</a:t>
          </a:r>
        </a:p>
      </dgm:t>
    </dgm:pt>
    <dgm:pt modelId="{BADA5A7A-D795-43A3-8AC2-5F4573FAEB60}" type="parTrans" cxnId="{922746C5-A798-4F7C-B424-67BB25AF43EE}">
      <dgm:prSet/>
      <dgm:spPr/>
      <dgm:t>
        <a:bodyPr/>
        <a:lstStyle/>
        <a:p>
          <a:endParaRPr lang="en-US"/>
        </a:p>
      </dgm:t>
    </dgm:pt>
    <dgm:pt modelId="{0EB76C90-B75E-4CC0-AC6F-16CDDC4CA190}" type="sibTrans" cxnId="{922746C5-A798-4F7C-B424-67BB25AF43EE}">
      <dgm:prSet/>
      <dgm:spPr/>
      <dgm:t>
        <a:bodyPr/>
        <a:lstStyle/>
        <a:p>
          <a:endParaRPr lang="en-US"/>
        </a:p>
      </dgm:t>
    </dgm:pt>
    <dgm:pt modelId="{E2D39F3F-8AE2-465F-A8F7-97A757C2B0B7}">
      <dgm:prSet/>
      <dgm:spPr/>
      <dgm:t>
        <a:bodyPr/>
        <a:lstStyle/>
        <a:p>
          <a:r>
            <a:rPr lang="en-US"/>
            <a:t>Mechanic’s liens (Ch. 713)</a:t>
          </a:r>
          <a:br>
            <a:rPr lang="en-US"/>
          </a:br>
          <a:endParaRPr lang="en-US"/>
        </a:p>
      </dgm:t>
    </dgm:pt>
    <dgm:pt modelId="{BECD618B-0C88-4101-BA4E-7B13CB69962E}" type="parTrans" cxnId="{F634F419-8938-4EF8-9AC9-E196FEB1B1B1}">
      <dgm:prSet/>
      <dgm:spPr/>
      <dgm:t>
        <a:bodyPr/>
        <a:lstStyle/>
        <a:p>
          <a:endParaRPr lang="en-US"/>
        </a:p>
      </dgm:t>
    </dgm:pt>
    <dgm:pt modelId="{6495CF23-2273-40E5-81DD-E2B4FBB2FD49}" type="sibTrans" cxnId="{F634F419-8938-4EF8-9AC9-E196FEB1B1B1}">
      <dgm:prSet/>
      <dgm:spPr/>
      <dgm:t>
        <a:bodyPr/>
        <a:lstStyle/>
        <a:p>
          <a:endParaRPr lang="en-US"/>
        </a:p>
      </dgm:t>
    </dgm:pt>
    <dgm:pt modelId="{7E3BAC60-138C-4BD9-BC19-33B60014A7ED}">
      <dgm:prSet/>
      <dgm:spPr>
        <a:solidFill>
          <a:schemeClr val="accent5"/>
        </a:solidFill>
      </dgm:spPr>
      <dgm:t>
        <a:bodyPr/>
        <a:lstStyle/>
        <a:p>
          <a:r>
            <a:rPr lang="en-US" b="1"/>
            <a:t>Civil Litigation &amp; Administrative Law</a:t>
          </a:r>
          <a:endParaRPr lang="en-US"/>
        </a:p>
      </dgm:t>
    </dgm:pt>
    <dgm:pt modelId="{ED5CB649-8CE9-4363-AF1E-26129BFD5AAF}" type="parTrans" cxnId="{BFB4AE72-3F4E-4F0C-BA45-33C778D6EEED}">
      <dgm:prSet/>
      <dgm:spPr/>
      <dgm:t>
        <a:bodyPr/>
        <a:lstStyle/>
        <a:p>
          <a:endParaRPr lang="en-US"/>
        </a:p>
      </dgm:t>
    </dgm:pt>
    <dgm:pt modelId="{F287D109-D9B7-47BC-BD04-798BC30B0DB2}" type="sibTrans" cxnId="{BFB4AE72-3F4E-4F0C-BA45-33C778D6EEED}">
      <dgm:prSet/>
      <dgm:spPr/>
      <dgm:t>
        <a:bodyPr/>
        <a:lstStyle/>
        <a:p>
          <a:endParaRPr lang="en-US"/>
        </a:p>
      </dgm:t>
    </dgm:pt>
    <dgm:pt modelId="{CC14AF97-A7F3-4579-BA66-6C58FDCBF727}">
      <dgm:prSet/>
      <dgm:spPr/>
      <dgm:t>
        <a:bodyPr/>
        <a:lstStyle/>
        <a:p>
          <a:r>
            <a:rPr lang="en-US"/>
            <a:t>Statutes of limitation (Ch. 95)</a:t>
          </a:r>
        </a:p>
      </dgm:t>
    </dgm:pt>
    <dgm:pt modelId="{F1197743-4E91-4B71-9E40-78AF924FA3EE}" type="parTrans" cxnId="{6BD9E280-D64C-4771-906B-4439AD5B3F5C}">
      <dgm:prSet/>
      <dgm:spPr/>
      <dgm:t>
        <a:bodyPr/>
        <a:lstStyle/>
        <a:p>
          <a:endParaRPr lang="en-US"/>
        </a:p>
      </dgm:t>
    </dgm:pt>
    <dgm:pt modelId="{CD64A145-2CDA-4C1B-9D1C-4A68E046DE35}" type="sibTrans" cxnId="{6BD9E280-D64C-4771-906B-4439AD5B3F5C}">
      <dgm:prSet/>
      <dgm:spPr/>
      <dgm:t>
        <a:bodyPr/>
        <a:lstStyle/>
        <a:p>
          <a:endParaRPr lang="en-US"/>
        </a:p>
      </dgm:t>
    </dgm:pt>
    <dgm:pt modelId="{C8E49839-F756-4C45-B16E-DDE4755D8666}">
      <dgm:prSet/>
      <dgm:spPr/>
      <dgm:t>
        <a:bodyPr/>
        <a:lstStyle/>
        <a:p>
          <a:r>
            <a:rPr lang="en-US"/>
            <a:t>Administrative procedure matters (Ch. 120)</a:t>
          </a:r>
        </a:p>
      </dgm:t>
    </dgm:pt>
    <dgm:pt modelId="{A5A471A8-A0CA-4CD8-A92D-4BEE4C0665CC}" type="parTrans" cxnId="{902869E8-FEC7-4591-9EAD-DEA3CA185483}">
      <dgm:prSet/>
      <dgm:spPr/>
      <dgm:t>
        <a:bodyPr/>
        <a:lstStyle/>
        <a:p>
          <a:endParaRPr lang="en-US"/>
        </a:p>
      </dgm:t>
    </dgm:pt>
    <dgm:pt modelId="{8B1161DD-2671-46E4-9E5D-AFD3425AD79F}" type="sibTrans" cxnId="{902869E8-FEC7-4591-9EAD-DEA3CA185483}">
      <dgm:prSet/>
      <dgm:spPr/>
      <dgm:t>
        <a:bodyPr/>
        <a:lstStyle/>
        <a:p>
          <a:endParaRPr lang="en-US"/>
        </a:p>
      </dgm:t>
    </dgm:pt>
    <dgm:pt modelId="{F6F0DD04-4EA0-48F1-BA22-20C7CC03FDFE}">
      <dgm:prSet/>
      <dgm:spPr/>
      <dgm:t>
        <a:bodyPr/>
        <a:lstStyle/>
        <a:p>
          <a:r>
            <a:rPr lang="en-US"/>
            <a:t>Attorney fees and sanctions (Ch. 57)</a:t>
          </a:r>
        </a:p>
      </dgm:t>
    </dgm:pt>
    <dgm:pt modelId="{56B7BC61-DFAD-4A4A-9018-50FAB5447114}" type="parTrans" cxnId="{5F320693-E5C2-4DB3-950F-F0B05DD2685F}">
      <dgm:prSet/>
      <dgm:spPr/>
      <dgm:t>
        <a:bodyPr/>
        <a:lstStyle/>
        <a:p>
          <a:endParaRPr lang="en-US"/>
        </a:p>
      </dgm:t>
    </dgm:pt>
    <dgm:pt modelId="{5A162EF8-A4D2-489C-B80E-69BDCA751C91}" type="sibTrans" cxnId="{5F320693-E5C2-4DB3-950F-F0B05DD2685F}">
      <dgm:prSet/>
      <dgm:spPr/>
      <dgm:t>
        <a:bodyPr/>
        <a:lstStyle/>
        <a:p>
          <a:endParaRPr lang="en-US"/>
        </a:p>
      </dgm:t>
    </dgm:pt>
    <dgm:pt modelId="{F42858F2-8EA9-F841-B95A-96B67E499FB1}" type="pres">
      <dgm:prSet presAssocID="{52B55BFE-1854-4576-A1AB-8661170F780A}" presName="diagram" presStyleCnt="0">
        <dgm:presLayoutVars>
          <dgm:dir/>
          <dgm:resizeHandles val="exact"/>
        </dgm:presLayoutVars>
      </dgm:prSet>
      <dgm:spPr/>
    </dgm:pt>
    <dgm:pt modelId="{C1A86CC3-609B-664A-AAB3-0C237A898BB6}" type="pres">
      <dgm:prSet presAssocID="{2485C10F-341F-4B44-9C96-8E017F3AC65C}" presName="node" presStyleLbl="node1" presStyleIdx="0" presStyleCnt="15">
        <dgm:presLayoutVars>
          <dgm:bulletEnabled val="1"/>
        </dgm:presLayoutVars>
      </dgm:prSet>
      <dgm:spPr/>
    </dgm:pt>
    <dgm:pt modelId="{B6AE8E75-F3BC-B149-8F02-E9E7713B07E7}" type="pres">
      <dgm:prSet presAssocID="{CF49494A-89DC-46D9-9E00-079DB037A369}" presName="sibTrans" presStyleCnt="0"/>
      <dgm:spPr/>
    </dgm:pt>
    <dgm:pt modelId="{AAFDDAC3-50D5-B445-A96A-E6B02994B2E9}" type="pres">
      <dgm:prSet presAssocID="{A7222CDF-261A-442B-B9C3-E2AB33912CB6}" presName="node" presStyleLbl="node1" presStyleIdx="1" presStyleCnt="15">
        <dgm:presLayoutVars>
          <dgm:bulletEnabled val="1"/>
        </dgm:presLayoutVars>
      </dgm:prSet>
      <dgm:spPr/>
    </dgm:pt>
    <dgm:pt modelId="{A3103D38-283D-4D46-BDF3-0DBBC1CB4E55}" type="pres">
      <dgm:prSet presAssocID="{C0C71C5F-47D9-499F-A1D6-D5A75A1CAF58}" presName="sibTrans" presStyleCnt="0"/>
      <dgm:spPr/>
    </dgm:pt>
    <dgm:pt modelId="{0B8F2103-9842-174F-8C72-6F0F6C7038EC}" type="pres">
      <dgm:prSet presAssocID="{07EF68EF-CFF3-4D06-A746-93C99D34E795}" presName="node" presStyleLbl="node1" presStyleIdx="2" presStyleCnt="15">
        <dgm:presLayoutVars>
          <dgm:bulletEnabled val="1"/>
        </dgm:presLayoutVars>
      </dgm:prSet>
      <dgm:spPr/>
    </dgm:pt>
    <dgm:pt modelId="{1648B458-E868-0347-9A39-95CD354F57FE}" type="pres">
      <dgm:prSet presAssocID="{18E7B9E3-F5CE-42E8-8518-D5278902EA2B}" presName="sibTrans" presStyleCnt="0"/>
      <dgm:spPr/>
    </dgm:pt>
    <dgm:pt modelId="{18D0867E-8F06-684C-B104-22D68761CE9F}" type="pres">
      <dgm:prSet presAssocID="{03E631DB-8A96-4BAD-8AAF-2D2675086227}" presName="node" presStyleLbl="node1" presStyleIdx="3" presStyleCnt="15">
        <dgm:presLayoutVars>
          <dgm:bulletEnabled val="1"/>
        </dgm:presLayoutVars>
      </dgm:prSet>
      <dgm:spPr/>
    </dgm:pt>
    <dgm:pt modelId="{F122C642-0FDD-D645-BC02-8F77A3677579}" type="pres">
      <dgm:prSet presAssocID="{7D8229FA-98E0-4CCD-AF7B-6BD3FDEC6A3B}" presName="sibTrans" presStyleCnt="0"/>
      <dgm:spPr/>
    </dgm:pt>
    <dgm:pt modelId="{50ED0A5B-10AA-DE4A-AB86-E9CBF6BA272E}" type="pres">
      <dgm:prSet presAssocID="{A9A527F9-A0CF-4BC4-AA74-19140BA19FD9}" presName="node" presStyleLbl="node1" presStyleIdx="4" presStyleCnt="15">
        <dgm:presLayoutVars>
          <dgm:bulletEnabled val="1"/>
        </dgm:presLayoutVars>
      </dgm:prSet>
      <dgm:spPr/>
    </dgm:pt>
    <dgm:pt modelId="{3BDA9DD7-145E-1741-9F0B-6CB7F8BDCA50}" type="pres">
      <dgm:prSet presAssocID="{88B3E06F-F3B4-4214-ACF5-BA996000226E}" presName="sibTrans" presStyleCnt="0"/>
      <dgm:spPr/>
    </dgm:pt>
    <dgm:pt modelId="{51D536E3-1E17-784F-9375-944DB1CD7967}" type="pres">
      <dgm:prSet presAssocID="{73A6F8C1-19E7-406B-B56C-0C5D4E32F256}" presName="node" presStyleLbl="node1" presStyleIdx="5" presStyleCnt="15">
        <dgm:presLayoutVars>
          <dgm:bulletEnabled val="1"/>
        </dgm:presLayoutVars>
      </dgm:prSet>
      <dgm:spPr/>
    </dgm:pt>
    <dgm:pt modelId="{CE930A11-766C-1044-91C8-01388E32956B}" type="pres">
      <dgm:prSet presAssocID="{280F68C4-5281-42E2-B8F8-BA94279C7C0B}" presName="sibTrans" presStyleCnt="0"/>
      <dgm:spPr/>
    </dgm:pt>
    <dgm:pt modelId="{FC5F048F-AA62-ED40-A41D-19793AE67302}" type="pres">
      <dgm:prSet presAssocID="{643AE552-043B-4E26-AD92-85B3EE45286B}" presName="node" presStyleLbl="node1" presStyleIdx="6" presStyleCnt="15">
        <dgm:presLayoutVars>
          <dgm:bulletEnabled val="1"/>
        </dgm:presLayoutVars>
      </dgm:prSet>
      <dgm:spPr/>
    </dgm:pt>
    <dgm:pt modelId="{FC3B4633-AF79-BF42-8E9F-C2B9BAD31491}" type="pres">
      <dgm:prSet presAssocID="{07C1B9DE-B721-4E7D-B798-EE1B396EC388}" presName="sibTrans" presStyleCnt="0"/>
      <dgm:spPr/>
    </dgm:pt>
    <dgm:pt modelId="{CEFDB49C-52F6-574E-AD97-C91ED7BD16E4}" type="pres">
      <dgm:prSet presAssocID="{16CE38CF-192A-4865-B755-2AD4E4A9F1C8}" presName="node" presStyleLbl="node1" presStyleIdx="7" presStyleCnt="15">
        <dgm:presLayoutVars>
          <dgm:bulletEnabled val="1"/>
        </dgm:presLayoutVars>
      </dgm:prSet>
      <dgm:spPr/>
    </dgm:pt>
    <dgm:pt modelId="{94EAE7AE-3C4B-914A-8F63-A938F785F753}" type="pres">
      <dgm:prSet presAssocID="{C30EC16B-7A3B-4F5F-AEE3-2185F93C60D2}" presName="sibTrans" presStyleCnt="0"/>
      <dgm:spPr/>
    </dgm:pt>
    <dgm:pt modelId="{B54273DD-7C5C-2A41-82DE-3FBF3319A29A}" type="pres">
      <dgm:prSet presAssocID="{7BF6AB4F-8B5A-4D1A-AFD5-7AADE18C91E5}" presName="node" presStyleLbl="node1" presStyleIdx="8" presStyleCnt="15">
        <dgm:presLayoutVars>
          <dgm:bulletEnabled val="1"/>
        </dgm:presLayoutVars>
      </dgm:prSet>
      <dgm:spPr/>
    </dgm:pt>
    <dgm:pt modelId="{B80FB064-EE0F-CB43-9176-C306FAB7B8EE}" type="pres">
      <dgm:prSet presAssocID="{A37A5E71-2377-48EF-A5C9-6DD6194FE088}" presName="sibTrans" presStyleCnt="0"/>
      <dgm:spPr/>
    </dgm:pt>
    <dgm:pt modelId="{D8148B23-5A97-5A49-B8DE-45C7FF6F6C0D}" type="pres">
      <dgm:prSet presAssocID="{193CDB2D-D7CF-4CFD-8FA2-BB7936FEB3F1}" presName="node" presStyleLbl="node1" presStyleIdx="9" presStyleCnt="15">
        <dgm:presLayoutVars>
          <dgm:bulletEnabled val="1"/>
        </dgm:presLayoutVars>
      </dgm:prSet>
      <dgm:spPr/>
    </dgm:pt>
    <dgm:pt modelId="{05331DA0-CF0D-5C44-AE40-BCEEA29A409A}" type="pres">
      <dgm:prSet presAssocID="{0EB76C90-B75E-4CC0-AC6F-16CDDC4CA190}" presName="sibTrans" presStyleCnt="0"/>
      <dgm:spPr/>
    </dgm:pt>
    <dgm:pt modelId="{704CAB41-3A80-6D48-938F-9A79444D1776}" type="pres">
      <dgm:prSet presAssocID="{E2D39F3F-8AE2-465F-A8F7-97A757C2B0B7}" presName="node" presStyleLbl="node1" presStyleIdx="10" presStyleCnt="15">
        <dgm:presLayoutVars>
          <dgm:bulletEnabled val="1"/>
        </dgm:presLayoutVars>
      </dgm:prSet>
      <dgm:spPr/>
    </dgm:pt>
    <dgm:pt modelId="{3EC88768-66DC-2A4F-8556-EBBF1F8CC2EA}" type="pres">
      <dgm:prSet presAssocID="{6495CF23-2273-40E5-81DD-E2B4FBB2FD49}" presName="sibTrans" presStyleCnt="0"/>
      <dgm:spPr/>
    </dgm:pt>
    <dgm:pt modelId="{8EB7D144-99DA-D84A-92A9-1EE2DD7CCC4F}" type="pres">
      <dgm:prSet presAssocID="{7E3BAC60-138C-4BD9-BC19-33B60014A7ED}" presName="node" presStyleLbl="node1" presStyleIdx="11" presStyleCnt="15">
        <dgm:presLayoutVars>
          <dgm:bulletEnabled val="1"/>
        </dgm:presLayoutVars>
      </dgm:prSet>
      <dgm:spPr/>
    </dgm:pt>
    <dgm:pt modelId="{CAC1ED1B-CA55-0B49-869A-10420D84D4E0}" type="pres">
      <dgm:prSet presAssocID="{F287D109-D9B7-47BC-BD04-798BC30B0DB2}" presName="sibTrans" presStyleCnt="0"/>
      <dgm:spPr/>
    </dgm:pt>
    <dgm:pt modelId="{F09CE6CF-D08E-3142-B928-995258852CD3}" type="pres">
      <dgm:prSet presAssocID="{CC14AF97-A7F3-4579-BA66-6C58FDCBF727}" presName="node" presStyleLbl="node1" presStyleIdx="12" presStyleCnt="15">
        <dgm:presLayoutVars>
          <dgm:bulletEnabled val="1"/>
        </dgm:presLayoutVars>
      </dgm:prSet>
      <dgm:spPr/>
    </dgm:pt>
    <dgm:pt modelId="{17376D95-2072-6E44-8CA8-7622795910BC}" type="pres">
      <dgm:prSet presAssocID="{CD64A145-2CDA-4C1B-9D1C-4A68E046DE35}" presName="sibTrans" presStyleCnt="0"/>
      <dgm:spPr/>
    </dgm:pt>
    <dgm:pt modelId="{4F243171-2DC5-9F4F-831F-0F3749FD74D6}" type="pres">
      <dgm:prSet presAssocID="{C8E49839-F756-4C45-B16E-DDE4755D8666}" presName="node" presStyleLbl="node1" presStyleIdx="13" presStyleCnt="15">
        <dgm:presLayoutVars>
          <dgm:bulletEnabled val="1"/>
        </dgm:presLayoutVars>
      </dgm:prSet>
      <dgm:spPr/>
    </dgm:pt>
    <dgm:pt modelId="{CE58147A-8A09-744B-976E-C5AE95399676}" type="pres">
      <dgm:prSet presAssocID="{8B1161DD-2671-46E4-9E5D-AFD3425AD79F}" presName="sibTrans" presStyleCnt="0"/>
      <dgm:spPr/>
    </dgm:pt>
    <dgm:pt modelId="{D8E4E274-52A5-4F46-A050-FADCEC0795B3}" type="pres">
      <dgm:prSet presAssocID="{F6F0DD04-4EA0-48F1-BA22-20C7CC03FDFE}" presName="node" presStyleLbl="node1" presStyleIdx="14" presStyleCnt="15">
        <dgm:presLayoutVars>
          <dgm:bulletEnabled val="1"/>
        </dgm:presLayoutVars>
      </dgm:prSet>
      <dgm:spPr/>
    </dgm:pt>
  </dgm:ptLst>
  <dgm:cxnLst>
    <dgm:cxn modelId="{F634F419-8938-4EF8-9AC9-E196FEB1B1B1}" srcId="{52B55BFE-1854-4576-A1AB-8661170F780A}" destId="{E2D39F3F-8AE2-465F-A8F7-97A757C2B0B7}" srcOrd="10" destOrd="0" parTransId="{BECD618B-0C88-4101-BA4E-7B13CB69962E}" sibTransId="{6495CF23-2273-40E5-81DD-E2B4FBB2FD49}"/>
    <dgm:cxn modelId="{47216227-0B4E-FB4A-B44E-4E6AB69D200F}" type="presOf" srcId="{7BF6AB4F-8B5A-4D1A-AFD5-7AADE18C91E5}" destId="{B54273DD-7C5C-2A41-82DE-3FBF3319A29A}" srcOrd="0" destOrd="0" presId="urn:microsoft.com/office/officeart/2005/8/layout/default"/>
    <dgm:cxn modelId="{03402128-FD2F-3A43-98C1-F48D67A79C14}" type="presOf" srcId="{A7222CDF-261A-442B-B9C3-E2AB33912CB6}" destId="{AAFDDAC3-50D5-B445-A96A-E6B02994B2E9}" srcOrd="0" destOrd="0" presId="urn:microsoft.com/office/officeart/2005/8/layout/default"/>
    <dgm:cxn modelId="{52858D2C-100A-D843-8946-79C87372B785}" type="presOf" srcId="{07EF68EF-CFF3-4D06-A746-93C99D34E795}" destId="{0B8F2103-9842-174F-8C72-6F0F6C7038EC}" srcOrd="0" destOrd="0" presId="urn:microsoft.com/office/officeart/2005/8/layout/default"/>
    <dgm:cxn modelId="{DFE54C36-420B-6E42-AE01-A645CA4A2158}" type="presOf" srcId="{F6F0DD04-4EA0-48F1-BA22-20C7CC03FDFE}" destId="{D8E4E274-52A5-4F46-A050-FADCEC0795B3}" srcOrd="0" destOrd="0" presId="urn:microsoft.com/office/officeart/2005/8/layout/default"/>
    <dgm:cxn modelId="{449CD13A-029B-2F48-828E-BDC68EE7F712}" type="presOf" srcId="{52B55BFE-1854-4576-A1AB-8661170F780A}" destId="{F42858F2-8EA9-F841-B95A-96B67E499FB1}" srcOrd="0" destOrd="0" presId="urn:microsoft.com/office/officeart/2005/8/layout/default"/>
    <dgm:cxn modelId="{AC75274F-92F6-4CDA-9423-4F27268D1E0B}" srcId="{52B55BFE-1854-4576-A1AB-8661170F780A}" destId="{A9A527F9-A0CF-4BC4-AA74-19140BA19FD9}" srcOrd="4" destOrd="0" parTransId="{23D2EA24-5EFD-438A-BF48-563B930338F6}" sibTransId="{88B3E06F-F3B4-4214-ACF5-BA996000226E}"/>
    <dgm:cxn modelId="{E216B767-8730-BD43-931B-0C45D5F1E635}" type="presOf" srcId="{E2D39F3F-8AE2-465F-A8F7-97A757C2B0B7}" destId="{704CAB41-3A80-6D48-938F-9A79444D1776}" srcOrd="0" destOrd="0" presId="urn:microsoft.com/office/officeart/2005/8/layout/default"/>
    <dgm:cxn modelId="{BFB4AE72-3F4E-4F0C-BA45-33C778D6EEED}" srcId="{52B55BFE-1854-4576-A1AB-8661170F780A}" destId="{7E3BAC60-138C-4BD9-BC19-33B60014A7ED}" srcOrd="11" destOrd="0" parTransId="{ED5CB649-8CE9-4363-AF1E-26129BFD5AAF}" sibTransId="{F287D109-D9B7-47BC-BD04-798BC30B0DB2}"/>
    <dgm:cxn modelId="{965B7B76-FA0A-0841-9C59-768882CEE54E}" type="presOf" srcId="{16CE38CF-192A-4865-B755-2AD4E4A9F1C8}" destId="{CEFDB49C-52F6-574E-AD97-C91ED7BD16E4}" srcOrd="0" destOrd="0" presId="urn:microsoft.com/office/officeart/2005/8/layout/default"/>
    <dgm:cxn modelId="{0A6CEE77-C0BA-C64D-AFFA-49584EF26F12}" type="presOf" srcId="{CC14AF97-A7F3-4579-BA66-6C58FDCBF727}" destId="{F09CE6CF-D08E-3142-B928-995258852CD3}" srcOrd="0" destOrd="0" presId="urn:microsoft.com/office/officeart/2005/8/layout/default"/>
    <dgm:cxn modelId="{F0B72B7B-53B7-094B-8EF4-59BD3CF30711}" type="presOf" srcId="{03E631DB-8A96-4BAD-8AAF-2D2675086227}" destId="{18D0867E-8F06-684C-B104-22D68761CE9F}" srcOrd="0" destOrd="0" presId="urn:microsoft.com/office/officeart/2005/8/layout/default"/>
    <dgm:cxn modelId="{A9FA8E7F-D239-CD4C-9868-C24305E4DDFE}" type="presOf" srcId="{643AE552-043B-4E26-AD92-85B3EE45286B}" destId="{FC5F048F-AA62-ED40-A41D-19793AE67302}" srcOrd="0" destOrd="0" presId="urn:microsoft.com/office/officeart/2005/8/layout/default"/>
    <dgm:cxn modelId="{6BD9E280-D64C-4771-906B-4439AD5B3F5C}" srcId="{52B55BFE-1854-4576-A1AB-8661170F780A}" destId="{CC14AF97-A7F3-4579-BA66-6C58FDCBF727}" srcOrd="12" destOrd="0" parTransId="{F1197743-4E91-4B71-9E40-78AF924FA3EE}" sibTransId="{CD64A145-2CDA-4C1B-9D1C-4A68E046DE35}"/>
    <dgm:cxn modelId="{54A93885-ECC0-8A48-A467-6BD6D4D9CDE9}" type="presOf" srcId="{7E3BAC60-138C-4BD9-BC19-33B60014A7ED}" destId="{8EB7D144-99DA-D84A-92A9-1EE2DD7CCC4F}" srcOrd="0" destOrd="0" presId="urn:microsoft.com/office/officeart/2005/8/layout/default"/>
    <dgm:cxn modelId="{96CE7789-8453-4198-A00C-162EAA3F8F18}" srcId="{52B55BFE-1854-4576-A1AB-8661170F780A}" destId="{73A6F8C1-19E7-406B-B56C-0C5D4E32F256}" srcOrd="5" destOrd="0" parTransId="{44DB871B-508C-4EEB-B5CD-8ADD033B778B}" sibTransId="{280F68C4-5281-42E2-B8F8-BA94279C7C0B}"/>
    <dgm:cxn modelId="{3217B58B-1D0A-4F98-8290-C3973A84AEA8}" srcId="{52B55BFE-1854-4576-A1AB-8661170F780A}" destId="{16CE38CF-192A-4865-B755-2AD4E4A9F1C8}" srcOrd="7" destOrd="0" parTransId="{CF0B0FD5-F203-49B0-823C-F8E96D4C3C3B}" sibTransId="{C30EC16B-7A3B-4F5F-AEE3-2185F93C60D2}"/>
    <dgm:cxn modelId="{5F320693-E5C2-4DB3-950F-F0B05DD2685F}" srcId="{52B55BFE-1854-4576-A1AB-8661170F780A}" destId="{F6F0DD04-4EA0-48F1-BA22-20C7CC03FDFE}" srcOrd="14" destOrd="0" parTransId="{56B7BC61-DFAD-4A4A-9018-50FAB5447114}" sibTransId="{5A162EF8-A4D2-489C-B80E-69BDCA751C91}"/>
    <dgm:cxn modelId="{75006698-3905-024E-B842-0B657CC6C56F}" type="presOf" srcId="{C8E49839-F756-4C45-B16E-DDE4755D8666}" destId="{4F243171-2DC5-9F4F-831F-0F3749FD74D6}" srcOrd="0" destOrd="0" presId="urn:microsoft.com/office/officeart/2005/8/layout/default"/>
    <dgm:cxn modelId="{4CC42FB6-51D5-48CA-9D2F-0E4D4576155B}" srcId="{52B55BFE-1854-4576-A1AB-8661170F780A}" destId="{2485C10F-341F-4B44-9C96-8E017F3AC65C}" srcOrd="0" destOrd="0" parTransId="{8CD5076F-E260-4E0F-90AF-3C3461603F10}" sibTransId="{CF49494A-89DC-46D9-9E00-079DB037A369}"/>
    <dgm:cxn modelId="{922746C5-A798-4F7C-B424-67BB25AF43EE}" srcId="{52B55BFE-1854-4576-A1AB-8661170F780A}" destId="{193CDB2D-D7CF-4CFD-8FA2-BB7936FEB3F1}" srcOrd="9" destOrd="0" parTransId="{BADA5A7A-D795-43A3-8AC2-5F4573FAEB60}" sibTransId="{0EB76C90-B75E-4CC0-AC6F-16CDDC4CA190}"/>
    <dgm:cxn modelId="{97A88AC9-2340-2445-8F25-3048FDFB4A0B}" type="presOf" srcId="{193CDB2D-D7CF-4CFD-8FA2-BB7936FEB3F1}" destId="{D8148B23-5A97-5A49-B8DE-45C7FF6F6C0D}" srcOrd="0" destOrd="0" presId="urn:microsoft.com/office/officeart/2005/8/layout/default"/>
    <dgm:cxn modelId="{CEB2BCD1-B32D-6343-B202-BD2FB9F69ED4}" type="presOf" srcId="{2485C10F-341F-4B44-9C96-8E017F3AC65C}" destId="{C1A86CC3-609B-664A-AAB3-0C237A898BB6}" srcOrd="0" destOrd="0" presId="urn:microsoft.com/office/officeart/2005/8/layout/default"/>
    <dgm:cxn modelId="{121EC7D7-4656-4133-8236-5DD20AA82C46}" srcId="{52B55BFE-1854-4576-A1AB-8661170F780A}" destId="{03E631DB-8A96-4BAD-8AAF-2D2675086227}" srcOrd="3" destOrd="0" parTransId="{81D3B353-CCE6-4335-AE29-57F036AC3C7F}" sibTransId="{7D8229FA-98E0-4CCD-AF7B-6BD3FDEC6A3B}"/>
    <dgm:cxn modelId="{749FC0DF-BFC0-427F-AB68-3FB3E32877F2}" srcId="{52B55BFE-1854-4576-A1AB-8661170F780A}" destId="{7BF6AB4F-8B5A-4D1A-AFD5-7AADE18C91E5}" srcOrd="8" destOrd="0" parTransId="{5194CFAF-43E8-4D1A-8FFE-B7E5F096B141}" sibTransId="{A37A5E71-2377-48EF-A5C9-6DD6194FE088}"/>
    <dgm:cxn modelId="{C47145E0-A592-1B42-8724-5448A40312FD}" type="presOf" srcId="{73A6F8C1-19E7-406B-B56C-0C5D4E32F256}" destId="{51D536E3-1E17-784F-9375-944DB1CD7967}" srcOrd="0" destOrd="0" presId="urn:microsoft.com/office/officeart/2005/8/layout/default"/>
    <dgm:cxn modelId="{A57EC9E4-E496-468F-ADA9-EB53F7C9BBE8}" srcId="{52B55BFE-1854-4576-A1AB-8661170F780A}" destId="{07EF68EF-CFF3-4D06-A746-93C99D34E795}" srcOrd="2" destOrd="0" parTransId="{50D3FDBE-6F11-4B53-B56E-B7F58EC15798}" sibTransId="{18E7B9E3-F5CE-42E8-8518-D5278902EA2B}"/>
    <dgm:cxn modelId="{D4E46DE5-0D60-4F31-AF2D-0095B71AFBA0}" srcId="{52B55BFE-1854-4576-A1AB-8661170F780A}" destId="{A7222CDF-261A-442B-B9C3-E2AB33912CB6}" srcOrd="1" destOrd="0" parTransId="{1F637C0B-D64A-4A2C-94F4-E35D14413BFF}" sibTransId="{C0C71C5F-47D9-499F-A1D6-D5A75A1CAF58}"/>
    <dgm:cxn modelId="{902869E8-FEC7-4591-9EAD-DEA3CA185483}" srcId="{52B55BFE-1854-4576-A1AB-8661170F780A}" destId="{C8E49839-F756-4C45-B16E-DDE4755D8666}" srcOrd="13" destOrd="0" parTransId="{A5A471A8-A0CA-4CD8-A92D-4BEE4C0665CC}" sibTransId="{8B1161DD-2671-46E4-9E5D-AFD3425AD79F}"/>
    <dgm:cxn modelId="{D79A7BE9-9F34-4C45-B8DE-ED0FB3544C22}" type="presOf" srcId="{A9A527F9-A0CF-4BC4-AA74-19140BA19FD9}" destId="{50ED0A5B-10AA-DE4A-AB86-E9CBF6BA272E}" srcOrd="0" destOrd="0" presId="urn:microsoft.com/office/officeart/2005/8/layout/default"/>
    <dgm:cxn modelId="{D929E6F2-C274-4463-8B71-A5F6E21F4EB6}" srcId="{52B55BFE-1854-4576-A1AB-8661170F780A}" destId="{643AE552-043B-4E26-AD92-85B3EE45286B}" srcOrd="6" destOrd="0" parTransId="{7E5CD49F-EE1B-4EDD-8867-ABC8D705E6DA}" sibTransId="{07C1B9DE-B721-4E7D-B798-EE1B396EC388}"/>
    <dgm:cxn modelId="{9BD804A6-BE82-0144-8B31-CC3EB6AD00E6}" type="presParOf" srcId="{F42858F2-8EA9-F841-B95A-96B67E499FB1}" destId="{C1A86CC3-609B-664A-AAB3-0C237A898BB6}" srcOrd="0" destOrd="0" presId="urn:microsoft.com/office/officeart/2005/8/layout/default"/>
    <dgm:cxn modelId="{29FFB645-3BD4-3240-BC6F-7D57947F867D}" type="presParOf" srcId="{F42858F2-8EA9-F841-B95A-96B67E499FB1}" destId="{B6AE8E75-F3BC-B149-8F02-E9E7713B07E7}" srcOrd="1" destOrd="0" presId="urn:microsoft.com/office/officeart/2005/8/layout/default"/>
    <dgm:cxn modelId="{8F673369-C5ED-BC4D-BC92-E05239F2BC62}" type="presParOf" srcId="{F42858F2-8EA9-F841-B95A-96B67E499FB1}" destId="{AAFDDAC3-50D5-B445-A96A-E6B02994B2E9}" srcOrd="2" destOrd="0" presId="urn:microsoft.com/office/officeart/2005/8/layout/default"/>
    <dgm:cxn modelId="{E862A62D-57E5-AA47-8A47-E4DD3BD99693}" type="presParOf" srcId="{F42858F2-8EA9-F841-B95A-96B67E499FB1}" destId="{A3103D38-283D-4D46-BDF3-0DBBC1CB4E55}" srcOrd="3" destOrd="0" presId="urn:microsoft.com/office/officeart/2005/8/layout/default"/>
    <dgm:cxn modelId="{71BF0B77-5A36-C945-A065-CDBF89E2214B}" type="presParOf" srcId="{F42858F2-8EA9-F841-B95A-96B67E499FB1}" destId="{0B8F2103-9842-174F-8C72-6F0F6C7038EC}" srcOrd="4" destOrd="0" presId="urn:microsoft.com/office/officeart/2005/8/layout/default"/>
    <dgm:cxn modelId="{D8678401-BBF7-1E4C-8D88-F9F84CBEADC7}" type="presParOf" srcId="{F42858F2-8EA9-F841-B95A-96B67E499FB1}" destId="{1648B458-E868-0347-9A39-95CD354F57FE}" srcOrd="5" destOrd="0" presId="urn:microsoft.com/office/officeart/2005/8/layout/default"/>
    <dgm:cxn modelId="{23DD6BE8-D37C-ED40-BB9C-895B7A98944A}" type="presParOf" srcId="{F42858F2-8EA9-F841-B95A-96B67E499FB1}" destId="{18D0867E-8F06-684C-B104-22D68761CE9F}" srcOrd="6" destOrd="0" presId="urn:microsoft.com/office/officeart/2005/8/layout/default"/>
    <dgm:cxn modelId="{8FC7A105-10E1-354F-93DA-D6E67A82E3EF}" type="presParOf" srcId="{F42858F2-8EA9-F841-B95A-96B67E499FB1}" destId="{F122C642-0FDD-D645-BC02-8F77A3677579}" srcOrd="7" destOrd="0" presId="urn:microsoft.com/office/officeart/2005/8/layout/default"/>
    <dgm:cxn modelId="{FCA33CE9-514B-8E45-A5A8-769EBE70719E}" type="presParOf" srcId="{F42858F2-8EA9-F841-B95A-96B67E499FB1}" destId="{50ED0A5B-10AA-DE4A-AB86-E9CBF6BA272E}" srcOrd="8" destOrd="0" presId="urn:microsoft.com/office/officeart/2005/8/layout/default"/>
    <dgm:cxn modelId="{F51BCAE3-80D1-8641-B4EA-7676CD6A56F2}" type="presParOf" srcId="{F42858F2-8EA9-F841-B95A-96B67E499FB1}" destId="{3BDA9DD7-145E-1741-9F0B-6CB7F8BDCA50}" srcOrd="9" destOrd="0" presId="urn:microsoft.com/office/officeart/2005/8/layout/default"/>
    <dgm:cxn modelId="{D375B709-0D8C-C04E-9520-8F257EBA0BB8}" type="presParOf" srcId="{F42858F2-8EA9-F841-B95A-96B67E499FB1}" destId="{51D536E3-1E17-784F-9375-944DB1CD7967}" srcOrd="10" destOrd="0" presId="urn:microsoft.com/office/officeart/2005/8/layout/default"/>
    <dgm:cxn modelId="{B4594D4C-3830-4545-8D05-6F59182ABC04}" type="presParOf" srcId="{F42858F2-8EA9-F841-B95A-96B67E499FB1}" destId="{CE930A11-766C-1044-91C8-01388E32956B}" srcOrd="11" destOrd="0" presId="urn:microsoft.com/office/officeart/2005/8/layout/default"/>
    <dgm:cxn modelId="{F64C5C75-9E7B-0341-9C63-9056E758AAA6}" type="presParOf" srcId="{F42858F2-8EA9-F841-B95A-96B67E499FB1}" destId="{FC5F048F-AA62-ED40-A41D-19793AE67302}" srcOrd="12" destOrd="0" presId="urn:microsoft.com/office/officeart/2005/8/layout/default"/>
    <dgm:cxn modelId="{C24E14B5-08DF-B345-9DEE-839EC00E770C}" type="presParOf" srcId="{F42858F2-8EA9-F841-B95A-96B67E499FB1}" destId="{FC3B4633-AF79-BF42-8E9F-C2B9BAD31491}" srcOrd="13" destOrd="0" presId="urn:microsoft.com/office/officeart/2005/8/layout/default"/>
    <dgm:cxn modelId="{BE521853-89A7-514E-9EA1-4B1A88FAE0D5}" type="presParOf" srcId="{F42858F2-8EA9-F841-B95A-96B67E499FB1}" destId="{CEFDB49C-52F6-574E-AD97-C91ED7BD16E4}" srcOrd="14" destOrd="0" presId="urn:microsoft.com/office/officeart/2005/8/layout/default"/>
    <dgm:cxn modelId="{3C4C79AF-2C1F-D846-BE2D-81C5FB1848D5}" type="presParOf" srcId="{F42858F2-8EA9-F841-B95A-96B67E499FB1}" destId="{94EAE7AE-3C4B-914A-8F63-A938F785F753}" srcOrd="15" destOrd="0" presId="urn:microsoft.com/office/officeart/2005/8/layout/default"/>
    <dgm:cxn modelId="{A2B76D64-9AD3-4641-B5DD-6B6DE08B8001}" type="presParOf" srcId="{F42858F2-8EA9-F841-B95A-96B67E499FB1}" destId="{B54273DD-7C5C-2A41-82DE-3FBF3319A29A}" srcOrd="16" destOrd="0" presId="urn:microsoft.com/office/officeart/2005/8/layout/default"/>
    <dgm:cxn modelId="{C7F39D16-9082-D842-AFC9-087857EF6C9D}" type="presParOf" srcId="{F42858F2-8EA9-F841-B95A-96B67E499FB1}" destId="{B80FB064-EE0F-CB43-9176-C306FAB7B8EE}" srcOrd="17" destOrd="0" presId="urn:microsoft.com/office/officeart/2005/8/layout/default"/>
    <dgm:cxn modelId="{6990719D-105F-9B4B-BCD2-085627A13446}" type="presParOf" srcId="{F42858F2-8EA9-F841-B95A-96B67E499FB1}" destId="{D8148B23-5A97-5A49-B8DE-45C7FF6F6C0D}" srcOrd="18" destOrd="0" presId="urn:microsoft.com/office/officeart/2005/8/layout/default"/>
    <dgm:cxn modelId="{49D75877-24FC-8941-8C52-BE21B76517A6}" type="presParOf" srcId="{F42858F2-8EA9-F841-B95A-96B67E499FB1}" destId="{05331DA0-CF0D-5C44-AE40-BCEEA29A409A}" srcOrd="19" destOrd="0" presId="urn:microsoft.com/office/officeart/2005/8/layout/default"/>
    <dgm:cxn modelId="{B516924B-5E44-AA41-B11D-EFA6A114F351}" type="presParOf" srcId="{F42858F2-8EA9-F841-B95A-96B67E499FB1}" destId="{704CAB41-3A80-6D48-938F-9A79444D1776}" srcOrd="20" destOrd="0" presId="urn:microsoft.com/office/officeart/2005/8/layout/default"/>
    <dgm:cxn modelId="{05A4FA3E-6CD8-104C-B356-D708B3357B3C}" type="presParOf" srcId="{F42858F2-8EA9-F841-B95A-96B67E499FB1}" destId="{3EC88768-66DC-2A4F-8556-EBBF1F8CC2EA}" srcOrd="21" destOrd="0" presId="urn:microsoft.com/office/officeart/2005/8/layout/default"/>
    <dgm:cxn modelId="{62F782C6-0FCB-3043-A7EA-47B893B8AC51}" type="presParOf" srcId="{F42858F2-8EA9-F841-B95A-96B67E499FB1}" destId="{8EB7D144-99DA-D84A-92A9-1EE2DD7CCC4F}" srcOrd="22" destOrd="0" presId="urn:microsoft.com/office/officeart/2005/8/layout/default"/>
    <dgm:cxn modelId="{545F72C6-93A2-C949-93BB-FBBD11A34305}" type="presParOf" srcId="{F42858F2-8EA9-F841-B95A-96B67E499FB1}" destId="{CAC1ED1B-CA55-0B49-869A-10420D84D4E0}" srcOrd="23" destOrd="0" presId="urn:microsoft.com/office/officeart/2005/8/layout/default"/>
    <dgm:cxn modelId="{166AA550-BA34-884A-98F9-E60FD26BD38E}" type="presParOf" srcId="{F42858F2-8EA9-F841-B95A-96B67E499FB1}" destId="{F09CE6CF-D08E-3142-B928-995258852CD3}" srcOrd="24" destOrd="0" presId="urn:microsoft.com/office/officeart/2005/8/layout/default"/>
    <dgm:cxn modelId="{F2789BD0-B31D-6344-BC6E-05C89B4810B4}" type="presParOf" srcId="{F42858F2-8EA9-F841-B95A-96B67E499FB1}" destId="{17376D95-2072-6E44-8CA8-7622795910BC}" srcOrd="25" destOrd="0" presId="urn:microsoft.com/office/officeart/2005/8/layout/default"/>
    <dgm:cxn modelId="{56EF2C2A-0F14-664F-A6C8-60E5AAB3D0FD}" type="presParOf" srcId="{F42858F2-8EA9-F841-B95A-96B67E499FB1}" destId="{4F243171-2DC5-9F4F-831F-0F3749FD74D6}" srcOrd="26" destOrd="0" presId="urn:microsoft.com/office/officeart/2005/8/layout/default"/>
    <dgm:cxn modelId="{C50E7AAB-E69B-7D4D-AC28-95BE66B4119A}" type="presParOf" srcId="{F42858F2-8EA9-F841-B95A-96B67E499FB1}" destId="{CE58147A-8A09-744B-976E-C5AE95399676}" srcOrd="27" destOrd="0" presId="urn:microsoft.com/office/officeart/2005/8/layout/default"/>
    <dgm:cxn modelId="{4DBCED03-3472-7C45-901D-1034AA4C6442}" type="presParOf" srcId="{F42858F2-8EA9-F841-B95A-96B67E499FB1}" destId="{D8E4E274-52A5-4F46-A050-FADCEC0795B3}" srcOrd="2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A86CC3-609B-664A-AAB3-0C237A898BB6}">
      <dsp:nvSpPr>
        <dsp:cNvPr id="0" name=""/>
        <dsp:cNvSpPr/>
      </dsp:nvSpPr>
      <dsp:spPr>
        <a:xfrm>
          <a:off x="111659" y="1547"/>
          <a:ext cx="1292432" cy="775459"/>
        </a:xfrm>
        <a:prstGeom prst="rect">
          <a:avLst/>
        </a:prstGeom>
        <a:solidFill>
          <a:schemeClr val="accent5"/>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t>Consumer Protection &amp; Business Misconduct</a:t>
          </a:r>
          <a:endParaRPr lang="en-US" sz="1000" kern="1200" dirty="0"/>
        </a:p>
      </dsp:txBody>
      <dsp:txXfrm>
        <a:off x="111659" y="1547"/>
        <a:ext cx="1292432" cy="775459"/>
      </dsp:txXfrm>
    </dsp:sp>
    <dsp:sp modelId="{AAFDDAC3-50D5-B445-A96A-E6B02994B2E9}">
      <dsp:nvSpPr>
        <dsp:cNvPr id="0" name=""/>
        <dsp:cNvSpPr/>
      </dsp:nvSpPr>
      <dsp:spPr>
        <a:xfrm>
          <a:off x="1533335" y="1547"/>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Contract disputes and breach claims (UCC Ch. 671–672)</a:t>
          </a:r>
        </a:p>
      </dsp:txBody>
      <dsp:txXfrm>
        <a:off x="1533335" y="1547"/>
        <a:ext cx="1292432" cy="775459"/>
      </dsp:txXfrm>
    </dsp:sp>
    <dsp:sp modelId="{0B8F2103-9842-174F-8C72-6F0F6C7038EC}">
      <dsp:nvSpPr>
        <dsp:cNvPr id="0" name=""/>
        <dsp:cNvSpPr/>
      </dsp:nvSpPr>
      <dsp:spPr>
        <a:xfrm>
          <a:off x="2955011" y="1547"/>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FDUTPA consumer protection claims (Ch. 501, Part II)</a:t>
          </a:r>
        </a:p>
      </dsp:txBody>
      <dsp:txXfrm>
        <a:off x="2955011" y="1547"/>
        <a:ext cx="1292432" cy="775459"/>
      </dsp:txXfrm>
    </dsp:sp>
    <dsp:sp modelId="{18D0867E-8F06-684C-B104-22D68761CE9F}">
      <dsp:nvSpPr>
        <dsp:cNvPr id="0" name=""/>
        <dsp:cNvSpPr/>
      </dsp:nvSpPr>
      <dsp:spPr>
        <a:xfrm>
          <a:off x="4376687" y="1547"/>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Business organization disputes (LLCs Ch. 605; Corporations Ch. 607)</a:t>
          </a:r>
        </a:p>
      </dsp:txBody>
      <dsp:txXfrm>
        <a:off x="4376687" y="1547"/>
        <a:ext cx="1292432" cy="775459"/>
      </dsp:txXfrm>
    </dsp:sp>
    <dsp:sp modelId="{50ED0A5B-10AA-DE4A-AB86-E9CBF6BA272E}">
      <dsp:nvSpPr>
        <dsp:cNvPr id="0" name=""/>
        <dsp:cNvSpPr/>
      </dsp:nvSpPr>
      <dsp:spPr>
        <a:xfrm>
          <a:off x="5798363" y="1547"/>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Timeshare disputes</a:t>
          </a:r>
          <a:br>
            <a:rPr lang="en-US" sz="1000" kern="1200"/>
          </a:br>
          <a:endParaRPr lang="en-US" sz="1000" kern="1200"/>
        </a:p>
      </dsp:txBody>
      <dsp:txXfrm>
        <a:off x="5798363" y="1547"/>
        <a:ext cx="1292432" cy="775459"/>
      </dsp:txXfrm>
    </dsp:sp>
    <dsp:sp modelId="{51D536E3-1E17-784F-9375-944DB1CD7967}">
      <dsp:nvSpPr>
        <dsp:cNvPr id="0" name=""/>
        <dsp:cNvSpPr/>
      </dsp:nvSpPr>
      <dsp:spPr>
        <a:xfrm>
          <a:off x="111659" y="906250"/>
          <a:ext cx="1292432" cy="775459"/>
        </a:xfrm>
        <a:prstGeom prst="rect">
          <a:avLst/>
        </a:prstGeom>
        <a:solidFill>
          <a:schemeClr val="accent5"/>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t>Real Estate &amp; Property Disputes</a:t>
          </a:r>
          <a:endParaRPr lang="en-US" sz="1000" kern="1200" dirty="0"/>
        </a:p>
      </dsp:txBody>
      <dsp:txXfrm>
        <a:off x="111659" y="906250"/>
        <a:ext cx="1292432" cy="775459"/>
      </dsp:txXfrm>
    </dsp:sp>
    <dsp:sp modelId="{FC5F048F-AA62-ED40-A41D-19793AE67302}">
      <dsp:nvSpPr>
        <dsp:cNvPr id="0" name=""/>
        <dsp:cNvSpPr/>
      </dsp:nvSpPr>
      <dsp:spPr>
        <a:xfrm>
          <a:off x="1533335" y="906250"/>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Landlord–tenant matters (Ch. 83)</a:t>
          </a:r>
        </a:p>
      </dsp:txBody>
      <dsp:txXfrm>
        <a:off x="1533335" y="906250"/>
        <a:ext cx="1292432" cy="775459"/>
      </dsp:txXfrm>
    </dsp:sp>
    <dsp:sp modelId="{CEFDB49C-52F6-574E-AD97-C91ED7BD16E4}">
      <dsp:nvSpPr>
        <dsp:cNvPr id="0" name=""/>
        <dsp:cNvSpPr/>
      </dsp:nvSpPr>
      <dsp:spPr>
        <a:xfrm>
          <a:off x="2955011" y="906250"/>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Foreclosure defense and procedures (Ch. 702)</a:t>
          </a:r>
        </a:p>
      </dsp:txBody>
      <dsp:txXfrm>
        <a:off x="2955011" y="906250"/>
        <a:ext cx="1292432" cy="775459"/>
      </dsp:txXfrm>
    </dsp:sp>
    <dsp:sp modelId="{B54273DD-7C5C-2A41-82DE-3FBF3319A29A}">
      <dsp:nvSpPr>
        <dsp:cNvPr id="0" name=""/>
        <dsp:cNvSpPr/>
      </dsp:nvSpPr>
      <dsp:spPr>
        <a:xfrm>
          <a:off x="4376687" y="906250"/>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Property damage and insurance claims (Ch. 627)</a:t>
          </a:r>
        </a:p>
      </dsp:txBody>
      <dsp:txXfrm>
        <a:off x="4376687" y="906250"/>
        <a:ext cx="1292432" cy="775459"/>
      </dsp:txXfrm>
    </dsp:sp>
    <dsp:sp modelId="{D8148B23-5A97-5A49-B8DE-45C7FF6F6C0D}">
      <dsp:nvSpPr>
        <dsp:cNvPr id="0" name=""/>
        <dsp:cNvSpPr/>
      </dsp:nvSpPr>
      <dsp:spPr>
        <a:xfrm>
          <a:off x="5798363" y="906250"/>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Construction defects (Ch. 558)</a:t>
          </a:r>
        </a:p>
      </dsp:txBody>
      <dsp:txXfrm>
        <a:off x="5798363" y="906250"/>
        <a:ext cx="1292432" cy="775459"/>
      </dsp:txXfrm>
    </dsp:sp>
    <dsp:sp modelId="{704CAB41-3A80-6D48-938F-9A79444D1776}">
      <dsp:nvSpPr>
        <dsp:cNvPr id="0" name=""/>
        <dsp:cNvSpPr/>
      </dsp:nvSpPr>
      <dsp:spPr>
        <a:xfrm>
          <a:off x="111659" y="1810953"/>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Mechanic’s liens (Ch. 713)</a:t>
          </a:r>
          <a:br>
            <a:rPr lang="en-US" sz="1000" kern="1200"/>
          </a:br>
          <a:endParaRPr lang="en-US" sz="1000" kern="1200"/>
        </a:p>
      </dsp:txBody>
      <dsp:txXfrm>
        <a:off x="111659" y="1810953"/>
        <a:ext cx="1292432" cy="775459"/>
      </dsp:txXfrm>
    </dsp:sp>
    <dsp:sp modelId="{8EB7D144-99DA-D84A-92A9-1EE2DD7CCC4F}">
      <dsp:nvSpPr>
        <dsp:cNvPr id="0" name=""/>
        <dsp:cNvSpPr/>
      </dsp:nvSpPr>
      <dsp:spPr>
        <a:xfrm>
          <a:off x="1533335" y="1810953"/>
          <a:ext cx="1292432" cy="775459"/>
        </a:xfrm>
        <a:prstGeom prst="rect">
          <a:avLst/>
        </a:prstGeom>
        <a:solidFill>
          <a:schemeClr val="accent5"/>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t>Civil Litigation &amp; Administrative Law</a:t>
          </a:r>
          <a:endParaRPr lang="en-US" sz="1000" kern="1200"/>
        </a:p>
      </dsp:txBody>
      <dsp:txXfrm>
        <a:off x="1533335" y="1810953"/>
        <a:ext cx="1292432" cy="775459"/>
      </dsp:txXfrm>
    </dsp:sp>
    <dsp:sp modelId="{F09CE6CF-D08E-3142-B928-995258852CD3}">
      <dsp:nvSpPr>
        <dsp:cNvPr id="0" name=""/>
        <dsp:cNvSpPr/>
      </dsp:nvSpPr>
      <dsp:spPr>
        <a:xfrm>
          <a:off x="2955011" y="1810953"/>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Statutes of limitation (Ch. 95)</a:t>
          </a:r>
        </a:p>
      </dsp:txBody>
      <dsp:txXfrm>
        <a:off x="2955011" y="1810953"/>
        <a:ext cx="1292432" cy="775459"/>
      </dsp:txXfrm>
    </dsp:sp>
    <dsp:sp modelId="{4F243171-2DC5-9F4F-831F-0F3749FD74D6}">
      <dsp:nvSpPr>
        <dsp:cNvPr id="0" name=""/>
        <dsp:cNvSpPr/>
      </dsp:nvSpPr>
      <dsp:spPr>
        <a:xfrm>
          <a:off x="4376687" y="1810953"/>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Administrative procedure matters (Ch. 120)</a:t>
          </a:r>
        </a:p>
      </dsp:txBody>
      <dsp:txXfrm>
        <a:off x="4376687" y="1810953"/>
        <a:ext cx="1292432" cy="775459"/>
      </dsp:txXfrm>
    </dsp:sp>
    <dsp:sp modelId="{D8E4E274-52A5-4F46-A050-FADCEC0795B3}">
      <dsp:nvSpPr>
        <dsp:cNvPr id="0" name=""/>
        <dsp:cNvSpPr/>
      </dsp:nvSpPr>
      <dsp:spPr>
        <a:xfrm>
          <a:off x="5798363" y="1810953"/>
          <a:ext cx="1292432" cy="77545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Attorney fees and sanctions (Ch. 57)</a:t>
          </a:r>
        </a:p>
      </dsp:txBody>
      <dsp:txXfrm>
        <a:off x="5798363" y="1810953"/>
        <a:ext cx="1292432" cy="77545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330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prototype or a beta test. This is production-ready software (Version 3.1.0) deployed live today to accelerate your document review and drafting process.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solving for the bottleneck in case intake. The goal is to remove the "busywork" of reading 50 pages just to understand the basic timeline, allowing you to focus on strategy immediately.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use this for federal cases or criminal law. The legal validation corpus does not cover those areas, and results will be unreliable.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this tool as a tireless junior associate. It handles the initial review and drafting, giving you an 80% complete draft. You remain responsible for the final review and approval.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designed to be simple. There is no complex manual to study. You can run your first analysis in less than 5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is your dashboard, it shows all recent cases, and allows you to create a new case.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start you want to make sure to connect to Clio by clicking the </a:t>
            </a:r>
            <a:r>
              <a:rPr lang="en-US" dirty="0" err="1"/>
              <a:t>Cio</a:t>
            </a:r>
            <a:r>
              <a:rPr lang="en-US" dirty="0"/>
              <a:t> button on the top right of the screen.  Once it is lit green, that indicates that it is connected.  Then you can click the "New Case" button.</a:t>
            </a:r>
          </a:p>
          <a:p>
            <a:endParaRPr lang="en-US" dirty="0"/>
          </a:p>
        </p:txBody>
      </p:sp>
    </p:spTree>
    <p:extLst>
      <p:ext uri="{BB962C8B-B14F-4D97-AF65-F5344CB8AC3E}">
        <p14:creationId xmlns:p14="http://schemas.microsoft.com/office/powerpoint/2010/main" val="3484939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Here you can type the name of the client and it will search Clio for that case.  Find it on the bottom (some clients may have multiple cases) and then click "Create Case".</a:t>
            </a:r>
          </a:p>
        </p:txBody>
      </p:sp>
    </p:spTree>
    <p:extLst>
      <p:ext uri="{BB962C8B-B14F-4D97-AF65-F5344CB8AC3E}">
        <p14:creationId xmlns:p14="http://schemas.microsoft.com/office/powerpoint/2010/main" val="18425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You'll get a confirmation - click ok - and then it will begin importing the documents from Clio.  There are some things here to note. </a:t>
            </a:r>
            <a:br>
              <a:rPr lang="en-US" dirty="0"/>
            </a:br>
            <a:endParaRPr lang="en-US" dirty="0"/>
          </a:p>
          <a:p>
            <a:r>
              <a:rPr lang="en-US" dirty="0"/>
              <a:t>Once complete it will let you know if there were any documents that didn't load - mainly because they are very large.  In the case that this happens, you may need to use. </a:t>
            </a:r>
            <a:r>
              <a:rPr lang="en-US" dirty="0" err="1"/>
              <a:t>seperate</a:t>
            </a:r>
            <a:r>
              <a:rPr lang="en-US" dirty="0"/>
              <a:t> tool to compress the pdf and you can manually upload it on a later screen.</a:t>
            </a:r>
          </a:p>
        </p:txBody>
      </p:sp>
    </p:spTree>
    <p:extLst>
      <p:ext uri="{BB962C8B-B14F-4D97-AF65-F5344CB8AC3E}">
        <p14:creationId xmlns:p14="http://schemas.microsoft.com/office/powerpoint/2010/main" val="27237817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Once complete you will be brought the the overview screen, here you can review the Overview and Documents for relevant information and understanding. The next step in the process is the Verification Page.</a:t>
            </a:r>
          </a:p>
          <a:p>
            <a:endParaRPr lang="en-US" dirty="0"/>
          </a:p>
          <a:p>
            <a:r>
              <a:rPr lang="en-US" dirty="0"/>
              <a:t>Here you will get a summary of the documents that were imported, it's important to review and make sure that they are all extracted.  </a:t>
            </a:r>
          </a:p>
          <a:p>
            <a:endParaRPr lang="en-US" dirty="0"/>
          </a:p>
          <a:p>
            <a:r>
              <a:rPr lang="en-US" dirty="0"/>
              <a:t>You will want to review and remove any unneeded documents</a:t>
            </a:r>
          </a:p>
          <a:p>
            <a:endParaRPr lang="en-US" dirty="0"/>
          </a:p>
          <a:p>
            <a:r>
              <a:rPr lang="en-US" dirty="0"/>
              <a:t>For some items that were not extracted originally, you will need to click the "Run OCR on ## Docs" button - this will use a special Google Vision API to extract the text from the remaining docs.  </a:t>
            </a:r>
          </a:p>
        </p:txBody>
      </p:sp>
    </p:spTree>
    <p:extLst>
      <p:ext uri="{BB962C8B-B14F-4D97-AF65-F5344CB8AC3E}">
        <p14:creationId xmlns:p14="http://schemas.microsoft.com/office/powerpoint/2010/main" val="2730227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is to show the documents that weren't extracted correctly.</a:t>
            </a:r>
          </a:p>
          <a:p>
            <a:endParaRPr lang="en-US" dirty="0"/>
          </a:p>
          <a:p>
            <a:r>
              <a:rPr lang="en-US" dirty="0"/>
              <a:t>Once you run the OCR, it will update to show 10/10 or so.  you can click View/Edit to see what was extracted.</a:t>
            </a:r>
          </a:p>
        </p:txBody>
      </p:sp>
    </p:spTree>
    <p:extLst>
      <p:ext uri="{BB962C8B-B14F-4D97-AF65-F5344CB8AC3E}">
        <p14:creationId xmlns:p14="http://schemas.microsoft.com/office/powerpoint/2010/main" val="1834960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is an example of the extracted text view.</a:t>
            </a:r>
          </a:p>
        </p:txBody>
      </p:sp>
    </p:spTree>
    <p:extLst>
      <p:ext uri="{BB962C8B-B14F-4D97-AF65-F5344CB8AC3E}">
        <p14:creationId xmlns:p14="http://schemas.microsoft.com/office/powerpoint/2010/main" val="1272802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Next we click on </a:t>
            </a:r>
            <a:r>
              <a:rPr lang="en-US" dirty="0" err="1"/>
              <a:t>Anlaysis</a:t>
            </a:r>
            <a:r>
              <a:rPr lang="en-US" dirty="0"/>
              <a:t>, and click start analysis button.</a:t>
            </a:r>
          </a:p>
          <a:p>
            <a:endParaRPr lang="en-US" dirty="0"/>
          </a:p>
          <a:p>
            <a:r>
              <a:rPr lang="en-US" dirty="0"/>
              <a:t>You'll see a loading screen like this.</a:t>
            </a:r>
          </a:p>
          <a:p>
            <a:endParaRPr lang="en-US" dirty="0"/>
          </a:p>
        </p:txBody>
      </p:sp>
    </p:spTree>
    <p:extLst>
      <p:ext uri="{BB962C8B-B14F-4D97-AF65-F5344CB8AC3E}">
        <p14:creationId xmlns:p14="http://schemas.microsoft.com/office/powerpoint/2010/main" val="1446387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Once it starts to load, text will begin to stream live.  This is the actual analysis.  It will complete by itself and then you click - "View Analysis"</a:t>
            </a:r>
          </a:p>
          <a:p>
            <a:endParaRPr lang="en-US" dirty="0"/>
          </a:p>
        </p:txBody>
      </p:sp>
    </p:spTree>
    <p:extLst>
      <p:ext uri="{BB962C8B-B14F-4D97-AF65-F5344CB8AC3E}">
        <p14:creationId xmlns:p14="http://schemas.microsoft.com/office/powerpoint/2010/main" val="84522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These are the Analysis Results.  From here you can view a variety of things - Case Analysis, Full Analysis (which is the full streaming document on the previous screen)</a:t>
            </a:r>
          </a:p>
          <a:p>
            <a:r>
              <a:rPr lang="en-US" dirty="0"/>
              <a:t>Document review</a:t>
            </a:r>
          </a:p>
          <a:p>
            <a:r>
              <a:rPr lang="en-US" dirty="0"/>
              <a:t>and Generate Letters is where we'll go next.</a:t>
            </a:r>
          </a:p>
          <a:p>
            <a:endParaRPr lang="en-US" dirty="0"/>
          </a:p>
        </p:txBody>
      </p:sp>
    </p:spTree>
    <p:extLst>
      <p:ext uri="{BB962C8B-B14F-4D97-AF65-F5344CB8AC3E}">
        <p14:creationId xmlns:p14="http://schemas.microsoft.com/office/powerpoint/2010/main" val="4071885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On this page, you would simply click Generate Letter, and it will begin to generate.  They can be a bit wordy, we will refine that later, but for now, it's better to have more to work with than not enough.  If need be you can copy this letter and ask Chat to make it more concise or whatever you need..</a:t>
            </a:r>
          </a:p>
        </p:txBody>
      </p:sp>
    </p:spTree>
    <p:extLst>
      <p:ext uri="{BB962C8B-B14F-4D97-AF65-F5344CB8AC3E}">
        <p14:creationId xmlns:p14="http://schemas.microsoft.com/office/powerpoint/2010/main" val="3993626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Below the Findings Letter Section is a demand letter section, here you can select the opposing party you want to direct the letter to, and then press calculate to update the demand amount based on the case analysis.  And the update Specific Demands and response deadline as needed- then click Generate Letter to Party to have a demand letter generated.</a:t>
            </a:r>
          </a:p>
        </p:txBody>
      </p:sp>
    </p:spTree>
    <p:extLst>
      <p:ext uri="{BB962C8B-B14F-4D97-AF65-F5344CB8AC3E}">
        <p14:creationId xmlns:p14="http://schemas.microsoft.com/office/powerpoint/2010/main" val="172015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I've also added a Case Chat assistant that has complete context of the case documents and case analysis. You can ask it any question.  You can use this to compress your generated findings letter by pasting it in and asking it to compress it.  It can also answer any questions about the case.</a:t>
            </a:r>
          </a:p>
        </p:txBody>
      </p:sp>
    </p:spTree>
    <p:extLst>
      <p:ext uri="{BB962C8B-B14F-4D97-AF65-F5344CB8AC3E}">
        <p14:creationId xmlns:p14="http://schemas.microsoft.com/office/powerpoint/2010/main" val="1828450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best results, upload core documents first: intake forms, police reports, contracts, and key correspondence. The system handles files up to 50MB each.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critical feature for trust. You do not have to guess where a fact came from. You can audit the AI's work by clicking the citations.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prevents the AI from inventing laws. However, it cannot replace your judgment on whether a law is appropriate for the case strategy. You are the final decision-maker.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expect every attorney to log in and create a test case this week. Success is defined by using this on real client matters to reduce your intake time.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live. Please log in after this meeting and try it out. Trust the system to handle the reading, but verify the output before you send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1/23/26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D22F896-40B5-4ADD-8801-0D06FADFA095}" type="slidenum">
              <a:rPr lang="en-US" smtClean="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8605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0369392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637344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73361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20307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6156626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1691577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3"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55214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smtClean="0"/>
              <a:pPr/>
              <a:t>1/23/26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99984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36342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812521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6106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smtClean="0"/>
              <a:pPr/>
              <a:t>1/23/26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smtClean="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18803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sldNum="0"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13335" y="2646406"/>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1EE485E7-7D6D-4CB0-A3AD-261D97B2E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55E3208-F0C4-4962-8946-065C94F89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2" name="Text 0"/>
          <p:cNvSpPr/>
          <p:nvPr/>
        </p:nvSpPr>
        <p:spPr>
          <a:xfrm>
            <a:off x="3855176" y="770952"/>
            <a:ext cx="4562781" cy="2783921"/>
          </a:xfrm>
          <a:prstGeom prst="rect">
            <a:avLst/>
          </a:prstGeom>
        </p:spPr>
        <p:txBody>
          <a:bodyPr vert="horz" lIns="91440" tIns="45720" rIns="91440" bIns="0" rtlCol="0" anchor="ctr">
            <a:normAutofit/>
          </a:bodyPr>
          <a:lstStyle/>
          <a:p>
            <a:pPr marL="0" indent="0" defTabSz="914400">
              <a:lnSpc>
                <a:spcPct val="90000"/>
              </a:lnSpc>
              <a:spcBef>
                <a:spcPct val="0"/>
              </a:spcBef>
              <a:spcAft>
                <a:spcPts val="600"/>
              </a:spcAft>
            </a:pPr>
            <a:r>
              <a:rPr lang="en-US" sz="4100" cap="all">
                <a:latin typeface="+mj-lt"/>
                <a:ea typeface="+mj-ea"/>
                <a:cs typeface="+mj-cs"/>
              </a:rPr>
              <a:t>Harvey AI</a:t>
            </a:r>
          </a:p>
        </p:txBody>
      </p:sp>
      <p:sp>
        <p:nvSpPr>
          <p:cNvPr id="3" name="Text 1"/>
          <p:cNvSpPr/>
          <p:nvPr/>
        </p:nvSpPr>
        <p:spPr>
          <a:xfrm>
            <a:off x="726042" y="770952"/>
            <a:ext cx="2441175" cy="2783921"/>
          </a:xfrm>
          <a:prstGeom prst="rect">
            <a:avLst/>
          </a:prstGeom>
        </p:spPr>
        <p:txBody>
          <a:bodyPr vert="horz" lIns="91440" tIns="91440" rIns="91440" bIns="91440" rtlCol="0" anchor="ctr">
            <a:normAutofit/>
          </a:bodyPr>
          <a:lstStyle/>
          <a:p>
            <a:pPr algn="r" defTabSz="914400">
              <a:lnSpc>
                <a:spcPct val="120000"/>
              </a:lnSpc>
              <a:spcBef>
                <a:spcPts val="1000"/>
              </a:spcBef>
              <a:buClr>
                <a:schemeClr val="accent1"/>
              </a:buClr>
              <a:buSzPct val="100000"/>
            </a:pPr>
            <a:r>
              <a:rPr lang="en-US" cap="all"/>
              <a:t>Legal Document Analysis Portal</a:t>
            </a:r>
          </a:p>
        </p:txBody>
      </p:sp>
      <p:cxnSp>
        <p:nvCxnSpPr>
          <p:cNvPr id="21" name="Straight Connector 20">
            <a:extLst>
              <a:ext uri="{FF2B5EF4-FFF2-40B4-BE49-F238E27FC236}">
                <a16:creationId xmlns:a16="http://schemas.microsoft.com/office/drawing/2014/main" id="{4FAE17D3-C2DC-4665-AF20-33C5BACD5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031343"/>
            <a:ext cx="0" cy="2263140"/>
          </a:xfrm>
          <a:prstGeom prst="line">
            <a:avLst/>
          </a:prstGeom>
          <a:ln w="31750"/>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7021C573-B3FF-44B8-A5DE-AB39E9AA6B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5" name="Straight Connector 24">
            <a:extLst>
              <a:ext uri="{FF2B5EF4-FFF2-40B4-BE49-F238E27FC236}">
                <a16:creationId xmlns:a16="http://schemas.microsoft.com/office/drawing/2014/main" id="{50B0CCD4-E9B0-43B2-806F-05EDF57A7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Text 2"/>
          <p:cNvSpPr/>
          <p:nvPr/>
        </p:nvSpPr>
        <p:spPr>
          <a:xfrm>
            <a:off x="551329" y="3581204"/>
            <a:ext cx="8095130" cy="804134"/>
          </a:xfrm>
          <a:prstGeom prst="rect">
            <a:avLst/>
          </a:prstGeom>
          <a:noFill/>
          <a:ln/>
        </p:spPr>
        <p:txBody>
          <a:bodyPr wrap="square" rtlCol="0" anchor="ctr"/>
          <a:lstStyle/>
          <a:p>
            <a:pPr marL="0" indent="0" algn="ctr">
              <a:spcAft>
                <a:spcPts val="600"/>
              </a:spcAft>
              <a:buNone/>
            </a:pPr>
            <a:r>
              <a:rPr lang="en-US" sz="1800" dirty="0">
                <a:solidFill>
                  <a:srgbClr val="39428E"/>
                </a:solidFill>
                <a:latin typeface="Calibri" pitchFamily="34" charset="0"/>
                <a:ea typeface="Calibri" pitchFamily="34" charset="-122"/>
                <a:cs typeface="Calibri" pitchFamily="34" charset="-120"/>
              </a:rPr>
              <a:t>Attorney Adoption Presentation</a:t>
            </a:r>
            <a:endParaRPr lang="en-US" sz="1800"/>
          </a:p>
          <a:p>
            <a:pPr marL="0" indent="0" algn="ctr">
              <a:spcAft>
                <a:spcPts val="600"/>
              </a:spcAft>
              <a:buNone/>
            </a:pPr>
            <a:r>
              <a:rPr lang="en-US" sz="1800" dirty="0">
                <a:solidFill>
                  <a:srgbClr val="39428E"/>
                </a:solidFill>
                <a:latin typeface="Calibri" pitchFamily="34" charset="0"/>
                <a:ea typeface="Calibri" pitchFamily="34" charset="-122"/>
                <a:cs typeface="Calibri" pitchFamily="34" charset="-120"/>
              </a:rPr>
              <a:t>Bernhardt Riley | January 2026</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2" name="Picture 31">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34" name="Straight Connector 33">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5" name="Picture 14" descr="A close-up of a book&#10;&#10;AI-generated content may be incorrect.">
            <a:extLst>
              <a:ext uri="{FF2B5EF4-FFF2-40B4-BE49-F238E27FC236}">
                <a16:creationId xmlns:a16="http://schemas.microsoft.com/office/drawing/2014/main" id="{767EE05A-99CB-F625-7C8F-A4A02F6CE7C7}"/>
              </a:ext>
            </a:extLst>
          </p:cNvPr>
          <p:cNvPicPr>
            <a:picLocks noChangeAspect="1"/>
          </p:cNvPicPr>
          <p:nvPr/>
        </p:nvPicPr>
        <p:blipFill>
          <a:blip r:embed="rId4"/>
          <a:srcRect r="3557" b="1"/>
          <a:stretch>
            <a:fillRect/>
          </a:stretch>
        </p:blipFill>
        <p:spPr>
          <a:xfrm>
            <a:off x="20" y="10"/>
            <a:ext cx="9143980" cy="51434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3" name="Picture 22">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5" name="Straight Connector 24">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diagram of a document&#10;&#10;AI-generated content may be incorrect.">
            <a:extLst>
              <a:ext uri="{FF2B5EF4-FFF2-40B4-BE49-F238E27FC236}">
                <a16:creationId xmlns:a16="http://schemas.microsoft.com/office/drawing/2014/main" id="{A33D98DE-2A4E-4D21-9979-DC045A7F4D89}"/>
              </a:ext>
            </a:extLst>
          </p:cNvPr>
          <p:cNvPicPr>
            <a:picLocks noChangeAspect="1"/>
          </p:cNvPicPr>
          <p:nvPr/>
        </p:nvPicPr>
        <p:blipFill>
          <a:blip r:embed="rId3"/>
          <a:srcRect r="3557" b="1"/>
          <a:stretch>
            <a:fillRect/>
          </a:stretch>
        </p:blipFill>
        <p:spPr>
          <a:xfrm>
            <a:off x="20" y="10"/>
            <a:ext cx="9143980" cy="5143490"/>
          </a:xfrm>
          <a:prstGeom prst="rect">
            <a:avLst/>
          </a:prstGeom>
        </p:spPr>
      </p:pic>
    </p:spTree>
    <p:extLst>
      <p:ext uri="{BB962C8B-B14F-4D97-AF65-F5344CB8AC3E}">
        <p14:creationId xmlns:p14="http://schemas.microsoft.com/office/powerpoint/2010/main" val="3598909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5" name="Text 3"/>
          <p:cNvSpPr/>
          <p:nvPr/>
        </p:nvSpPr>
        <p:spPr>
          <a:xfrm>
            <a:off x="1503180" y="4666045"/>
            <a:ext cx="6137639" cy="414842"/>
          </a:xfrm>
          <a:prstGeom prst="rect">
            <a:avLst/>
          </a:prstGeom>
          <a:noFill/>
          <a:ln/>
        </p:spPr>
        <p:txBody>
          <a:bodyPr wrap="square" rtlCol="0" anchor="ctr"/>
          <a:lstStyle/>
          <a:p>
            <a:pPr marL="0" indent="0" algn="ctr">
              <a:spcAft>
                <a:spcPts val="600"/>
              </a:spcAft>
              <a:buNone/>
            </a:pPr>
            <a:r>
              <a:rPr lang="en-US" sz="2000" b="1" dirty="0">
                <a:solidFill>
                  <a:schemeClr val="bg1"/>
                </a:solidFill>
                <a:latin typeface="Calibri" pitchFamily="34" charset="0"/>
                <a:ea typeface="Calibri" pitchFamily="34" charset="-122"/>
                <a:cs typeface="Calibri" pitchFamily="34" charset="-120"/>
              </a:rPr>
              <a:t>Do not use for federal cases or criminal law.</a:t>
            </a:r>
            <a:endParaRPr lang="en-US" sz="2000" dirty="0">
              <a:solidFill>
                <a:schemeClr val="bg1"/>
              </a:solidFill>
            </a:endParaRPr>
          </a:p>
        </p:txBody>
      </p:sp>
      <p:sp>
        <p:nvSpPr>
          <p:cNvPr id="7" name="Title 6">
            <a:extLst>
              <a:ext uri="{FF2B5EF4-FFF2-40B4-BE49-F238E27FC236}">
                <a16:creationId xmlns:a16="http://schemas.microsoft.com/office/drawing/2014/main" id="{C75ACA6A-ACEB-5C7F-2D03-20C622370B76}"/>
              </a:ext>
            </a:extLst>
          </p:cNvPr>
          <p:cNvSpPr>
            <a:spLocks noGrp="1"/>
          </p:cNvSpPr>
          <p:nvPr>
            <p:ph type="title"/>
          </p:nvPr>
        </p:nvSpPr>
        <p:spPr/>
        <p:txBody>
          <a:bodyPr/>
          <a:lstStyle/>
          <a:p>
            <a:r>
              <a:rPr lang="en-US" dirty="0"/>
              <a:t>Covered Practice Areas</a:t>
            </a:r>
          </a:p>
        </p:txBody>
      </p:sp>
      <p:graphicFrame>
        <p:nvGraphicFramePr>
          <p:cNvPr id="13" name="Content Placeholder 7">
            <a:extLst>
              <a:ext uri="{FF2B5EF4-FFF2-40B4-BE49-F238E27FC236}">
                <a16:creationId xmlns:a16="http://schemas.microsoft.com/office/drawing/2014/main" id="{66FF029E-A7F5-4E6A-E047-6B0FCAD8C430}"/>
              </a:ext>
            </a:extLst>
          </p:cNvPr>
          <p:cNvGraphicFramePr>
            <a:graphicFrameLocks noGrp="1"/>
          </p:cNvGraphicFramePr>
          <p:nvPr>
            <p:ph idx="1"/>
            <p:extLst>
              <p:ext uri="{D42A27DB-BD31-4B8C-83A1-F6EECF244321}">
                <p14:modId xmlns:p14="http://schemas.microsoft.com/office/powerpoint/2010/main" val="357772057"/>
              </p:ext>
            </p:extLst>
          </p:nvPr>
        </p:nvGraphicFramePr>
        <p:xfrm>
          <a:off x="1088685" y="1511799"/>
          <a:ext cx="7202456" cy="258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0" name="Picture 19">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1" name="Straight Connector 20">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013A21A-6440-4CD4-9FC7-9EB2C7020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D084FEB-260C-7903-C46B-7C135D84E275}"/>
              </a:ext>
            </a:extLst>
          </p:cNvPr>
          <p:cNvPicPr>
            <a:picLocks noChangeAspect="1"/>
          </p:cNvPicPr>
          <p:nvPr/>
        </p:nvPicPr>
        <p:blipFill>
          <a:blip r:embed="rId3"/>
          <a:stretch>
            <a:fillRect/>
          </a:stretch>
        </p:blipFill>
        <p:spPr>
          <a:xfrm>
            <a:off x="1159814" y="720180"/>
            <a:ext cx="6826063" cy="3703139"/>
          </a:xfrm>
          <a:prstGeom prst="rect">
            <a:avLst/>
          </a:prstGeom>
        </p:spPr>
      </p:pic>
    </p:spTree>
    <p:extLst>
      <p:ext uri="{BB962C8B-B14F-4D97-AF65-F5344CB8AC3E}">
        <p14:creationId xmlns:p14="http://schemas.microsoft.com/office/powerpoint/2010/main" val="2036536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document&#10;&#10;AI-generated content may be incorrect.">
            <a:extLst>
              <a:ext uri="{FF2B5EF4-FFF2-40B4-BE49-F238E27FC236}">
                <a16:creationId xmlns:a16="http://schemas.microsoft.com/office/drawing/2014/main" id="{A6DE039C-49C4-5C73-502A-2053A6016B43}"/>
              </a:ext>
            </a:extLst>
          </p:cNvPr>
          <p:cNvPicPr>
            <a:picLocks noChangeAspect="1"/>
          </p:cNvPicPr>
          <p:nvPr/>
        </p:nvPicPr>
        <p:blipFill>
          <a:blip r:embed="rId3"/>
          <a:srcRect r="3557" b="1"/>
          <a:stretch>
            <a:fillRect/>
          </a:stretch>
        </p:blipFill>
        <p:spPr>
          <a:xfrm>
            <a:off x="20" y="10"/>
            <a:ext cx="9143980" cy="5143490"/>
          </a:xfrm>
          <a:prstGeom prst="rect">
            <a:avLst/>
          </a:prstGeom>
        </p:spPr>
      </p:pic>
    </p:spTree>
    <p:extLst>
      <p:ext uri="{BB962C8B-B14F-4D97-AF65-F5344CB8AC3E}">
        <p14:creationId xmlns:p14="http://schemas.microsoft.com/office/powerpoint/2010/main" val="702982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05F7BD87-248D-8830-4078-25A3A030C79A}"/>
              </a:ext>
            </a:extLst>
          </p:cNvPr>
          <p:cNvPicPr>
            <a:picLocks noChangeAspect="1"/>
          </p:cNvPicPr>
          <p:nvPr/>
        </p:nvPicPr>
        <p:blipFill>
          <a:blip r:embed="rId3"/>
          <a:srcRect r="3557" b="1"/>
          <a:stretch>
            <a:fillRect/>
          </a:stretch>
        </p:blipFill>
        <p:spPr>
          <a:xfrm>
            <a:off x="20" y="10"/>
            <a:ext cx="9143980" cy="5143490"/>
          </a:xfrm>
          <a:prstGeom prst="rect">
            <a:avLst/>
          </a:prstGeom>
        </p:spPr>
      </p:pic>
    </p:spTree>
    <p:extLst>
      <p:ext uri="{BB962C8B-B14F-4D97-AF65-F5344CB8AC3E}">
        <p14:creationId xmlns:p14="http://schemas.microsoft.com/office/powerpoint/2010/main" val="780695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0A256A61-3C9F-6EF5-4D00-0F5834F3472D}"/>
              </a:ext>
            </a:extLst>
          </p:cNvPr>
          <p:cNvPicPr>
            <a:picLocks noChangeAspect="1"/>
          </p:cNvPicPr>
          <p:nvPr/>
        </p:nvPicPr>
        <p:blipFill>
          <a:blip r:embed="rId3"/>
          <a:srcRect l="3556" r="1" b="1"/>
          <a:stretch>
            <a:fillRect/>
          </a:stretch>
        </p:blipFill>
        <p:spPr>
          <a:xfrm>
            <a:off x="20" y="10"/>
            <a:ext cx="9143980" cy="5143490"/>
          </a:xfrm>
          <a:prstGeom prst="rect">
            <a:avLst/>
          </a:prstGeom>
        </p:spPr>
      </p:pic>
    </p:spTree>
    <p:extLst>
      <p:ext uri="{BB962C8B-B14F-4D97-AF65-F5344CB8AC3E}">
        <p14:creationId xmlns:p14="http://schemas.microsoft.com/office/powerpoint/2010/main" val="818688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 screen&#10;&#10;AI-generated content may be incorrect.">
            <a:extLst>
              <a:ext uri="{FF2B5EF4-FFF2-40B4-BE49-F238E27FC236}">
                <a16:creationId xmlns:a16="http://schemas.microsoft.com/office/drawing/2014/main" id="{09174A7C-3C0B-8005-9C68-EB55EB912A3C}"/>
              </a:ext>
            </a:extLst>
          </p:cNvPr>
          <p:cNvPicPr>
            <a:picLocks noChangeAspect="1"/>
          </p:cNvPicPr>
          <p:nvPr/>
        </p:nvPicPr>
        <p:blipFill>
          <a:blip r:embed="rId3"/>
          <a:srcRect l="3411" r="146" b="1"/>
          <a:stretch>
            <a:fillRect/>
          </a:stretch>
        </p:blipFill>
        <p:spPr>
          <a:xfrm>
            <a:off x="20" y="10"/>
            <a:ext cx="9143980" cy="5143490"/>
          </a:xfrm>
          <a:prstGeom prst="rect">
            <a:avLst/>
          </a:prstGeom>
        </p:spPr>
      </p:pic>
    </p:spTree>
    <p:extLst>
      <p:ext uri="{BB962C8B-B14F-4D97-AF65-F5344CB8AC3E}">
        <p14:creationId xmlns:p14="http://schemas.microsoft.com/office/powerpoint/2010/main" val="838975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2" name="Picture 21">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3" name="Straight Connector 22">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013A21A-6440-4CD4-9FC7-9EB2C7020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99E8AFCD-4454-9DAB-BB0A-1FFAE9B67E29}"/>
              </a:ext>
            </a:extLst>
          </p:cNvPr>
          <p:cNvGrpSpPr/>
          <p:nvPr/>
        </p:nvGrpSpPr>
        <p:grpSpPr>
          <a:xfrm>
            <a:off x="1153304" y="720180"/>
            <a:ext cx="6839083" cy="3703139"/>
            <a:chOff x="450111" y="63795"/>
            <a:chExt cx="8243777" cy="4463735"/>
          </a:xfrm>
        </p:grpSpPr>
        <p:pic>
          <p:nvPicPr>
            <p:cNvPr id="3" name="Picture 2" descr="A screenshot of a chat&#10;&#10;AI-generated content may be incorrect.">
              <a:extLst>
                <a:ext uri="{FF2B5EF4-FFF2-40B4-BE49-F238E27FC236}">
                  <a16:creationId xmlns:a16="http://schemas.microsoft.com/office/drawing/2014/main" id="{6202ABB9-5521-D25F-ACFB-C3DF9E317AC4}"/>
                </a:ext>
              </a:extLst>
            </p:cNvPr>
            <p:cNvPicPr>
              <a:picLocks noChangeAspect="1"/>
            </p:cNvPicPr>
            <p:nvPr/>
          </p:nvPicPr>
          <p:blipFill>
            <a:blip r:embed="rId3"/>
            <a:stretch>
              <a:fillRect/>
            </a:stretch>
          </p:blipFill>
          <p:spPr>
            <a:xfrm>
              <a:off x="450111" y="63795"/>
              <a:ext cx="8243777" cy="4463735"/>
            </a:xfrm>
            <a:prstGeom prst="rect">
              <a:avLst/>
            </a:prstGeom>
          </p:spPr>
        </p:pic>
        <p:sp>
          <p:nvSpPr>
            <p:cNvPr id="5" name="Rectangle 4">
              <a:extLst>
                <a:ext uri="{FF2B5EF4-FFF2-40B4-BE49-F238E27FC236}">
                  <a16:creationId xmlns:a16="http://schemas.microsoft.com/office/drawing/2014/main" id="{8954B0C2-754A-CF9F-9F75-6060F7237DA9}"/>
                </a:ext>
              </a:extLst>
            </p:cNvPr>
            <p:cNvSpPr/>
            <p:nvPr/>
          </p:nvSpPr>
          <p:spPr>
            <a:xfrm>
              <a:off x="5592726" y="1247553"/>
              <a:ext cx="2629786" cy="290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10012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3" name="Picture 22">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5" name="Straight Connector 24">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29" name="Rectangle 28">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ext 0"/>
          <p:cNvSpPr/>
          <p:nvPr/>
        </p:nvSpPr>
        <p:spPr>
          <a:xfrm>
            <a:off x="609153" y="603389"/>
            <a:ext cx="2431365" cy="3323520"/>
          </a:xfrm>
          <a:prstGeom prst="rect">
            <a:avLst/>
          </a:prstGeom>
        </p:spPr>
        <p:txBody>
          <a:bodyPr vert="horz" lIns="91440" tIns="45720" rIns="91440" bIns="45720" rtlCol="0" anchor="ctr">
            <a:normAutofit/>
          </a:bodyPr>
          <a:lstStyle/>
          <a:p>
            <a:pPr marL="0" indent="0" defTabSz="914400">
              <a:lnSpc>
                <a:spcPct val="90000"/>
              </a:lnSpc>
              <a:spcBef>
                <a:spcPct val="0"/>
              </a:spcBef>
              <a:spcAft>
                <a:spcPts val="600"/>
              </a:spcAft>
            </a:pPr>
            <a:r>
              <a:rPr lang="en-US" sz="3200" b="0" i="0" kern="1200" cap="all" dirty="0">
                <a:solidFill>
                  <a:schemeClr val="tx1"/>
                </a:solidFill>
                <a:effectLst/>
                <a:latin typeface="+mj-lt"/>
                <a:ea typeface="+mj-ea"/>
                <a:cs typeface="+mj-cs"/>
              </a:rPr>
              <a:t>The Solution: Harvey AI</a:t>
            </a:r>
          </a:p>
        </p:txBody>
      </p:sp>
      <p:cxnSp>
        <p:nvCxnSpPr>
          <p:cNvPr id="33" name="Straight Connector 32">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8867" y="667764"/>
            <a:ext cx="0" cy="3429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 1"/>
          <p:cNvSpPr/>
          <p:nvPr/>
        </p:nvSpPr>
        <p:spPr>
          <a:xfrm>
            <a:off x="3478397" y="603390"/>
            <a:ext cx="4576919" cy="3323519"/>
          </a:xfrm>
          <a:prstGeom prst="rect">
            <a:avLst/>
          </a:prstGeom>
        </p:spPr>
        <p:txBody>
          <a:bodyPr vert="horz" lIns="91440" tIns="45720" rIns="91440" bIns="45720" rtlCol="0" anchor="ctr">
            <a:normAutofit/>
          </a:bodyPr>
          <a:lstStyle/>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Production software that analyzes documents and generates findings letters.</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Extracts text, identifies facts, and constructs timelines automatically.</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Validates statute citations against verified legal corpus.</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Every fact cited directly to its source document</a:t>
            </a:r>
          </a:p>
        </p:txBody>
      </p:sp>
      <p:pic>
        <p:nvPicPr>
          <p:cNvPr id="35" name="Picture 34">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
        <p:nvSpPr>
          <p:cNvPr id="5" name="Text 3"/>
          <p:cNvSpPr/>
          <p:nvPr/>
        </p:nvSpPr>
        <p:spPr>
          <a:xfrm>
            <a:off x="748834" y="4723531"/>
            <a:ext cx="7646332" cy="299870"/>
          </a:xfrm>
          <a:prstGeom prst="rect">
            <a:avLst/>
          </a:prstGeom>
          <a:noFill/>
          <a:ln/>
        </p:spPr>
        <p:txBody>
          <a:bodyPr wrap="square" rtlCol="0" anchor="ctr"/>
          <a:lstStyle/>
          <a:p>
            <a:pPr marL="0" indent="0" algn="ctr">
              <a:spcAft>
                <a:spcPts val="600"/>
              </a:spcAft>
              <a:buNone/>
            </a:pPr>
            <a:r>
              <a:rPr lang="en-US" sz="2200" b="1" dirty="0">
                <a:latin typeface="Calibri" pitchFamily="34" charset="0"/>
                <a:ea typeface="Calibri" pitchFamily="34" charset="-122"/>
                <a:cs typeface="Calibri" pitchFamily="34" charset="-120"/>
              </a:rPr>
              <a:t>Think of this as a tireless junior associate.</a:t>
            </a:r>
            <a:endParaRPr lang="en-US" sz="2200" dirty="0"/>
          </a:p>
        </p:txBody>
      </p:sp>
    </p:spTree>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43753" y="0"/>
            <a:ext cx="10360152" cy="1097280"/>
          </a:xfrm>
          <a:prstGeom prst="rect">
            <a:avLst/>
          </a:prstGeom>
          <a:noFill/>
          <a:ln/>
        </p:spPr>
        <p:txBody>
          <a:bodyPr wrap="square" rtlCol="0" anchor="ctr"/>
          <a:lstStyle/>
          <a:p>
            <a:pPr marL="0" indent="0" algn="l">
              <a:buNone/>
            </a:pPr>
            <a:r>
              <a:rPr lang="en-US" sz="3600" b="1" dirty="0">
                <a:solidFill>
                  <a:srgbClr val="181A31"/>
                </a:solidFill>
                <a:latin typeface="Calibri" pitchFamily="34" charset="0"/>
                <a:ea typeface="Calibri" pitchFamily="34" charset="-122"/>
                <a:cs typeface="Calibri" pitchFamily="34" charset="-120"/>
              </a:rPr>
              <a:t>The Attorney Workflow</a:t>
            </a:r>
            <a:endParaRPr lang="en-US" sz="3600" dirty="0"/>
          </a:p>
        </p:txBody>
      </p:sp>
      <p:sp>
        <p:nvSpPr>
          <p:cNvPr id="3" name="Shape 1"/>
          <p:cNvSpPr/>
          <p:nvPr/>
        </p:nvSpPr>
        <p:spPr>
          <a:xfrm>
            <a:off x="626633" y="1143000"/>
            <a:ext cx="365760" cy="365760"/>
          </a:xfrm>
          <a:prstGeom prst="ellipse">
            <a:avLst/>
          </a:prstGeom>
          <a:solidFill>
            <a:srgbClr val="5AB7A3"/>
          </a:solidFill>
          <a:ln/>
        </p:spPr>
        <p:txBody>
          <a:bodyPr/>
          <a:lstStyle/>
          <a:p>
            <a:endParaRPr lang="en-US"/>
          </a:p>
        </p:txBody>
      </p:sp>
      <p:sp>
        <p:nvSpPr>
          <p:cNvPr id="4" name="Text 2"/>
          <p:cNvSpPr/>
          <p:nvPr/>
        </p:nvSpPr>
        <p:spPr>
          <a:xfrm>
            <a:off x="626633" y="114300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175273" y="118872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Create Case: Initialize case record with client name and reference number</a:t>
            </a:r>
            <a:endParaRPr lang="en-US" sz="1800" dirty="0"/>
          </a:p>
        </p:txBody>
      </p:sp>
      <p:sp>
        <p:nvSpPr>
          <p:cNvPr id="6" name="Shape 4"/>
          <p:cNvSpPr/>
          <p:nvPr/>
        </p:nvSpPr>
        <p:spPr>
          <a:xfrm>
            <a:off x="626633" y="1828800"/>
            <a:ext cx="365760" cy="365760"/>
          </a:xfrm>
          <a:prstGeom prst="ellipse">
            <a:avLst/>
          </a:prstGeom>
          <a:solidFill>
            <a:srgbClr val="5AB7A3"/>
          </a:solidFill>
          <a:ln/>
        </p:spPr>
        <p:txBody>
          <a:bodyPr/>
          <a:lstStyle/>
          <a:p>
            <a:endParaRPr lang="en-US"/>
          </a:p>
        </p:txBody>
      </p:sp>
      <p:sp>
        <p:nvSpPr>
          <p:cNvPr id="7" name="Text 5"/>
          <p:cNvSpPr/>
          <p:nvPr/>
        </p:nvSpPr>
        <p:spPr>
          <a:xfrm>
            <a:off x="626633" y="182880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175273" y="187452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Upload Documents: Drag-and-drop files or import directly from Clio</a:t>
            </a:r>
            <a:endParaRPr lang="en-US" sz="1800" dirty="0"/>
          </a:p>
        </p:txBody>
      </p:sp>
      <p:sp>
        <p:nvSpPr>
          <p:cNvPr id="9" name="Shape 7"/>
          <p:cNvSpPr/>
          <p:nvPr/>
        </p:nvSpPr>
        <p:spPr>
          <a:xfrm>
            <a:off x="626633" y="2514600"/>
            <a:ext cx="365760" cy="365760"/>
          </a:xfrm>
          <a:prstGeom prst="ellipse">
            <a:avLst/>
          </a:prstGeom>
          <a:solidFill>
            <a:srgbClr val="5AB7A3"/>
          </a:solidFill>
          <a:ln/>
        </p:spPr>
        <p:txBody>
          <a:bodyPr/>
          <a:lstStyle/>
          <a:p>
            <a:endParaRPr lang="en-US"/>
          </a:p>
        </p:txBody>
      </p:sp>
      <p:sp>
        <p:nvSpPr>
          <p:cNvPr id="10" name="Text 8"/>
          <p:cNvSpPr/>
          <p:nvPr/>
        </p:nvSpPr>
        <p:spPr>
          <a:xfrm>
            <a:off x="626633" y="251460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175273" y="256032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Run Analysis: AI processes documents (1–8 minutes)</a:t>
            </a:r>
            <a:endParaRPr lang="en-US" sz="1800" dirty="0"/>
          </a:p>
        </p:txBody>
      </p:sp>
      <p:sp>
        <p:nvSpPr>
          <p:cNvPr id="12" name="Shape 10"/>
          <p:cNvSpPr/>
          <p:nvPr/>
        </p:nvSpPr>
        <p:spPr>
          <a:xfrm>
            <a:off x="626633" y="3200400"/>
            <a:ext cx="365760" cy="365760"/>
          </a:xfrm>
          <a:prstGeom prst="ellipse">
            <a:avLst/>
          </a:prstGeom>
          <a:solidFill>
            <a:srgbClr val="5AB7A3"/>
          </a:solidFill>
          <a:ln/>
        </p:spPr>
        <p:txBody>
          <a:bodyPr/>
          <a:lstStyle/>
          <a:p>
            <a:endParaRPr lang="en-US"/>
          </a:p>
        </p:txBody>
      </p:sp>
      <p:sp>
        <p:nvSpPr>
          <p:cNvPr id="13" name="Text 11"/>
          <p:cNvSpPr/>
          <p:nvPr/>
        </p:nvSpPr>
        <p:spPr>
          <a:xfrm>
            <a:off x="626633" y="320040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175273" y="324612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Review Results: Verify findings letter, timeline, and document summaries</a:t>
            </a:r>
            <a:endParaRPr lang="en-US" sz="1800" dirty="0"/>
          </a:p>
        </p:txBody>
      </p:sp>
      <p:sp>
        <p:nvSpPr>
          <p:cNvPr id="15" name="Shape 13"/>
          <p:cNvSpPr/>
          <p:nvPr/>
        </p:nvSpPr>
        <p:spPr>
          <a:xfrm>
            <a:off x="626633" y="3886200"/>
            <a:ext cx="365760" cy="365760"/>
          </a:xfrm>
          <a:prstGeom prst="ellipse">
            <a:avLst/>
          </a:prstGeom>
          <a:solidFill>
            <a:srgbClr val="5AB7A3"/>
          </a:solidFill>
          <a:ln/>
        </p:spPr>
        <p:txBody>
          <a:bodyPr/>
          <a:lstStyle/>
          <a:p>
            <a:endParaRPr lang="en-US"/>
          </a:p>
        </p:txBody>
      </p:sp>
      <p:sp>
        <p:nvSpPr>
          <p:cNvPr id="16" name="Text 14"/>
          <p:cNvSpPr/>
          <p:nvPr/>
        </p:nvSpPr>
        <p:spPr>
          <a:xfrm>
            <a:off x="626633" y="388620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7" name="Text 15"/>
          <p:cNvSpPr/>
          <p:nvPr/>
        </p:nvSpPr>
        <p:spPr>
          <a:xfrm>
            <a:off x="1175273" y="393192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Export: Edit letter in-browser and export to HTML/Word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61DE5317-9DD3-9513-1E05-777D523E49E2}"/>
              </a:ext>
            </a:extLst>
          </p:cNvPr>
          <p:cNvPicPr>
            <a:picLocks noChangeAspect="1"/>
          </p:cNvPicPr>
          <p:nvPr/>
        </p:nvPicPr>
        <p:blipFill>
          <a:blip r:embed="rId4"/>
          <a:srcRect b="28783"/>
          <a:stretch>
            <a:fillRect/>
          </a:stretch>
        </p:blipFill>
        <p:spPr>
          <a:xfrm>
            <a:off x="20" y="10"/>
            <a:ext cx="9143980" cy="4590997"/>
          </a:xfrm>
          <a:prstGeom prst="rect">
            <a:avLst/>
          </a:prstGeom>
        </p:spPr>
      </p:pic>
    </p:spTree>
    <p:extLst>
      <p:ext uri="{BB962C8B-B14F-4D97-AF65-F5344CB8AC3E}">
        <p14:creationId xmlns:p14="http://schemas.microsoft.com/office/powerpoint/2010/main" val="3093487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9" name="Picture 18">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0" name="Straight Connector 19">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web page&#10;&#10;AI-generated content may be incorrect.">
            <a:extLst>
              <a:ext uri="{FF2B5EF4-FFF2-40B4-BE49-F238E27FC236}">
                <a16:creationId xmlns:a16="http://schemas.microsoft.com/office/drawing/2014/main" id="{E7787325-3544-8577-0AB3-752143048F4B}"/>
              </a:ext>
            </a:extLst>
          </p:cNvPr>
          <p:cNvPicPr>
            <a:picLocks noChangeAspect="1"/>
          </p:cNvPicPr>
          <p:nvPr/>
        </p:nvPicPr>
        <p:blipFill>
          <a:blip r:embed="rId4"/>
          <a:srcRect b="28783"/>
          <a:stretch>
            <a:fillRect/>
          </a:stretch>
        </p:blipFill>
        <p:spPr>
          <a:xfrm>
            <a:off x="20" y="10"/>
            <a:ext cx="9143980" cy="4590997"/>
          </a:xfrm>
          <a:prstGeom prst="rect">
            <a:avLst/>
          </a:prstGeom>
        </p:spPr>
      </p:pic>
    </p:spTree>
    <p:extLst>
      <p:ext uri="{BB962C8B-B14F-4D97-AF65-F5344CB8AC3E}">
        <p14:creationId xmlns:p14="http://schemas.microsoft.com/office/powerpoint/2010/main" val="4099791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0429847A-151B-CD63-A01D-D869F0E12483}"/>
              </a:ext>
            </a:extLst>
          </p:cNvPr>
          <p:cNvPicPr>
            <a:picLocks noChangeAspect="1"/>
          </p:cNvPicPr>
          <p:nvPr/>
        </p:nvPicPr>
        <p:blipFill>
          <a:blip r:embed="rId4"/>
          <a:srcRect t="14440" b="14343"/>
          <a:stretch>
            <a:fillRect/>
          </a:stretch>
        </p:blipFill>
        <p:spPr>
          <a:xfrm>
            <a:off x="20" y="10"/>
            <a:ext cx="9143980" cy="4590997"/>
          </a:xfrm>
          <a:prstGeom prst="rect">
            <a:avLst/>
          </a:prstGeom>
        </p:spPr>
      </p:pic>
    </p:spTree>
    <p:extLst>
      <p:ext uri="{BB962C8B-B14F-4D97-AF65-F5344CB8AC3E}">
        <p14:creationId xmlns:p14="http://schemas.microsoft.com/office/powerpoint/2010/main" val="3493365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3" name="Picture 32">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35" name="Straight Connector 34">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5" name="Picture 4" descr="A screenshot of a computer&#10;&#10;AI-generated content may be incorrect.">
            <a:extLst>
              <a:ext uri="{FF2B5EF4-FFF2-40B4-BE49-F238E27FC236}">
                <a16:creationId xmlns:a16="http://schemas.microsoft.com/office/drawing/2014/main" id="{A02200B1-D258-C585-2A35-818CE16705CB}"/>
              </a:ext>
            </a:extLst>
          </p:cNvPr>
          <p:cNvPicPr>
            <a:picLocks noChangeAspect="1"/>
          </p:cNvPicPr>
          <p:nvPr/>
        </p:nvPicPr>
        <p:blipFill>
          <a:blip r:embed="rId4"/>
          <a:srcRect t="18394" b="10390"/>
          <a:stretch>
            <a:fillRect/>
          </a:stretch>
        </p:blipFill>
        <p:spPr>
          <a:xfrm>
            <a:off x="20" y="10"/>
            <a:ext cx="9143980" cy="4590997"/>
          </a:xfrm>
          <a:prstGeom prst="rect">
            <a:avLst/>
          </a:prstGeom>
        </p:spPr>
      </p:pic>
    </p:spTree>
    <p:extLst>
      <p:ext uri="{BB962C8B-B14F-4D97-AF65-F5344CB8AC3E}">
        <p14:creationId xmlns:p14="http://schemas.microsoft.com/office/powerpoint/2010/main" val="553091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hat&#10;&#10;AI-generated content may be incorrect.">
            <a:extLst>
              <a:ext uri="{FF2B5EF4-FFF2-40B4-BE49-F238E27FC236}">
                <a16:creationId xmlns:a16="http://schemas.microsoft.com/office/drawing/2014/main" id="{D5A7E6C9-6262-8E66-592D-7F61F571F94B}"/>
              </a:ext>
            </a:extLst>
          </p:cNvPr>
          <p:cNvPicPr>
            <a:picLocks noChangeAspect="1"/>
          </p:cNvPicPr>
          <p:nvPr/>
        </p:nvPicPr>
        <p:blipFill>
          <a:blip r:embed="rId4"/>
          <a:srcRect t="18214" b="10569"/>
          <a:stretch>
            <a:fillRect/>
          </a:stretch>
        </p:blipFill>
        <p:spPr>
          <a:xfrm>
            <a:off x="20" y="10"/>
            <a:ext cx="9143980" cy="4590997"/>
          </a:xfrm>
          <a:prstGeom prst="rect">
            <a:avLst/>
          </a:prstGeom>
        </p:spPr>
      </p:pic>
    </p:spTree>
    <p:extLst>
      <p:ext uri="{BB962C8B-B14F-4D97-AF65-F5344CB8AC3E}">
        <p14:creationId xmlns:p14="http://schemas.microsoft.com/office/powerpoint/2010/main" val="3338118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70704360-527B-CD3D-CB6A-20BF12D05754}"/>
              </a:ext>
            </a:extLst>
          </p:cNvPr>
          <p:cNvPicPr>
            <a:picLocks noChangeAspect="1"/>
          </p:cNvPicPr>
          <p:nvPr/>
        </p:nvPicPr>
        <p:blipFill>
          <a:blip r:embed="rId4"/>
          <a:srcRect t="14363" b="14420"/>
          <a:stretch>
            <a:fillRect/>
          </a:stretch>
        </p:blipFill>
        <p:spPr>
          <a:xfrm>
            <a:off x="20" y="10"/>
            <a:ext cx="9143980" cy="4590997"/>
          </a:xfrm>
          <a:prstGeom prst="rect">
            <a:avLst/>
          </a:prstGeom>
        </p:spPr>
      </p:pic>
    </p:spTree>
    <p:extLst>
      <p:ext uri="{BB962C8B-B14F-4D97-AF65-F5344CB8AC3E}">
        <p14:creationId xmlns:p14="http://schemas.microsoft.com/office/powerpoint/2010/main" val="1975128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1AEEA920-9C91-F17C-F60B-1C8612806B4C}"/>
              </a:ext>
            </a:extLst>
          </p:cNvPr>
          <p:cNvPicPr>
            <a:picLocks noChangeAspect="1"/>
          </p:cNvPicPr>
          <p:nvPr/>
        </p:nvPicPr>
        <p:blipFill>
          <a:blip r:embed="rId4"/>
          <a:srcRect b="28783"/>
          <a:stretch>
            <a:fillRect/>
          </a:stretch>
        </p:blipFill>
        <p:spPr>
          <a:xfrm>
            <a:off x="20" y="10"/>
            <a:ext cx="9143980" cy="4590997"/>
          </a:xfrm>
          <a:prstGeom prst="rect">
            <a:avLst/>
          </a:prstGeom>
        </p:spPr>
      </p:pic>
    </p:spTree>
    <p:extLst>
      <p:ext uri="{BB962C8B-B14F-4D97-AF65-F5344CB8AC3E}">
        <p14:creationId xmlns:p14="http://schemas.microsoft.com/office/powerpoint/2010/main" val="649173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1BBA9649-FCB6-EF01-B9F9-06206F78A285}"/>
              </a:ext>
            </a:extLst>
          </p:cNvPr>
          <p:cNvPicPr>
            <a:picLocks noChangeAspect="1"/>
          </p:cNvPicPr>
          <p:nvPr/>
        </p:nvPicPr>
        <p:blipFill>
          <a:blip r:embed="rId4"/>
          <a:srcRect t="18775" b="10008"/>
          <a:stretch>
            <a:fillRect/>
          </a:stretch>
        </p:blipFill>
        <p:spPr>
          <a:xfrm>
            <a:off x="20" y="10"/>
            <a:ext cx="9143980" cy="4590997"/>
          </a:xfrm>
          <a:prstGeom prst="rect">
            <a:avLst/>
          </a:prstGeom>
        </p:spPr>
      </p:pic>
    </p:spTree>
    <p:extLst>
      <p:ext uri="{BB962C8B-B14F-4D97-AF65-F5344CB8AC3E}">
        <p14:creationId xmlns:p14="http://schemas.microsoft.com/office/powerpoint/2010/main" val="2404876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61E9AFA9-E1CE-E833-DDBF-8BB76123F4C6}"/>
              </a:ext>
            </a:extLst>
          </p:cNvPr>
          <p:cNvPicPr>
            <a:picLocks noChangeAspect="1"/>
          </p:cNvPicPr>
          <p:nvPr/>
        </p:nvPicPr>
        <p:blipFill>
          <a:blip r:embed="rId4"/>
          <a:srcRect b="28783"/>
          <a:stretch>
            <a:fillRect/>
          </a:stretch>
        </p:blipFill>
        <p:spPr>
          <a:xfrm>
            <a:off x="20" y="10"/>
            <a:ext cx="9143980" cy="4590997"/>
          </a:xfrm>
          <a:prstGeom prst="rect">
            <a:avLst/>
          </a:prstGeom>
        </p:spPr>
      </p:pic>
    </p:spTree>
    <p:extLst>
      <p:ext uri="{BB962C8B-B14F-4D97-AF65-F5344CB8AC3E}">
        <p14:creationId xmlns:p14="http://schemas.microsoft.com/office/powerpoint/2010/main" val="2956878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129DBC85-E44B-99E5-1E2D-D9BABD706BC5}"/>
              </a:ext>
            </a:extLst>
          </p:cNvPr>
          <p:cNvPicPr>
            <a:picLocks noChangeAspect="1"/>
          </p:cNvPicPr>
          <p:nvPr/>
        </p:nvPicPr>
        <p:blipFill>
          <a:blip r:embed="rId4"/>
          <a:srcRect t="24939" b="3844"/>
          <a:stretch>
            <a:fillRect/>
          </a:stretch>
        </p:blipFill>
        <p:spPr>
          <a:xfrm>
            <a:off x="20" y="10"/>
            <a:ext cx="9143980" cy="4590997"/>
          </a:xfrm>
          <a:prstGeom prst="rect">
            <a:avLst/>
          </a:prstGeom>
        </p:spPr>
      </p:pic>
    </p:spTree>
    <p:extLst>
      <p:ext uri="{BB962C8B-B14F-4D97-AF65-F5344CB8AC3E}">
        <p14:creationId xmlns:p14="http://schemas.microsoft.com/office/powerpoint/2010/main" val="2876685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680E4E30-D859-E7F1-E7A1-3AB2ACC61BBC}"/>
              </a:ext>
            </a:extLst>
          </p:cNvPr>
          <p:cNvPicPr>
            <a:picLocks noChangeAspect="1"/>
          </p:cNvPicPr>
          <p:nvPr/>
        </p:nvPicPr>
        <p:blipFill>
          <a:blip r:embed="rId4"/>
          <a:srcRect t="23202" b="5581"/>
          <a:stretch>
            <a:fillRect/>
          </a:stretch>
        </p:blipFill>
        <p:spPr>
          <a:xfrm>
            <a:off x="20" y="10"/>
            <a:ext cx="9143980" cy="4590997"/>
          </a:xfrm>
          <a:prstGeom prst="rect">
            <a:avLst/>
          </a:prstGeom>
        </p:spPr>
      </p:pic>
    </p:spTree>
    <p:extLst>
      <p:ext uri="{BB962C8B-B14F-4D97-AF65-F5344CB8AC3E}">
        <p14:creationId xmlns:p14="http://schemas.microsoft.com/office/powerpoint/2010/main" val="3920240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38F172-08B9-4BA5-B753-7D93472C0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C900681B-C4FD-40B3-B5BC-C33231614C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2" name="Straight Connector 11">
            <a:extLst>
              <a:ext uri="{FF2B5EF4-FFF2-40B4-BE49-F238E27FC236}">
                <a16:creationId xmlns:a16="http://schemas.microsoft.com/office/drawing/2014/main" id="{FEAACD67-2FB5-4530-9B74-8D946F1CE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D0524FF6-0C80-9C03-E82D-B818DBD1235E}"/>
              </a:ext>
            </a:extLst>
          </p:cNvPr>
          <p:cNvPicPr>
            <a:picLocks noChangeAspect="1"/>
          </p:cNvPicPr>
          <p:nvPr/>
        </p:nvPicPr>
        <p:blipFill>
          <a:blip r:embed="rId4"/>
          <a:srcRect t="13329" b="15454"/>
          <a:stretch>
            <a:fillRect/>
          </a:stretch>
        </p:blipFill>
        <p:spPr>
          <a:xfrm>
            <a:off x="20" y="10"/>
            <a:ext cx="9143980" cy="4590997"/>
          </a:xfrm>
          <a:prstGeom prst="rect">
            <a:avLst/>
          </a:prstGeom>
        </p:spPr>
      </p:pic>
    </p:spTree>
    <p:extLst>
      <p:ext uri="{BB962C8B-B14F-4D97-AF65-F5344CB8AC3E}">
        <p14:creationId xmlns:p14="http://schemas.microsoft.com/office/powerpoint/2010/main" val="3522372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4" name="Straight Connector 13">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ext 0"/>
          <p:cNvSpPr/>
          <p:nvPr/>
        </p:nvSpPr>
        <p:spPr>
          <a:xfrm>
            <a:off x="1088684" y="603389"/>
            <a:ext cx="7202456" cy="786926"/>
          </a:xfrm>
          <a:prstGeom prst="rect">
            <a:avLst/>
          </a:prstGeom>
        </p:spPr>
        <p:txBody>
          <a:bodyPr vert="horz" lIns="91440" tIns="45720" rIns="91440" bIns="45720" rtlCol="0" anchor="t">
            <a:normAutofit/>
          </a:bodyPr>
          <a:lstStyle/>
          <a:p>
            <a:pPr marL="0" indent="0" defTabSz="914400">
              <a:lnSpc>
                <a:spcPct val="90000"/>
              </a:lnSpc>
              <a:spcBef>
                <a:spcPct val="0"/>
              </a:spcBef>
              <a:spcAft>
                <a:spcPts val="600"/>
              </a:spcAft>
            </a:pPr>
            <a:r>
              <a:rPr lang="en-US" sz="3200" b="0" i="0" kern="1200" cap="all" dirty="0">
                <a:solidFill>
                  <a:schemeClr val="tx1"/>
                </a:solidFill>
                <a:effectLst/>
                <a:latin typeface="+mj-lt"/>
                <a:ea typeface="+mj-ea"/>
                <a:cs typeface="+mj-cs"/>
              </a:rPr>
              <a:t>Supported Documents &amp; Intake</a:t>
            </a:r>
          </a:p>
        </p:txBody>
      </p:sp>
      <p:sp>
        <p:nvSpPr>
          <p:cNvPr id="3" name="Text 1"/>
          <p:cNvSpPr/>
          <p:nvPr/>
        </p:nvSpPr>
        <p:spPr>
          <a:xfrm>
            <a:off x="1088684" y="1511799"/>
            <a:ext cx="7202456" cy="2587959"/>
          </a:xfrm>
          <a:prstGeom prst="rect">
            <a:avLst/>
          </a:prstGeom>
        </p:spPr>
        <p:txBody>
          <a:bodyPr vert="horz" lIns="91440" tIns="45720" rIns="91440" bIns="45720" rtlCol="0" anchor="t">
            <a:normAutofit/>
          </a:bodyPr>
          <a:lstStyle/>
          <a:p>
            <a:pPr marL="342900" indent="-228600" defTabSz="914400">
              <a:lnSpc>
                <a:spcPct val="120000"/>
              </a:lnSpc>
              <a:spcAft>
                <a:spcPts val="600"/>
              </a:spcAft>
              <a:buClr>
                <a:schemeClr val="accent1"/>
              </a:buClr>
              <a:buSzPct val="100000"/>
              <a:buFont typeface="Arial" panose="020B0604020202020204" pitchFamily="34" charset="0"/>
              <a:buChar char="•"/>
            </a:pPr>
            <a:r>
              <a:rPr lang="en-US"/>
              <a:t>Broad format support: PDF, DOCX, TXT, CSV, JPG, PNG, EML, HTML.</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Integrated OCR processes scanned documents using GPT-4o Vision.</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Clio integration imports matters and documents directly.</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Verification Hub fixes or excludes poor-quality documents</a:t>
            </a:r>
          </a:p>
        </p:txBody>
      </p:sp>
      <p:sp>
        <p:nvSpPr>
          <p:cNvPr id="5" name="Text 3"/>
          <p:cNvSpPr/>
          <p:nvPr/>
        </p:nvSpPr>
        <p:spPr>
          <a:xfrm>
            <a:off x="804724" y="4631589"/>
            <a:ext cx="7534552" cy="456528"/>
          </a:xfrm>
          <a:prstGeom prst="rect">
            <a:avLst/>
          </a:prstGeom>
          <a:noFill/>
          <a:ln/>
        </p:spPr>
        <p:txBody>
          <a:bodyPr wrap="square" rtlCol="0" anchor="ctr"/>
          <a:lstStyle/>
          <a:p>
            <a:pPr marL="0" indent="0" algn="ctr">
              <a:spcAft>
                <a:spcPts val="600"/>
              </a:spcAft>
              <a:buNone/>
            </a:pPr>
            <a:r>
              <a:rPr lang="en-US" sz="2000" b="1" dirty="0">
                <a:latin typeface="Calibri" pitchFamily="34" charset="0"/>
                <a:ea typeface="Calibri" pitchFamily="34" charset="-122"/>
                <a:cs typeface="Calibri" pitchFamily="34" charset="-120"/>
              </a:rPr>
              <a:t>Upload core documents first: intake forms, police reports, contracts</a:t>
            </a:r>
            <a:endParaRPr lang="en-US" sz="2000" dirty="0"/>
          </a:p>
        </p:txBody>
      </p:sp>
    </p:spTree>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4" name="Straight Connector 13">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ext 0"/>
          <p:cNvSpPr/>
          <p:nvPr/>
        </p:nvSpPr>
        <p:spPr>
          <a:xfrm>
            <a:off x="1088684" y="603389"/>
            <a:ext cx="7202456" cy="786926"/>
          </a:xfrm>
          <a:prstGeom prst="rect">
            <a:avLst/>
          </a:prstGeom>
        </p:spPr>
        <p:txBody>
          <a:bodyPr vert="horz" lIns="91440" tIns="45720" rIns="91440" bIns="45720" rtlCol="0" anchor="t">
            <a:normAutofit/>
          </a:bodyPr>
          <a:lstStyle/>
          <a:p>
            <a:pPr marL="0" indent="0" defTabSz="914400">
              <a:lnSpc>
                <a:spcPct val="90000"/>
              </a:lnSpc>
              <a:spcBef>
                <a:spcPct val="0"/>
              </a:spcBef>
              <a:spcAft>
                <a:spcPts val="600"/>
              </a:spcAft>
            </a:pPr>
            <a:r>
              <a:rPr lang="en-US" sz="3200" b="0" i="0" kern="1200" cap="all" dirty="0">
                <a:solidFill>
                  <a:schemeClr val="tx1"/>
                </a:solidFill>
                <a:effectLst/>
                <a:latin typeface="+mj-lt"/>
                <a:ea typeface="+mj-ea"/>
                <a:cs typeface="+mj-cs"/>
              </a:rPr>
              <a:t>Findings Letters &amp; Citations</a:t>
            </a:r>
          </a:p>
        </p:txBody>
      </p:sp>
      <p:sp>
        <p:nvSpPr>
          <p:cNvPr id="3" name="Text 1"/>
          <p:cNvSpPr/>
          <p:nvPr/>
        </p:nvSpPr>
        <p:spPr>
          <a:xfrm>
            <a:off x="1088684" y="1511799"/>
            <a:ext cx="7202456" cy="2587959"/>
          </a:xfrm>
          <a:prstGeom prst="rect">
            <a:avLst/>
          </a:prstGeom>
        </p:spPr>
        <p:txBody>
          <a:bodyPr vert="horz" lIns="91440" tIns="45720" rIns="91440" bIns="45720" rtlCol="0" anchor="t">
            <a:normAutofit/>
          </a:bodyPr>
          <a:lstStyle/>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Professional format: Structured, attorney-style letters.</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Source linking: Every fact includes inline citation (e.g., [</a:t>
            </a:r>
            <a:r>
              <a:rPr lang="en-US" dirty="0" err="1"/>
              <a:t>Client_Intake.pdf</a:t>
            </a:r>
            <a:r>
              <a:rPr lang="en-US" dirty="0"/>
              <a:t>]).</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Instant verification: Click any citation to view the original source.</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dirty="0"/>
              <a:t>Draft status: All outputs designed for attorney review</a:t>
            </a:r>
          </a:p>
        </p:txBody>
      </p:sp>
      <p:sp>
        <p:nvSpPr>
          <p:cNvPr id="5" name="Text 3"/>
          <p:cNvSpPr/>
          <p:nvPr/>
        </p:nvSpPr>
        <p:spPr>
          <a:xfrm>
            <a:off x="739587" y="4594062"/>
            <a:ext cx="7664825" cy="548640"/>
          </a:xfrm>
          <a:prstGeom prst="rect">
            <a:avLst/>
          </a:prstGeom>
          <a:noFill/>
          <a:ln/>
        </p:spPr>
        <p:txBody>
          <a:bodyPr wrap="square" rtlCol="0" anchor="ctr"/>
          <a:lstStyle/>
          <a:p>
            <a:pPr marL="0" indent="0" algn="ctr">
              <a:spcAft>
                <a:spcPts val="600"/>
              </a:spcAft>
              <a:buNone/>
            </a:pPr>
            <a:r>
              <a:rPr lang="en-US" sz="2200" b="1" dirty="0">
                <a:latin typeface="Calibri" pitchFamily="34" charset="0"/>
                <a:ea typeface="Calibri" pitchFamily="34" charset="-122"/>
                <a:cs typeface="Calibri" pitchFamily="34" charset="-120"/>
              </a:rPr>
              <a:t>You can audit the AI's work by clicking the citations.</a:t>
            </a:r>
            <a:endParaRPr lang="en-US" sz="2200" dirty="0"/>
          </a:p>
        </p:txBody>
      </p:sp>
    </p:spTree>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4" name="Straight Connector 13">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ext 0"/>
          <p:cNvSpPr/>
          <p:nvPr/>
        </p:nvSpPr>
        <p:spPr>
          <a:xfrm>
            <a:off x="1088684" y="603389"/>
            <a:ext cx="7202456" cy="786926"/>
          </a:xfrm>
          <a:prstGeom prst="rect">
            <a:avLst/>
          </a:prstGeom>
        </p:spPr>
        <p:txBody>
          <a:bodyPr vert="horz" lIns="91440" tIns="45720" rIns="91440" bIns="45720" rtlCol="0" anchor="t">
            <a:normAutofit/>
          </a:bodyPr>
          <a:lstStyle/>
          <a:p>
            <a:pPr marL="0" indent="0" defTabSz="914400">
              <a:lnSpc>
                <a:spcPct val="90000"/>
              </a:lnSpc>
              <a:spcBef>
                <a:spcPct val="0"/>
              </a:spcBef>
              <a:spcAft>
                <a:spcPts val="600"/>
              </a:spcAft>
            </a:pPr>
            <a:r>
              <a:rPr lang="en-US" sz="3200" b="0" i="0" kern="1200" cap="all" dirty="0">
                <a:solidFill>
                  <a:schemeClr val="tx1"/>
                </a:solidFill>
                <a:effectLst/>
                <a:latin typeface="+mj-lt"/>
                <a:ea typeface="+mj-ea"/>
                <a:cs typeface="+mj-cs"/>
              </a:rPr>
              <a:t>Quality, Accuracy &amp; Control</a:t>
            </a:r>
          </a:p>
        </p:txBody>
      </p:sp>
      <p:sp>
        <p:nvSpPr>
          <p:cNvPr id="3" name="Text 1"/>
          <p:cNvSpPr/>
          <p:nvPr/>
        </p:nvSpPr>
        <p:spPr>
          <a:xfrm>
            <a:off x="1088684" y="1511799"/>
            <a:ext cx="7202456" cy="2587959"/>
          </a:xfrm>
          <a:prstGeom prst="rect">
            <a:avLst/>
          </a:prstGeom>
        </p:spPr>
        <p:txBody>
          <a:bodyPr vert="horz" lIns="91440" tIns="45720" rIns="91440" bIns="45720" rtlCol="0" anchor="t">
            <a:normAutofit/>
          </a:bodyPr>
          <a:lstStyle/>
          <a:p>
            <a:pPr marL="342900" indent="-228600" defTabSz="914400">
              <a:lnSpc>
                <a:spcPct val="120000"/>
              </a:lnSpc>
              <a:spcAft>
                <a:spcPts val="600"/>
              </a:spcAft>
              <a:buClr>
                <a:schemeClr val="accent1"/>
              </a:buClr>
              <a:buSzPct val="100000"/>
              <a:buFont typeface="Arial" panose="020B0604020202020204" pitchFamily="34" charset="0"/>
              <a:buChar char="•"/>
            </a:pPr>
            <a:r>
              <a:rPr lang="en-US"/>
              <a:t>Verified legal corpus: AI checks citations against 51 FL + 42 NM statutes.</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Hallucination guardrails: Citations rejected if not in verified corpus.</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Jurisdiction limits: Optimized only for Florida and New Mexico civil litigation.</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Attorney responsibility: You verify cited statutes are strategically applicable</a:t>
            </a:r>
          </a:p>
        </p:txBody>
      </p:sp>
      <p:sp>
        <p:nvSpPr>
          <p:cNvPr id="5" name="Text 3"/>
          <p:cNvSpPr/>
          <p:nvPr/>
        </p:nvSpPr>
        <p:spPr>
          <a:xfrm>
            <a:off x="1611761" y="4578857"/>
            <a:ext cx="5920478" cy="548640"/>
          </a:xfrm>
          <a:prstGeom prst="rect">
            <a:avLst/>
          </a:prstGeom>
          <a:noFill/>
          <a:ln/>
        </p:spPr>
        <p:txBody>
          <a:bodyPr wrap="square" rtlCol="0" anchor="ctr"/>
          <a:lstStyle/>
          <a:p>
            <a:pPr marL="0" indent="0" algn="ctr">
              <a:spcAft>
                <a:spcPts val="600"/>
              </a:spcAft>
              <a:buNone/>
            </a:pPr>
            <a:r>
              <a:rPr lang="en-US" sz="2200" b="1" dirty="0">
                <a:latin typeface="Calibri" pitchFamily="34" charset="0"/>
                <a:ea typeface="Calibri" pitchFamily="34" charset="-122"/>
                <a:cs typeface="Calibri" pitchFamily="34" charset="-120"/>
              </a:rPr>
              <a:t>You are the final decision-maker.</a:t>
            </a:r>
            <a:endParaRPr lang="en-US" sz="2200" dirty="0"/>
          </a:p>
        </p:txBody>
      </p:sp>
    </p:spTree>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4" name="Straight Connector 13">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ext 0"/>
          <p:cNvSpPr/>
          <p:nvPr/>
        </p:nvSpPr>
        <p:spPr>
          <a:xfrm>
            <a:off x="1088684" y="603389"/>
            <a:ext cx="7202456" cy="786926"/>
          </a:xfrm>
          <a:prstGeom prst="rect">
            <a:avLst/>
          </a:prstGeom>
        </p:spPr>
        <p:txBody>
          <a:bodyPr vert="horz" lIns="91440" tIns="45720" rIns="91440" bIns="45720" rtlCol="0" anchor="t">
            <a:normAutofit/>
          </a:bodyPr>
          <a:lstStyle/>
          <a:p>
            <a:pPr marL="0" indent="0" defTabSz="914400">
              <a:lnSpc>
                <a:spcPct val="90000"/>
              </a:lnSpc>
              <a:spcBef>
                <a:spcPct val="0"/>
              </a:spcBef>
              <a:spcAft>
                <a:spcPts val="600"/>
              </a:spcAft>
            </a:pPr>
            <a:r>
              <a:rPr lang="en-US" sz="3200" b="0" i="0" kern="1200" cap="all" dirty="0">
                <a:solidFill>
                  <a:schemeClr val="tx1"/>
                </a:solidFill>
                <a:effectLst/>
                <a:latin typeface="+mj-lt"/>
                <a:ea typeface="+mj-ea"/>
                <a:cs typeface="+mj-cs"/>
              </a:rPr>
              <a:t>Adoption Plan &amp; Expectations</a:t>
            </a:r>
          </a:p>
        </p:txBody>
      </p:sp>
      <p:sp>
        <p:nvSpPr>
          <p:cNvPr id="3" name="Text 1"/>
          <p:cNvSpPr/>
          <p:nvPr/>
        </p:nvSpPr>
        <p:spPr>
          <a:xfrm>
            <a:off x="1088684" y="1511799"/>
            <a:ext cx="7202456" cy="2587959"/>
          </a:xfrm>
          <a:prstGeom prst="rect">
            <a:avLst/>
          </a:prstGeom>
        </p:spPr>
        <p:txBody>
          <a:bodyPr vert="horz" lIns="91440" tIns="45720" rIns="91440" bIns="45720" rtlCol="0" anchor="t">
            <a:normAutofit/>
          </a:bodyPr>
          <a:lstStyle/>
          <a:p>
            <a:pPr marL="342900" indent="-228600" defTabSz="914400">
              <a:lnSpc>
                <a:spcPct val="120000"/>
              </a:lnSpc>
              <a:spcAft>
                <a:spcPts val="600"/>
              </a:spcAft>
              <a:buClr>
                <a:schemeClr val="accent1"/>
              </a:buClr>
              <a:buSzPct val="100000"/>
              <a:buFont typeface="Arial" panose="020B0604020202020204" pitchFamily="34" charset="0"/>
              <a:buChar char="•"/>
            </a:pPr>
            <a:r>
              <a:rPr lang="en-US"/>
              <a:t>Immediate access: Your accounts are created; credentials distributed.</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Resources: One-page Quickstart Guide emailed to you.</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Training: Live Q&amp;A session next Wednesday for questions.</a:t>
            </a:r>
          </a:p>
          <a:p>
            <a:pPr marL="342900" indent="-228600" defTabSz="914400">
              <a:lnSpc>
                <a:spcPct val="120000"/>
              </a:lnSpc>
              <a:spcAft>
                <a:spcPts val="600"/>
              </a:spcAft>
              <a:buClr>
                <a:schemeClr val="accent1"/>
              </a:buClr>
              <a:buSzPct val="100000"/>
              <a:buFont typeface="Arial" panose="020B0604020202020204" pitchFamily="34" charset="0"/>
              <a:buChar char="•"/>
            </a:pPr>
            <a:r>
              <a:rPr lang="en-US"/>
              <a:t>Support: Dedicated channels for technical issues and feature requests</a:t>
            </a:r>
          </a:p>
        </p:txBody>
      </p:sp>
      <p:sp>
        <p:nvSpPr>
          <p:cNvPr id="5" name="Text 3"/>
          <p:cNvSpPr/>
          <p:nvPr/>
        </p:nvSpPr>
        <p:spPr>
          <a:xfrm>
            <a:off x="1463177" y="4646255"/>
            <a:ext cx="6217646" cy="403412"/>
          </a:xfrm>
          <a:prstGeom prst="rect">
            <a:avLst/>
          </a:prstGeom>
          <a:noFill/>
          <a:ln/>
        </p:spPr>
        <p:txBody>
          <a:bodyPr wrap="square" rtlCol="0" anchor="ctr"/>
          <a:lstStyle/>
          <a:p>
            <a:pPr marL="0" indent="0" algn="ctr">
              <a:spcAft>
                <a:spcPts val="600"/>
              </a:spcAft>
              <a:buNone/>
            </a:pPr>
            <a:r>
              <a:rPr lang="en-US" sz="2000" b="1" dirty="0">
                <a:latin typeface="Calibri" pitchFamily="34" charset="0"/>
                <a:ea typeface="Calibri" pitchFamily="34" charset="-122"/>
                <a:cs typeface="Calibri" pitchFamily="34" charset="-120"/>
              </a:rPr>
              <a:t>Expectation: Log in and create a test case this week</a:t>
            </a:r>
            <a:endParaRPr lang="en-US" sz="2000" dirty="0"/>
          </a:p>
        </p:txBody>
      </p:sp>
    </p:spTree>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95836" y="0"/>
            <a:ext cx="10360152" cy="1097280"/>
          </a:xfrm>
          <a:prstGeom prst="rect">
            <a:avLst/>
          </a:prstGeom>
          <a:noFill/>
          <a:ln/>
        </p:spPr>
        <p:txBody>
          <a:bodyPr wrap="square" rtlCol="0" anchor="ctr"/>
          <a:lstStyle/>
          <a:p>
            <a:pPr marL="0" indent="0" algn="l">
              <a:buNone/>
            </a:pPr>
            <a:r>
              <a:rPr lang="en-US" sz="3600" b="1" dirty="0">
                <a:solidFill>
                  <a:srgbClr val="181A31"/>
                </a:solidFill>
                <a:latin typeface="Calibri" pitchFamily="34" charset="0"/>
                <a:ea typeface="Calibri" pitchFamily="34" charset="-122"/>
                <a:cs typeface="Calibri" pitchFamily="34" charset="-120"/>
              </a:rPr>
              <a:t>Immediate Next Steps</a:t>
            </a:r>
            <a:endParaRPr lang="en-US" sz="3600" dirty="0"/>
          </a:p>
        </p:txBody>
      </p:sp>
      <p:sp>
        <p:nvSpPr>
          <p:cNvPr id="3" name="Shape 1"/>
          <p:cNvSpPr/>
          <p:nvPr/>
        </p:nvSpPr>
        <p:spPr>
          <a:xfrm>
            <a:off x="478716" y="1143000"/>
            <a:ext cx="365760" cy="365760"/>
          </a:xfrm>
          <a:prstGeom prst="rect">
            <a:avLst/>
          </a:prstGeom>
          <a:solidFill>
            <a:srgbClr val="5AB7A3"/>
          </a:solidFill>
          <a:ln/>
        </p:spPr>
        <p:txBody>
          <a:bodyPr/>
          <a:lstStyle/>
          <a:p>
            <a:endParaRPr lang="en-US"/>
          </a:p>
        </p:txBody>
      </p:sp>
      <p:sp>
        <p:nvSpPr>
          <p:cNvPr id="4" name="Text 2"/>
          <p:cNvSpPr/>
          <p:nvPr/>
        </p:nvSpPr>
        <p:spPr>
          <a:xfrm>
            <a:off x="478716" y="114300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027356" y="118872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Verify Access: Log in to the portal today</a:t>
            </a:r>
            <a:endParaRPr lang="en-US" sz="1800" dirty="0"/>
          </a:p>
        </p:txBody>
      </p:sp>
      <p:sp>
        <p:nvSpPr>
          <p:cNvPr id="6" name="Shape 4"/>
          <p:cNvSpPr/>
          <p:nvPr/>
        </p:nvSpPr>
        <p:spPr>
          <a:xfrm>
            <a:off x="478716" y="1874520"/>
            <a:ext cx="365760" cy="365760"/>
          </a:xfrm>
          <a:prstGeom prst="rect">
            <a:avLst/>
          </a:prstGeom>
          <a:solidFill>
            <a:srgbClr val="5AB7A3"/>
          </a:solidFill>
          <a:ln/>
        </p:spPr>
        <p:txBody>
          <a:bodyPr/>
          <a:lstStyle/>
          <a:p>
            <a:endParaRPr lang="en-US"/>
          </a:p>
        </p:txBody>
      </p:sp>
      <p:sp>
        <p:nvSpPr>
          <p:cNvPr id="7" name="Text 5"/>
          <p:cNvSpPr/>
          <p:nvPr/>
        </p:nvSpPr>
        <p:spPr>
          <a:xfrm>
            <a:off x="478716" y="187452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027356" y="192024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Create Test Case: Upload sample documents to familiarize yourself</a:t>
            </a:r>
            <a:endParaRPr lang="en-US" sz="1800" dirty="0"/>
          </a:p>
        </p:txBody>
      </p:sp>
      <p:sp>
        <p:nvSpPr>
          <p:cNvPr id="9" name="Shape 7"/>
          <p:cNvSpPr/>
          <p:nvPr/>
        </p:nvSpPr>
        <p:spPr>
          <a:xfrm>
            <a:off x="478716" y="2606040"/>
            <a:ext cx="365760" cy="365760"/>
          </a:xfrm>
          <a:prstGeom prst="rect">
            <a:avLst/>
          </a:prstGeom>
          <a:solidFill>
            <a:srgbClr val="5AB7A3"/>
          </a:solidFill>
          <a:ln/>
        </p:spPr>
        <p:txBody>
          <a:bodyPr/>
          <a:lstStyle/>
          <a:p>
            <a:endParaRPr lang="en-US"/>
          </a:p>
        </p:txBody>
      </p:sp>
      <p:sp>
        <p:nvSpPr>
          <p:cNvPr id="10" name="Text 8"/>
          <p:cNvSpPr/>
          <p:nvPr/>
        </p:nvSpPr>
        <p:spPr>
          <a:xfrm>
            <a:off x="478716" y="260604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027356" y="265176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Real Intake: Use Harvey AI for your next eligible case</a:t>
            </a:r>
            <a:endParaRPr lang="en-US" sz="1800" dirty="0"/>
          </a:p>
        </p:txBody>
      </p:sp>
      <p:sp>
        <p:nvSpPr>
          <p:cNvPr id="12" name="Shape 10"/>
          <p:cNvSpPr/>
          <p:nvPr/>
        </p:nvSpPr>
        <p:spPr>
          <a:xfrm>
            <a:off x="478716" y="3337560"/>
            <a:ext cx="365760" cy="365760"/>
          </a:xfrm>
          <a:prstGeom prst="rect">
            <a:avLst/>
          </a:prstGeom>
          <a:solidFill>
            <a:srgbClr val="5AB7A3"/>
          </a:solidFill>
          <a:ln/>
        </p:spPr>
        <p:txBody>
          <a:bodyPr/>
          <a:lstStyle/>
          <a:p>
            <a:endParaRPr lang="en-US"/>
          </a:p>
        </p:txBody>
      </p:sp>
      <p:sp>
        <p:nvSpPr>
          <p:cNvPr id="13" name="Text 11"/>
          <p:cNvSpPr/>
          <p:nvPr/>
        </p:nvSpPr>
        <p:spPr>
          <a:xfrm>
            <a:off x="478716" y="3337560"/>
            <a:ext cx="36576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027356" y="3383280"/>
            <a:ext cx="8686800" cy="457200"/>
          </a:xfrm>
          <a:prstGeom prst="rect">
            <a:avLst/>
          </a:prstGeom>
          <a:noFill/>
          <a:ln/>
        </p:spPr>
        <p:txBody>
          <a:bodyPr wrap="square" rtlCol="0" anchor="t"/>
          <a:lstStyle/>
          <a:p>
            <a:pPr marL="0" indent="0" algn="l">
              <a:buNone/>
            </a:pPr>
            <a:r>
              <a:rPr lang="en-US" sz="1800" dirty="0">
                <a:solidFill>
                  <a:srgbClr val="39428E"/>
                </a:solidFill>
                <a:latin typeface="Calibri" pitchFamily="34" charset="0"/>
                <a:ea typeface="Calibri" pitchFamily="34" charset="-122"/>
                <a:cs typeface="Calibri" pitchFamily="34" charset="-120"/>
              </a:rPr>
              <a:t>Attend Q&amp;A: Bring questions and feedback to next Wednesday's session</a:t>
            </a:r>
            <a:endParaRPr lang="en-US" sz="1800" dirty="0"/>
          </a:p>
        </p:txBody>
      </p:sp>
      <p:sp>
        <p:nvSpPr>
          <p:cNvPr id="16" name="Text 14"/>
          <p:cNvSpPr/>
          <p:nvPr/>
        </p:nvSpPr>
        <p:spPr>
          <a:xfrm>
            <a:off x="2112400" y="4503420"/>
            <a:ext cx="4677155" cy="640080"/>
          </a:xfrm>
          <a:prstGeom prst="rect">
            <a:avLst/>
          </a:prstGeom>
          <a:noFill/>
          <a:ln/>
        </p:spPr>
        <p:txBody>
          <a:bodyPr wrap="square"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This is live. Use it on your next intake.</a:t>
            </a:r>
            <a:endParaRPr lang="en-US" sz="2000" dirty="0">
              <a:solidFill>
                <a:schemeClr val="bg1"/>
              </a:solidFill>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4175</TotalTime>
  <Words>1528</Words>
  <Application>Microsoft Macintosh PowerPoint</Application>
  <PresentationFormat>On-screen Show (16:9)</PresentationFormat>
  <Paragraphs>119</Paragraphs>
  <Slides>29</Slides>
  <Notes>22</Notes>
  <HiddenSlides>19</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Gill Sans MT</vt:lpstr>
      <vt:lpstr>Gallery</vt:lpstr>
      <vt:lpstr>PowerPoint Presentation</vt:lpstr>
      <vt:lpstr>PowerPoint Presentation</vt:lpstr>
      <vt:lpstr>PowerPoint Presentation</vt:lpstr>
      <vt:lpstr>Covered Practice Areas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Bernhardt Riley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Harvey AI: Legal Document Analysis Portal</dc:title>
  <dc:subject>Harvey AI Attorney Adoption</dc:subject>
  <dc:creator>Bernhardt Riley</dc:creator>
  <cp:lastModifiedBy>Franklin Riley</cp:lastModifiedBy>
  <cp:revision>9</cp:revision>
  <dcterms:created xsi:type="dcterms:W3CDTF">2026-01-23T17:15:23Z</dcterms:created>
  <dcterms:modified xsi:type="dcterms:W3CDTF">2026-01-26T14:53:47Z</dcterms:modified>
</cp:coreProperties>
</file>