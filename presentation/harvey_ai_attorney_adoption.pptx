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02" r:id="rId1"/>
  </p:sldMasterIdLst>
  <p:notesMasterIdLst>
    <p:notesMasterId r:id="rId24"/>
  </p:notesMasterIdLst>
  <p:sldIdLst>
    <p:sldId id="256" r:id="rId2"/>
    <p:sldId id="257" r:id="rId3"/>
    <p:sldId id="258" r:id="rId4"/>
    <p:sldId id="259" r:id="rId5"/>
    <p:sldId id="281" r:id="rId6"/>
    <p:sldId id="266" r:id="rId7"/>
    <p:sldId id="267" r:id="rId8"/>
    <p:sldId id="274" r:id="rId9"/>
    <p:sldId id="282" r:id="rId10"/>
    <p:sldId id="275" r:id="rId11"/>
    <p:sldId id="276" r:id="rId12"/>
    <p:sldId id="277" r:id="rId13"/>
    <p:sldId id="278" r:id="rId14"/>
    <p:sldId id="279" r:id="rId15"/>
    <p:sldId id="283" r:id="rId16"/>
    <p:sldId id="280" r:id="rId17"/>
    <p:sldId id="260" r:id="rId18"/>
    <p:sldId id="261" r:id="rId19"/>
    <p:sldId id="262" r:id="rId20"/>
    <p:sldId id="263" r:id="rId21"/>
    <p:sldId id="264" r:id="rId22"/>
    <p:sldId id="265" r:id="rId23"/>
  </p:sldIdLst>
  <p:sldSz cx="9144000" cy="5143500" type="screen16x9"/>
  <p:notesSz cx="51435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127"/>
    <p:restoredTop sz="94610"/>
  </p:normalViewPr>
  <p:slideViewPr>
    <p:cSldViewPr snapToGrid="0" snapToObjects="1">
      <p:cViewPr>
        <p:scale>
          <a:sx n="180" d="100"/>
          <a:sy n="180" d="100"/>
        </p:scale>
        <p:origin x="0" y="1104"/>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083301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not a prototype or a beta test. This is production-ready software (Version 3.1.0) deployed live today to accelerate your document review and drafting process.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solving for the bottleneck in case intake. The goal is to remove the "busywork" of reading 50 pages just to understand the basic timeline, allowing you to focus on strategy immediately.</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of this tool as a tireless junior associate. It handles the initial review and drafting, giving you an 80% complete draft. You remain responsible for the final review and approval.</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workflow is designed to be simple. There is no complex manual to study. You can run your first analysis in less than 5 minutes.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514350" y="4400550"/>
            <a:ext cx="4114800" cy="3600450"/>
          </a:xfrm>
          <a:prstGeom prst="rect">
            <a:avLst/>
          </a:prstGeom>
        </p:spPr>
        <p:txBody>
          <a:bodyPr/>
          <a:lstStyle/>
          <a:p>
            <a:r>
              <a:rPr lang="en-US" dirty="0"/>
              <a:t>This is your dashboard, it shows all recent cases, and allows you to create a new case.</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To start you want to make sure to connect to Clio by clicking the </a:t>
            </a:r>
            <a:r>
              <a:rPr lang="en-US" dirty="0" err="1"/>
              <a:t>Cio</a:t>
            </a:r>
            <a:r>
              <a:rPr lang="en-US" dirty="0"/>
              <a:t> button on the top right of the screen.  Once it is lit green, that indicates that it is connected.  Then you can click the "New Case" button.</a:t>
            </a:r>
          </a:p>
          <a:p>
            <a:endParaRPr lang="en-US" dirty="0"/>
          </a:p>
        </p:txBody>
      </p:sp>
    </p:spTree>
    <p:extLst>
      <p:ext uri="{BB962C8B-B14F-4D97-AF65-F5344CB8AC3E}">
        <p14:creationId xmlns:p14="http://schemas.microsoft.com/office/powerpoint/2010/main" val="348493939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514350" y="4400550"/>
            <a:ext cx="4114800" cy="3600450"/>
          </a:xfrm>
          <a:prstGeom prst="rect">
            <a:avLst/>
          </a:prstGeom>
        </p:spPr>
        <p:txBody>
          <a:bodyPr/>
          <a:lstStyle/>
          <a:p>
            <a:r>
              <a:rPr lang="en-US" dirty="0"/>
              <a:t>Here you can type the name of the client and it will search Clio for that case.  Find it on the bottom (some clients may have multiple cases) and then click "Create Case".</a:t>
            </a:r>
          </a:p>
        </p:txBody>
      </p:sp>
    </p:spTree>
    <p:extLst>
      <p:ext uri="{BB962C8B-B14F-4D97-AF65-F5344CB8AC3E}">
        <p14:creationId xmlns:p14="http://schemas.microsoft.com/office/powerpoint/2010/main" val="184251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514350" y="4400550"/>
            <a:ext cx="4114800" cy="3600450"/>
          </a:xfrm>
          <a:prstGeom prst="rect">
            <a:avLst/>
          </a:prstGeom>
        </p:spPr>
        <p:txBody>
          <a:bodyPr/>
          <a:lstStyle/>
          <a:p>
            <a:r>
              <a:rPr lang="en-US" dirty="0"/>
              <a:t>You'll get a confirmation - click ok - and then it will begin importing the documents from Clio.  There are some things here to note. </a:t>
            </a:r>
            <a:br>
              <a:rPr lang="en-US" dirty="0"/>
            </a:br>
            <a:endParaRPr lang="en-US" dirty="0"/>
          </a:p>
          <a:p>
            <a:r>
              <a:rPr lang="en-US" dirty="0"/>
              <a:t>Once complete it will let you know if there were any documents that didn't load - mainly because they are very large.  In the case that this happens, you may need to use. </a:t>
            </a:r>
            <a:r>
              <a:rPr lang="en-US" dirty="0" err="1"/>
              <a:t>seperate</a:t>
            </a:r>
            <a:r>
              <a:rPr lang="en-US" dirty="0"/>
              <a:t> tool to compress the pdf and you can manually upload it on a later screen.</a:t>
            </a:r>
          </a:p>
        </p:txBody>
      </p:sp>
    </p:spTree>
    <p:extLst>
      <p:ext uri="{BB962C8B-B14F-4D97-AF65-F5344CB8AC3E}">
        <p14:creationId xmlns:p14="http://schemas.microsoft.com/office/powerpoint/2010/main" val="272378172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514350" y="4400550"/>
            <a:ext cx="4114800" cy="3600450"/>
          </a:xfrm>
          <a:prstGeom prst="rect">
            <a:avLst/>
          </a:prstGeom>
        </p:spPr>
        <p:txBody>
          <a:bodyPr/>
          <a:lstStyle/>
          <a:p>
            <a:r>
              <a:rPr lang="en-US" dirty="0"/>
              <a:t>Once complete you will be brought the the overview screen, here you can review the Overview and Documents for relevant information and understanding. The next step in the process is the Verification Page.</a:t>
            </a:r>
          </a:p>
          <a:p>
            <a:endParaRPr lang="en-US" dirty="0"/>
          </a:p>
          <a:p>
            <a:r>
              <a:rPr lang="en-US" dirty="0"/>
              <a:t>Here you will get a summary of the documents that were imported, it's important to review and make sure that they are all extracted.  </a:t>
            </a:r>
          </a:p>
          <a:p>
            <a:endParaRPr lang="en-US" dirty="0"/>
          </a:p>
          <a:p>
            <a:r>
              <a:rPr lang="en-US" dirty="0"/>
              <a:t>You will want to review and remove any unneeded documents</a:t>
            </a:r>
          </a:p>
          <a:p>
            <a:endParaRPr lang="en-US" dirty="0"/>
          </a:p>
          <a:p>
            <a:r>
              <a:rPr lang="en-US" dirty="0"/>
              <a:t>For some items that were not extracted originally, you will need to click the "Run OCR on ## Docs" button - this will use a special Google Vision API to extract the text from the remaining docs.  </a:t>
            </a:r>
          </a:p>
        </p:txBody>
      </p:sp>
    </p:spTree>
    <p:extLst>
      <p:ext uri="{BB962C8B-B14F-4D97-AF65-F5344CB8AC3E}">
        <p14:creationId xmlns:p14="http://schemas.microsoft.com/office/powerpoint/2010/main" val="273022784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514350" y="4400550"/>
            <a:ext cx="4114800" cy="3600450"/>
          </a:xfrm>
          <a:prstGeom prst="rect">
            <a:avLst/>
          </a:prstGeom>
        </p:spPr>
        <p:txBody>
          <a:bodyPr/>
          <a:lstStyle/>
          <a:p>
            <a:r>
              <a:rPr lang="en-US" dirty="0"/>
              <a:t>This is to show the documents that weren't extracted correctly.</a:t>
            </a:r>
          </a:p>
          <a:p>
            <a:endParaRPr lang="en-US" dirty="0"/>
          </a:p>
          <a:p>
            <a:r>
              <a:rPr lang="en-US" dirty="0"/>
              <a:t>Once you run the OCR, it will update to show 10/10 or so.  you can click View/Edit to see what was extracted.</a:t>
            </a:r>
          </a:p>
        </p:txBody>
      </p:sp>
    </p:spTree>
    <p:extLst>
      <p:ext uri="{BB962C8B-B14F-4D97-AF65-F5344CB8AC3E}">
        <p14:creationId xmlns:p14="http://schemas.microsoft.com/office/powerpoint/2010/main" val="183496041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514350" y="4400550"/>
            <a:ext cx="4114800" cy="3600450"/>
          </a:xfrm>
          <a:prstGeom prst="rect">
            <a:avLst/>
          </a:prstGeom>
        </p:spPr>
        <p:txBody>
          <a:bodyPr/>
          <a:lstStyle/>
          <a:p>
            <a:r>
              <a:rPr lang="en-US" dirty="0"/>
              <a:t>This is an example of the extracted text view.</a:t>
            </a:r>
          </a:p>
        </p:txBody>
      </p:sp>
    </p:spTree>
    <p:extLst>
      <p:ext uri="{BB962C8B-B14F-4D97-AF65-F5344CB8AC3E}">
        <p14:creationId xmlns:p14="http://schemas.microsoft.com/office/powerpoint/2010/main" val="127280265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514350" y="4400550"/>
            <a:ext cx="4114800" cy="3600450"/>
          </a:xfrm>
          <a:prstGeom prst="rect">
            <a:avLst/>
          </a:prstGeom>
        </p:spPr>
        <p:txBody>
          <a:bodyPr/>
          <a:lstStyle/>
          <a:p>
            <a:r>
              <a:rPr lang="en-US" dirty="0"/>
              <a:t>Next we click on </a:t>
            </a:r>
            <a:r>
              <a:rPr lang="en-US" dirty="0" err="1"/>
              <a:t>Anlaysis</a:t>
            </a:r>
            <a:r>
              <a:rPr lang="en-US" dirty="0"/>
              <a:t>, and click start analysis button.</a:t>
            </a:r>
          </a:p>
          <a:p>
            <a:endParaRPr lang="en-US" dirty="0"/>
          </a:p>
          <a:p>
            <a:r>
              <a:rPr lang="en-US" dirty="0"/>
              <a:t>You'll see a loading screen like this.</a:t>
            </a:r>
          </a:p>
          <a:p>
            <a:endParaRPr lang="en-US" dirty="0"/>
          </a:p>
        </p:txBody>
      </p:sp>
    </p:spTree>
    <p:extLst>
      <p:ext uri="{BB962C8B-B14F-4D97-AF65-F5344CB8AC3E}">
        <p14:creationId xmlns:p14="http://schemas.microsoft.com/office/powerpoint/2010/main" val="144638707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514350" y="4400550"/>
            <a:ext cx="4114800" cy="3600450"/>
          </a:xfrm>
          <a:prstGeom prst="rect">
            <a:avLst/>
          </a:prstGeom>
        </p:spPr>
        <p:txBody>
          <a:bodyPr/>
          <a:lstStyle/>
          <a:p>
            <a:r>
              <a:rPr lang="en-US" dirty="0"/>
              <a:t>Once it starts to load, text will begin to stream live.  This is the actual analysis.  It will complete by itself and then you click - "View Analysis"</a:t>
            </a:r>
          </a:p>
          <a:p>
            <a:endParaRPr lang="en-US" dirty="0"/>
          </a:p>
        </p:txBody>
      </p:sp>
    </p:spTree>
    <p:extLst>
      <p:ext uri="{BB962C8B-B14F-4D97-AF65-F5344CB8AC3E}">
        <p14:creationId xmlns:p14="http://schemas.microsoft.com/office/powerpoint/2010/main" val="8452210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514350" y="4400550"/>
            <a:ext cx="4114800" cy="3600450"/>
          </a:xfrm>
          <a:prstGeom prst="rect">
            <a:avLst/>
          </a:prstGeom>
        </p:spPr>
        <p:txBody>
          <a:bodyPr/>
          <a:lstStyle/>
          <a:p>
            <a:r>
              <a:rPr lang="en-US" dirty="0"/>
              <a:t>These are the Analysis Results.  From here you can view a variety of things - Case Analysis, Full Analysis (which is the full streaming document on the previous screen)</a:t>
            </a:r>
          </a:p>
          <a:p>
            <a:r>
              <a:rPr lang="en-US" dirty="0"/>
              <a:t>Document review</a:t>
            </a:r>
          </a:p>
          <a:p>
            <a:r>
              <a:rPr lang="en-US" dirty="0"/>
              <a:t>and Generate Letters is where we'll go next.</a:t>
            </a:r>
          </a:p>
          <a:p>
            <a:endParaRPr lang="en-US" dirty="0"/>
          </a:p>
        </p:txBody>
      </p:sp>
    </p:spTree>
    <p:extLst>
      <p:ext uri="{BB962C8B-B14F-4D97-AF65-F5344CB8AC3E}">
        <p14:creationId xmlns:p14="http://schemas.microsoft.com/office/powerpoint/2010/main" val="4071885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514350" y="4400550"/>
            <a:ext cx="4114800" cy="3600450"/>
          </a:xfrm>
          <a:prstGeom prst="rect">
            <a:avLst/>
          </a:prstGeom>
        </p:spPr>
        <p:txBody>
          <a:bodyPr/>
          <a:lstStyle/>
          <a:p>
            <a:r>
              <a:rPr lang="en-US" dirty="0"/>
              <a:t>On this page, you would simply click Generate Letter, and it will begin to generate.  They can be a bit wordy, we will refine that later, but for now, it's better to have more to work with than not enough.  If need be you can copy this letter and ask Chat to make it more concise or whatever you need..</a:t>
            </a:r>
          </a:p>
        </p:txBody>
      </p:sp>
    </p:spTree>
    <p:extLst>
      <p:ext uri="{BB962C8B-B14F-4D97-AF65-F5344CB8AC3E}">
        <p14:creationId xmlns:p14="http://schemas.microsoft.com/office/powerpoint/2010/main" val="399362641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514350" y="4400550"/>
            <a:ext cx="4114800" cy="3600450"/>
          </a:xfrm>
          <a:prstGeom prst="rect">
            <a:avLst/>
          </a:prstGeom>
        </p:spPr>
        <p:txBody>
          <a:bodyPr/>
          <a:lstStyle/>
          <a:p>
            <a:r>
              <a:rPr lang="en-US" dirty="0"/>
              <a:t>Below the Findings Letter Section is a demand letter section, here you can select the opposing party you want to direct the letter to, and then press calculate to update the demand amount based on the case analysis.  And the update Specific Demands and response deadline as needed- then click Generate Letter to Party to have a demand letter generated.</a:t>
            </a:r>
          </a:p>
        </p:txBody>
      </p:sp>
    </p:spTree>
    <p:extLst>
      <p:ext uri="{BB962C8B-B14F-4D97-AF65-F5344CB8AC3E}">
        <p14:creationId xmlns:p14="http://schemas.microsoft.com/office/powerpoint/2010/main" val="17201565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514350" y="4400550"/>
            <a:ext cx="4114800" cy="3600450"/>
          </a:xfrm>
          <a:prstGeom prst="rect">
            <a:avLst/>
          </a:prstGeom>
        </p:spPr>
        <p:txBody>
          <a:bodyPr/>
          <a:lstStyle/>
          <a:p>
            <a:r>
              <a:rPr lang="en-US" dirty="0"/>
              <a:t>I've also added a Case Chat assistant that has complete context of the case documents and case analysis. You can ask it any question.  You can use this to compress your generated findings letter by pasting it in and asking it to compress it.  It can also answer any questions about the case.</a:t>
            </a:r>
          </a:p>
        </p:txBody>
      </p:sp>
    </p:spTree>
    <p:extLst>
      <p:ext uri="{BB962C8B-B14F-4D97-AF65-F5344CB8AC3E}">
        <p14:creationId xmlns:p14="http://schemas.microsoft.com/office/powerpoint/2010/main" val="182845027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best results, upload core documents first: intake forms, police reports, contracts, and key correspondence. The system handles files up to 50MB each.</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critical feature for trust. You do not have to guess where a fact came from. You can audit the AI's work by clicking the citations.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system prevents the AI from inventing laws. However, it cannot replace your judgment on whether a law is appropriate for the case strategy. You are the final decision-maker.</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use this for federal cases or criminal law. The legal validation corpus does not cover those areas, and results will be unreliable.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expect every attorney to log in and create a test case this week. Success is defined by using this on real client matters to reduce your intake time.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system is live. Please log in after this meeting and try it out. Trust the system to handle the reading, but verify the output before you send it.</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813335" y="601724"/>
            <a:ext cx="6477805" cy="1906073"/>
          </a:xfrm>
        </p:spPr>
        <p:txBody>
          <a:bodyPr bIns="0" anchor="b">
            <a:normAutofit/>
          </a:bodyPr>
          <a:lstStyle>
            <a:lvl1pPr algn="l">
              <a:defRPr sz="4950"/>
            </a:lvl1pPr>
          </a:lstStyle>
          <a:p>
            <a:r>
              <a:rPr lang="en-US"/>
              <a:t>Click to edit Master title style</a:t>
            </a:r>
            <a:endParaRPr lang="en-US" dirty="0"/>
          </a:p>
        </p:txBody>
      </p:sp>
      <p:sp>
        <p:nvSpPr>
          <p:cNvPr id="3" name="Subtitle 2"/>
          <p:cNvSpPr>
            <a:spLocks noGrp="1"/>
          </p:cNvSpPr>
          <p:nvPr>
            <p:ph type="subTitle" idx="1"/>
          </p:nvPr>
        </p:nvSpPr>
        <p:spPr>
          <a:xfrm>
            <a:off x="1813335" y="2648403"/>
            <a:ext cx="6477804" cy="733216"/>
          </a:xfrm>
        </p:spPr>
        <p:txBody>
          <a:bodyPr tIns="91440" bIns="91440">
            <a:normAutofit/>
          </a:bodyPr>
          <a:lstStyle>
            <a:lvl1pPr marL="0" indent="0" algn="l">
              <a:buNone/>
              <a:defRPr sz="1350" b="0" cap="all" baseline="0">
                <a:solidFill>
                  <a:schemeClr val="tx1"/>
                </a:solidFill>
              </a:defRPr>
            </a:lvl1pPr>
            <a:lvl2pPr marL="342900" indent="0" algn="ctr">
              <a:buNone/>
              <a:defRPr sz="135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1/23/26</a:t>
            </a:fld>
            <a:endParaRPr lang="en-US" dirty="0"/>
          </a:p>
        </p:txBody>
      </p:sp>
      <p:sp>
        <p:nvSpPr>
          <p:cNvPr id="5" name="Footer Placeholder 4"/>
          <p:cNvSpPr>
            <a:spLocks noGrp="1"/>
          </p:cNvSpPr>
          <p:nvPr>
            <p:ph type="ftr" sz="quarter" idx="11"/>
          </p:nvPr>
        </p:nvSpPr>
        <p:spPr>
          <a:xfrm>
            <a:off x="1812376" y="246981"/>
            <a:ext cx="3730436" cy="231901"/>
          </a:xfrm>
        </p:spPr>
        <p:txBody>
          <a:bodyPr/>
          <a:lstStyle/>
          <a:p>
            <a:endParaRPr lang="en-US" dirty="0"/>
          </a:p>
        </p:txBody>
      </p:sp>
      <p:sp>
        <p:nvSpPr>
          <p:cNvPr id="6" name="Slide Number Placeholder 5"/>
          <p:cNvSpPr>
            <a:spLocks noGrp="1"/>
          </p:cNvSpPr>
          <p:nvPr>
            <p:ph type="sldNum" sz="quarter" idx="12"/>
          </p:nvPr>
        </p:nvSpPr>
        <p:spPr>
          <a:xfrm>
            <a:off x="1078249" y="599230"/>
            <a:ext cx="608264" cy="377684"/>
          </a:xfrm>
        </p:spPr>
        <p:txBody>
          <a:bodyPr/>
          <a:lstStyle/>
          <a:p>
            <a:fld id="{6D22F896-40B5-4ADD-8801-0D06FADFA095}" type="slidenum">
              <a:rPr lang="en-US" smtClean="0"/>
              <a:t>‹#›</a:t>
            </a:fld>
            <a:endParaRPr lang="en-US" dirty="0"/>
          </a:p>
        </p:txBody>
      </p:sp>
      <p:cxnSp>
        <p:nvCxnSpPr>
          <p:cNvPr id="15" name="Straight Connector 14"/>
          <p:cNvCxnSpPr/>
          <p:nvPr/>
        </p:nvCxnSpPr>
        <p:spPr>
          <a:xfrm>
            <a:off x="1813335" y="2646407"/>
            <a:ext cx="6477804"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246860576"/>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1/23/26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cxnSp>
        <p:nvCxnSpPr>
          <p:cNvPr id="33" name="Straight Connector 32"/>
          <p:cNvCxnSpPr/>
          <p:nvPr/>
        </p:nvCxnSpPr>
        <p:spPr>
          <a:xfrm>
            <a:off x="1090422" y="1385316"/>
            <a:ext cx="720564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903693927"/>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090679" y="1317097"/>
            <a:ext cx="6482366" cy="1415963"/>
          </a:xfrm>
        </p:spPr>
        <p:txBody>
          <a:bodyPr anchor="b">
            <a:normAutofit/>
          </a:bodyPr>
          <a:lstStyle>
            <a:lvl1pPr algn="l">
              <a:defRPr sz="2700"/>
            </a:lvl1pPr>
          </a:lstStyle>
          <a:p>
            <a:r>
              <a:rPr lang="en-US"/>
              <a:t>Click to edit Master title style</a:t>
            </a:r>
            <a:endParaRPr lang="en-US" dirty="0"/>
          </a:p>
        </p:txBody>
      </p:sp>
      <p:sp>
        <p:nvSpPr>
          <p:cNvPr id="3" name="Text Placeholder 2"/>
          <p:cNvSpPr>
            <a:spLocks noGrp="1"/>
          </p:cNvSpPr>
          <p:nvPr>
            <p:ph type="body" idx="1"/>
          </p:nvPr>
        </p:nvSpPr>
        <p:spPr>
          <a:xfrm>
            <a:off x="1090679" y="2854647"/>
            <a:ext cx="6472835" cy="759697"/>
          </a:xfrm>
        </p:spPr>
        <p:txBody>
          <a:bodyPr tIns="91440">
            <a:normAutofit/>
          </a:bodyPr>
          <a:lstStyle>
            <a:lvl1pPr marL="0" indent="0" algn="l">
              <a:buNone/>
              <a:defRPr sz="1350">
                <a:solidFill>
                  <a:schemeClr val="tx1"/>
                </a:solidFill>
              </a:defRPr>
            </a:lvl1pPr>
            <a:lvl2pPr marL="342900" indent="0">
              <a:buNone/>
              <a:defRPr sz="135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t>1/23/26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cxnSp>
        <p:nvCxnSpPr>
          <p:cNvPr id="15" name="Straight Connector 14"/>
          <p:cNvCxnSpPr/>
          <p:nvPr/>
        </p:nvCxnSpPr>
        <p:spPr>
          <a:xfrm>
            <a:off x="1090679" y="2853739"/>
            <a:ext cx="6472835"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696373444"/>
      </p:ext>
    </p:extLst>
  </p:cSld>
  <p:clrMapOvr>
    <a:masterClrMapping/>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086913" y="603667"/>
            <a:ext cx="7204226" cy="794479"/>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85498" y="1508159"/>
            <a:ext cx="3483864" cy="258644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810328" y="1513007"/>
            <a:ext cx="3483864" cy="258114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smtClean="0"/>
              <a:t>1/23/26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cxnSp>
        <p:nvCxnSpPr>
          <p:cNvPr id="35" name="Straight Connector 34"/>
          <p:cNvCxnSpPr/>
          <p:nvPr/>
        </p:nvCxnSpPr>
        <p:spPr>
          <a:xfrm>
            <a:off x="1090422" y="1385316"/>
            <a:ext cx="720564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657336125"/>
      </p:ext>
    </p:extLst>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085394" y="603123"/>
            <a:ext cx="7205746" cy="792239"/>
          </a:xfrm>
        </p:spPr>
        <p:txBody>
          <a:bodyPr/>
          <a:lstStyle/>
          <a:p>
            <a:r>
              <a:rPr lang="en-US"/>
              <a:t>Click to edit Master title style</a:t>
            </a:r>
            <a:endParaRPr lang="en-US" dirty="0"/>
          </a:p>
        </p:txBody>
      </p:sp>
      <p:sp>
        <p:nvSpPr>
          <p:cNvPr id="3" name="Text Placeholder 2"/>
          <p:cNvSpPr>
            <a:spLocks noGrp="1"/>
          </p:cNvSpPr>
          <p:nvPr>
            <p:ph type="body" idx="1"/>
          </p:nvPr>
        </p:nvSpPr>
        <p:spPr>
          <a:xfrm>
            <a:off x="1085393" y="1514662"/>
            <a:ext cx="3483864" cy="601457"/>
          </a:xfrm>
        </p:spPr>
        <p:txBody>
          <a:bodyPr anchor="b">
            <a:normAutofit/>
          </a:bodyPr>
          <a:lstStyle>
            <a:lvl1pPr marL="0" indent="0">
              <a:lnSpc>
                <a:spcPct val="100000"/>
              </a:lnSpc>
              <a:buNone/>
              <a:defRPr sz="1650" b="0" cap="all" baseline="0">
                <a:solidFill>
                  <a:schemeClr val="accent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1085393" y="2118202"/>
            <a:ext cx="3483864" cy="198334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809272" y="1517253"/>
            <a:ext cx="3483864" cy="601678"/>
          </a:xfrm>
        </p:spPr>
        <p:txBody>
          <a:bodyPr anchor="b">
            <a:normAutofit/>
          </a:bodyPr>
          <a:lstStyle>
            <a:lvl1pPr marL="0" indent="0">
              <a:lnSpc>
                <a:spcPct val="100000"/>
              </a:lnSpc>
              <a:buNone/>
              <a:defRPr sz="1650" b="0" cap="all" baseline="0">
                <a:solidFill>
                  <a:schemeClr val="accent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809272" y="2116119"/>
            <a:ext cx="3483864" cy="19780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smtClean="0"/>
              <a:pPr/>
              <a:t>1/23/26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smtClean="0"/>
              <a:pPr/>
              <a:t>‹#›</a:t>
            </a:fld>
            <a:endParaRPr lang="en-US" dirty="0"/>
          </a:p>
        </p:txBody>
      </p:sp>
      <p:cxnSp>
        <p:nvCxnSpPr>
          <p:cNvPr id="29" name="Straight Connector 28"/>
          <p:cNvCxnSpPr/>
          <p:nvPr/>
        </p:nvCxnSpPr>
        <p:spPr>
          <a:xfrm>
            <a:off x="1090422" y="1385316"/>
            <a:ext cx="720564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842030779"/>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smtClean="0"/>
              <a:t>1/23/26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t>‹#›</a:t>
            </a:fld>
            <a:endParaRPr lang="en-US" dirty="0"/>
          </a:p>
        </p:txBody>
      </p:sp>
      <p:cxnSp>
        <p:nvCxnSpPr>
          <p:cNvPr id="25" name="Straight Connector 24"/>
          <p:cNvCxnSpPr/>
          <p:nvPr/>
        </p:nvCxnSpPr>
        <p:spPr>
          <a:xfrm>
            <a:off x="1090422" y="1385316"/>
            <a:ext cx="720564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361566262"/>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smtClean="0"/>
              <a:t>1/23/26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916915770"/>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083504" y="599230"/>
            <a:ext cx="2454824" cy="1685338"/>
          </a:xfrm>
        </p:spPr>
        <p:txBody>
          <a:bodyPr anchor="b">
            <a:normAutofit/>
          </a:bodyPr>
          <a:lstStyle>
            <a:lvl1pPr algn="l">
              <a:defRPr sz="1800"/>
            </a:lvl1pPr>
          </a:lstStyle>
          <a:p>
            <a:r>
              <a:rPr lang="en-US"/>
              <a:t>Click to edit Master title style</a:t>
            </a:r>
            <a:endParaRPr lang="en-US" dirty="0"/>
          </a:p>
        </p:txBody>
      </p:sp>
      <p:sp>
        <p:nvSpPr>
          <p:cNvPr id="3" name="Content Placeholder 2"/>
          <p:cNvSpPr>
            <a:spLocks noGrp="1"/>
          </p:cNvSpPr>
          <p:nvPr>
            <p:ph idx="1"/>
          </p:nvPr>
        </p:nvSpPr>
        <p:spPr>
          <a:xfrm>
            <a:off x="3782785" y="599230"/>
            <a:ext cx="4509353" cy="3494120"/>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083503" y="2404119"/>
            <a:ext cx="2456260" cy="1686136"/>
          </a:xfrm>
        </p:spPr>
        <p:txBody>
          <a:bodyPr/>
          <a:lstStyle>
            <a:lvl1pPr marL="0" indent="0" algn="l">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1/23/26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cxnSp>
        <p:nvCxnSpPr>
          <p:cNvPr id="17" name="Straight Connector 16"/>
          <p:cNvCxnSpPr/>
          <p:nvPr/>
        </p:nvCxnSpPr>
        <p:spPr>
          <a:xfrm>
            <a:off x="1086210" y="2404118"/>
            <a:ext cx="2452118"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915521415"/>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grpSp>
        <p:nvGrpSpPr>
          <p:cNvPr id="8" name="Group 7"/>
          <p:cNvGrpSpPr/>
          <p:nvPr/>
        </p:nvGrpSpPr>
        <p:grpSpPr>
          <a:xfrm>
            <a:off x="5608041" y="361628"/>
            <a:ext cx="3055900" cy="3861826"/>
            <a:chOff x="7477387" y="482170"/>
            <a:chExt cx="4074533" cy="5149101"/>
          </a:xfrm>
        </p:grpSpPr>
        <p:sp>
          <p:nvSpPr>
            <p:cNvPr id="18" name="Rectangle 17"/>
            <p:cNvSpPr/>
            <p:nvPr/>
          </p:nvSpPr>
          <p:spPr bwMode="black">
            <a:xfrm>
              <a:off x="7477387" y="482170"/>
              <a:ext cx="4074533" cy="5149101"/>
            </a:xfrm>
            <a:prstGeom prst="rect">
              <a:avLst/>
            </a:prstGeom>
            <a:gradFill>
              <a:gsLst>
                <a:gs pos="0">
                  <a:srgbClr val="000001"/>
                </a:gs>
                <a:gs pos="100000">
                  <a:srgbClr val="191919"/>
                </a:gs>
              </a:gsLst>
            </a:gradFill>
            <a:ln w="76200" cmpd="sng">
              <a:noFill/>
              <a:miter lim="800000"/>
            </a:ln>
            <a:effectLst>
              <a:outerShdw blurRad="127000" dist="228600" dir="4740000" sx="98000" sy="98000" algn="tl" rotWithShape="0">
                <a:srgbClr val="000000">
                  <a:alpha val="34000"/>
                </a:srgbClr>
              </a:outerShdw>
            </a:effectLst>
            <a:scene3d>
              <a:camera prst="orthographicFront"/>
              <a:lightRig rig="threePt" dir="t"/>
            </a:scene3d>
            <a:sp3d>
              <a:bevelT w="152400" h="50800" prst="softRound"/>
            </a:sp3d>
          </p:spPr>
          <p:style>
            <a:lnRef idx="1">
              <a:schemeClr val="accent1"/>
            </a:lnRef>
            <a:fillRef idx="3">
              <a:schemeClr val="accent1"/>
            </a:fillRef>
            <a:effectRef idx="2">
              <a:schemeClr val="accent1"/>
            </a:effectRef>
            <a:fontRef idx="minor">
              <a:schemeClr val="lt1"/>
            </a:fontRef>
          </p:style>
        </p:sp>
        <p:sp>
          <p:nvSpPr>
            <p:cNvPr id="19" name="Rectangle 18"/>
            <p:cNvSpPr/>
            <p:nvPr/>
          </p:nvSpPr>
          <p:spPr bwMode="blackWhite">
            <a:xfrm>
              <a:off x="7790446" y="812506"/>
              <a:ext cx="3450289" cy="4466452"/>
            </a:xfrm>
            <a:prstGeom prst="rect">
              <a:avLst/>
            </a:prstGeom>
            <a:gradFill>
              <a:gsLst>
                <a:gs pos="0">
                  <a:srgbClr val="DADADA"/>
                </a:gs>
                <a:gs pos="100000">
                  <a:srgbClr val="FFFFFE"/>
                </a:gs>
              </a:gsLst>
              <a:lin ang="16200000" scaled="0"/>
            </a:gradFill>
            <a:ln w="50800" cmpd="sng">
              <a:solidFill>
                <a:srgbClr val="191919"/>
              </a:solidFill>
              <a:miter lim="800000"/>
            </a:ln>
            <a:effectLst>
              <a:innerShdw blurRad="63500" dist="88900" dir="14100000">
                <a:srgbClr val="000000">
                  <a:alpha val="30000"/>
                </a:srgbClr>
              </a:innerShdw>
            </a:effectLst>
            <a:scene3d>
              <a:camera prst="orthographicFront"/>
              <a:lightRig rig="threePt" dir="t"/>
            </a:scene3d>
            <a:sp3d>
              <a:bevelT prst="relaxedInset"/>
            </a:sp3d>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title"/>
          </p:nvPr>
        </p:nvSpPr>
        <p:spPr>
          <a:xfrm>
            <a:off x="1088405" y="847135"/>
            <a:ext cx="4149246" cy="1372938"/>
          </a:xfrm>
        </p:spPr>
        <p:txBody>
          <a:bodyPr anchor="b">
            <a:normAutofit/>
          </a:bodyPr>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6093292" y="841907"/>
            <a:ext cx="2093378" cy="2899745"/>
          </a:xfrm>
          <a:solidFill>
            <a:schemeClr val="bg1">
              <a:lumMod val="85000"/>
            </a:schemeClr>
          </a:solidFill>
          <a:ln w="9525" cap="sq">
            <a:noFill/>
            <a:miter lim="800000"/>
          </a:ln>
          <a:effectLst/>
        </p:spPr>
        <p:txBody>
          <a:bodyPr anchor="t"/>
          <a:lstStyle>
            <a:lvl1pPr marL="0" indent="0" algn="ctr">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endParaRPr lang="en-US" dirty="0"/>
          </a:p>
        </p:txBody>
      </p:sp>
      <p:sp>
        <p:nvSpPr>
          <p:cNvPr id="4" name="Text Placeholder 3"/>
          <p:cNvSpPr>
            <a:spLocks noGrp="1"/>
          </p:cNvSpPr>
          <p:nvPr>
            <p:ph type="body" sz="half" idx="2"/>
          </p:nvPr>
        </p:nvSpPr>
        <p:spPr>
          <a:xfrm>
            <a:off x="1087747" y="2359494"/>
            <a:ext cx="4143303" cy="1502807"/>
          </a:xfrm>
        </p:spPr>
        <p:txBody>
          <a:bodyPr>
            <a:normAutofit/>
          </a:bodyPr>
          <a:lstStyle>
            <a:lvl1pPr marL="0" indent="0" algn="l">
              <a:buNone/>
              <a:defRPr sz="135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a:xfrm>
            <a:off x="1085537" y="4102393"/>
            <a:ext cx="4145513" cy="240092"/>
          </a:xfrm>
        </p:spPr>
        <p:txBody>
          <a:bodyPr/>
          <a:lstStyle>
            <a:lvl1pPr algn="l">
              <a:defRPr/>
            </a:lvl1pPr>
          </a:lstStyle>
          <a:p>
            <a:fld id="{48A87A34-81AB-432B-8DAE-1953F412C126}" type="datetimeFigureOut">
              <a:rPr lang="en-US" smtClean="0"/>
              <a:pPr/>
              <a:t>1/23/26</a:t>
            </a:fld>
            <a:endParaRPr lang="en-US" dirty="0"/>
          </a:p>
        </p:txBody>
      </p:sp>
      <p:sp>
        <p:nvSpPr>
          <p:cNvPr id="6" name="Footer Placeholder 5"/>
          <p:cNvSpPr>
            <a:spLocks noGrp="1"/>
          </p:cNvSpPr>
          <p:nvPr>
            <p:ph type="ftr" sz="quarter" idx="11"/>
          </p:nvPr>
        </p:nvSpPr>
        <p:spPr>
          <a:xfrm>
            <a:off x="1085537" y="238981"/>
            <a:ext cx="4155753" cy="240698"/>
          </a:xfrm>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cxnSp>
        <p:nvCxnSpPr>
          <p:cNvPr id="31" name="Straight Connector 30"/>
          <p:cNvCxnSpPr/>
          <p:nvPr/>
        </p:nvCxnSpPr>
        <p:spPr>
          <a:xfrm>
            <a:off x="1085537" y="2357704"/>
            <a:ext cx="4145513"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839998426"/>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1/23/26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cxnSp>
        <p:nvCxnSpPr>
          <p:cNvPr id="26" name="Straight Connector 25"/>
          <p:cNvCxnSpPr/>
          <p:nvPr/>
        </p:nvCxnSpPr>
        <p:spPr>
          <a:xfrm>
            <a:off x="1090422" y="1385316"/>
            <a:ext cx="720564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833634260"/>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079333" y="599230"/>
            <a:ext cx="1211807" cy="3494917"/>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1083504" y="599230"/>
            <a:ext cx="5871623" cy="34949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1/23/26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cxnSp>
        <p:nvCxnSpPr>
          <p:cNvPr id="15" name="Straight Connector 14"/>
          <p:cNvCxnSpPr/>
          <p:nvPr/>
        </p:nvCxnSpPr>
        <p:spPr>
          <a:xfrm>
            <a:off x="7079333" y="599230"/>
            <a:ext cx="0" cy="3494917"/>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438125215"/>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561061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8" name="Rectangle 7"/>
          <p:cNvSpPr/>
          <p:nvPr/>
        </p:nvSpPr>
        <p:spPr>
          <a:xfrm>
            <a:off x="0" y="1514607"/>
            <a:ext cx="9144000" cy="3079456"/>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sp>
      <p:pic>
        <p:nvPicPr>
          <p:cNvPr id="7" name="Picture 6"/>
          <p:cNvPicPr>
            <a:picLocks noChangeAspect="1"/>
          </p:cNvPicPr>
          <p:nvPr/>
        </p:nvPicPr>
        <p:blipFill rotWithShape="1">
          <a:blip r:embed="rId14">
            <a:extLst>
              <a:ext uri="{28A0092B-C50C-407E-A947-70E740481C1C}">
                <a14:useLocalDpi xmlns:a14="http://schemas.microsoft.com/office/drawing/2010/main" val="0"/>
              </a:ext>
            </a:extLst>
          </a:blip>
          <a:srcRect t="1538" b="-1538"/>
          <a:stretch/>
        </p:blipFill>
        <p:spPr bwMode="black">
          <a:xfrm>
            <a:off x="0" y="4594860"/>
            <a:ext cx="9144000" cy="557213"/>
          </a:xfrm>
          <a:prstGeom prst="rect">
            <a:avLst/>
          </a:prstGeom>
        </p:spPr>
      </p:pic>
      <p:sp>
        <p:nvSpPr>
          <p:cNvPr id="2" name="Title Placeholder 1"/>
          <p:cNvSpPr>
            <a:spLocks noGrp="1"/>
          </p:cNvSpPr>
          <p:nvPr>
            <p:ph type="title"/>
          </p:nvPr>
        </p:nvSpPr>
        <p:spPr>
          <a:xfrm>
            <a:off x="1088685" y="603390"/>
            <a:ext cx="7202456" cy="786926"/>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1088685" y="1511799"/>
            <a:ext cx="7202456" cy="258796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665604" y="247778"/>
            <a:ext cx="2625536" cy="231901"/>
          </a:xfrm>
          <a:prstGeom prst="rect">
            <a:avLst/>
          </a:prstGeom>
        </p:spPr>
        <p:txBody>
          <a:bodyPr vert="horz" lIns="91440" tIns="45720" rIns="91440" bIns="45720" rtlCol="0" anchor="ctr"/>
          <a:lstStyle>
            <a:lvl1pPr algn="r">
              <a:defRPr sz="750">
                <a:solidFill>
                  <a:schemeClr val="tx1">
                    <a:tint val="75000"/>
                  </a:schemeClr>
                </a:solidFill>
              </a:defRPr>
            </a:lvl1pPr>
          </a:lstStyle>
          <a:p>
            <a:fld id="{48A87A34-81AB-432B-8DAE-1953F412C126}" type="datetimeFigureOut">
              <a:rPr lang="en-US" smtClean="0"/>
              <a:pPr/>
              <a:t>1/23/26</a:t>
            </a:fld>
            <a:endParaRPr lang="en-US" dirty="0"/>
          </a:p>
        </p:txBody>
      </p:sp>
      <p:sp>
        <p:nvSpPr>
          <p:cNvPr id="5" name="Footer Placeholder 4"/>
          <p:cNvSpPr>
            <a:spLocks noGrp="1"/>
          </p:cNvSpPr>
          <p:nvPr>
            <p:ph type="ftr" sz="quarter" idx="3"/>
          </p:nvPr>
        </p:nvSpPr>
        <p:spPr>
          <a:xfrm>
            <a:off x="1088684" y="246981"/>
            <a:ext cx="4454127" cy="231901"/>
          </a:xfrm>
          <a:prstGeom prst="rect">
            <a:avLst/>
          </a:prstGeom>
        </p:spPr>
        <p:txBody>
          <a:bodyPr vert="horz" lIns="91440" tIns="45720" rIns="91440" bIns="45720" rtlCol="0" anchor="ctr"/>
          <a:lstStyle>
            <a:lvl1pPr algn="l">
              <a:defRPr sz="75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360046" y="599230"/>
            <a:ext cx="608264" cy="377684"/>
          </a:xfrm>
          <a:prstGeom prst="rect">
            <a:avLst/>
          </a:prstGeom>
        </p:spPr>
        <p:txBody>
          <a:bodyPr vert="horz" lIns="91440" tIns="45720" rIns="91440" bIns="45720" rtlCol="0" anchor="t"/>
          <a:lstStyle>
            <a:lvl1pPr algn="r">
              <a:defRPr sz="2100">
                <a:solidFill>
                  <a:schemeClr val="accent1"/>
                </a:solidFill>
              </a:defRPr>
            </a:lvl1pPr>
          </a:lstStyle>
          <a:p>
            <a:fld id="{6D22F896-40B5-4ADD-8801-0D06FADFA095}" type="slidenum">
              <a:rPr lang="en-US" smtClean="0"/>
              <a:pPr/>
              <a:t>‹#›</a:t>
            </a:fld>
            <a:endParaRPr lang="en-US" dirty="0"/>
          </a:p>
        </p:txBody>
      </p:sp>
      <p:cxnSp>
        <p:nvCxnSpPr>
          <p:cNvPr id="10" name="Straight Connector 9"/>
          <p:cNvCxnSpPr/>
          <p:nvPr/>
        </p:nvCxnSpPr>
        <p:spPr>
          <a:xfrm>
            <a:off x="0" y="4596310"/>
            <a:ext cx="9144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53188034"/>
      </p:ext>
    </p:extLst>
  </p:cSld>
  <p:clrMap bg1="lt1" tx1="dk1" bg2="lt2" tx2="dk2" accent1="accent1" accent2="accent2" accent3="accent3" accent4="accent4" accent5="accent5" accent6="accent6" hlink="hlink" folHlink="folHlink"/>
  <p:sldLayoutIdLst>
    <p:sldLayoutId id="2147483703" r:id="rId1"/>
    <p:sldLayoutId id="2147483704" r:id="rId2"/>
    <p:sldLayoutId id="2147483705" r:id="rId3"/>
    <p:sldLayoutId id="2147483706" r:id="rId4"/>
    <p:sldLayoutId id="2147483707" r:id="rId5"/>
    <p:sldLayoutId id="2147483708" r:id="rId6"/>
    <p:sldLayoutId id="2147483709" r:id="rId7"/>
    <p:sldLayoutId id="2147483710" r:id="rId8"/>
    <p:sldLayoutId id="2147483711" r:id="rId9"/>
    <p:sldLayoutId id="2147483712" r:id="rId10"/>
    <p:sldLayoutId id="2147483713" r:id="rId11"/>
    <p:sldLayoutId id="2147483714" r:id="rId12"/>
  </p:sldLayoutIdLst>
  <p:hf sldNum="0" hdr="0" ftr="0" dt="0"/>
  <p:txStyles>
    <p:titleStyle>
      <a:lvl1pPr algn="l" defTabSz="685800" rtl="0" eaLnBrk="1" latinLnBrk="0" hangingPunct="1">
        <a:lnSpc>
          <a:spcPct val="90000"/>
        </a:lnSpc>
        <a:spcBef>
          <a:spcPct val="0"/>
        </a:spcBef>
        <a:buNone/>
        <a:defRPr sz="2400" b="0" i="0" kern="1200" cap="all">
          <a:solidFill>
            <a:schemeClr val="tx1"/>
          </a:solidFill>
          <a:effectLst/>
          <a:latin typeface="+mj-lt"/>
          <a:ea typeface="+mj-ea"/>
          <a:cs typeface="+mj-cs"/>
        </a:defRPr>
      </a:lvl1pPr>
    </p:titleStyle>
    <p:bodyStyle>
      <a:lvl1pPr marL="171450" indent="-171450" algn="l" defTabSz="685800" rtl="0" eaLnBrk="1" latinLnBrk="0" hangingPunct="1">
        <a:lnSpc>
          <a:spcPct val="120000"/>
        </a:lnSpc>
        <a:spcBef>
          <a:spcPts val="750"/>
        </a:spcBef>
        <a:buClr>
          <a:schemeClr val="accent1"/>
        </a:buClr>
        <a:buSzPct val="100000"/>
        <a:buFont typeface="Arial" panose="020B0604020202020204" pitchFamily="34" charset="0"/>
        <a:buChar char="•"/>
        <a:defRPr sz="1500" kern="1200">
          <a:solidFill>
            <a:schemeClr val="tx1"/>
          </a:solidFill>
          <a:effectLst/>
          <a:latin typeface="+mn-lt"/>
          <a:ea typeface="+mn-ea"/>
          <a:cs typeface="+mn-cs"/>
        </a:defRPr>
      </a:lvl1pPr>
      <a:lvl2pPr marL="514350" indent="-171450" algn="l" defTabSz="685800" rtl="0" eaLnBrk="1" latinLnBrk="0" hangingPunct="1">
        <a:lnSpc>
          <a:spcPct val="120000"/>
        </a:lnSpc>
        <a:spcBef>
          <a:spcPts val="375"/>
        </a:spcBef>
        <a:buClr>
          <a:schemeClr val="accent1"/>
        </a:buClr>
        <a:buSzPct val="100000"/>
        <a:buFont typeface="Arial" panose="020B0604020202020204" pitchFamily="34" charset="0"/>
        <a:buChar char="•"/>
        <a:defRPr sz="1350" kern="1200" cap="none" baseline="0">
          <a:solidFill>
            <a:schemeClr val="tx1"/>
          </a:solidFill>
          <a:effectLst/>
          <a:latin typeface="+mn-lt"/>
          <a:ea typeface="+mn-ea"/>
          <a:cs typeface="+mn-cs"/>
        </a:defRPr>
      </a:lvl2pPr>
      <a:lvl3pPr marL="857250" indent="-171450" algn="l" defTabSz="685800" rtl="0" eaLnBrk="1" latinLnBrk="0" hangingPunct="1">
        <a:lnSpc>
          <a:spcPct val="120000"/>
        </a:lnSpc>
        <a:spcBef>
          <a:spcPts val="375"/>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3pPr>
      <a:lvl4pPr marL="1200150" indent="-171450" algn="l" defTabSz="685800" rtl="0" eaLnBrk="1" latinLnBrk="0" hangingPunct="1">
        <a:lnSpc>
          <a:spcPct val="120000"/>
        </a:lnSpc>
        <a:spcBef>
          <a:spcPts val="375"/>
        </a:spcBef>
        <a:buClr>
          <a:schemeClr val="accent1"/>
        </a:buClr>
        <a:buSzPct val="100000"/>
        <a:buFont typeface="Arial" panose="020B0604020202020204" pitchFamily="34" charset="0"/>
        <a:buChar char="•"/>
        <a:defRPr sz="1050" kern="1200" cap="none" baseline="0">
          <a:solidFill>
            <a:schemeClr val="tx1"/>
          </a:solidFill>
          <a:effectLst/>
          <a:latin typeface="+mn-lt"/>
          <a:ea typeface="+mn-ea"/>
          <a:cs typeface="+mn-cs"/>
        </a:defRPr>
      </a:lvl4pPr>
      <a:lvl5pPr marL="1543050" indent="-171450" algn="l" defTabSz="685800" rtl="0" eaLnBrk="1" latinLnBrk="0" hangingPunct="1">
        <a:lnSpc>
          <a:spcPct val="120000"/>
        </a:lnSpc>
        <a:spcBef>
          <a:spcPts val="375"/>
        </a:spcBef>
        <a:buClr>
          <a:schemeClr val="accent1"/>
        </a:buClr>
        <a:buSzPct val="100000"/>
        <a:buFont typeface="Arial" panose="020B0604020202020204" pitchFamily="34" charset="0"/>
        <a:buChar char="•"/>
        <a:defRPr sz="900" kern="1200">
          <a:solidFill>
            <a:schemeClr val="tx1"/>
          </a:solidFill>
          <a:effectLst/>
          <a:latin typeface="+mn-lt"/>
          <a:ea typeface="+mn-ea"/>
          <a:cs typeface="+mn-cs"/>
        </a:defRPr>
      </a:lvl5pPr>
      <a:lvl6pPr marL="1885950" indent="-171450" algn="l" defTabSz="685800" rtl="0" eaLnBrk="1" latinLnBrk="0" hangingPunct="1">
        <a:lnSpc>
          <a:spcPct val="120000"/>
        </a:lnSpc>
        <a:spcBef>
          <a:spcPts val="375"/>
        </a:spcBef>
        <a:buClr>
          <a:schemeClr val="accent1"/>
        </a:buClr>
        <a:buSzPct val="100000"/>
        <a:buFont typeface="Arial" panose="020B0604020202020204" pitchFamily="34" charset="0"/>
        <a:buChar char="•"/>
        <a:defRPr sz="900" kern="1200">
          <a:solidFill>
            <a:schemeClr val="tx1"/>
          </a:solidFill>
          <a:effectLst/>
          <a:latin typeface="+mn-lt"/>
          <a:ea typeface="+mn-ea"/>
          <a:cs typeface="+mn-cs"/>
        </a:defRPr>
      </a:lvl6pPr>
      <a:lvl7pPr marL="2228850" indent="-171450" algn="l" defTabSz="685800" rtl="0" eaLnBrk="1" latinLnBrk="0" hangingPunct="1">
        <a:lnSpc>
          <a:spcPct val="120000"/>
        </a:lnSpc>
        <a:spcBef>
          <a:spcPts val="375"/>
        </a:spcBef>
        <a:buClr>
          <a:schemeClr val="accent1"/>
        </a:buClr>
        <a:buSzPct val="100000"/>
        <a:buFont typeface="Arial" panose="020B0604020202020204" pitchFamily="34" charset="0"/>
        <a:buChar char="•"/>
        <a:defRPr sz="900" kern="1200">
          <a:solidFill>
            <a:schemeClr val="tx1"/>
          </a:solidFill>
          <a:effectLst/>
          <a:latin typeface="+mn-lt"/>
          <a:ea typeface="+mn-ea"/>
          <a:cs typeface="+mn-cs"/>
        </a:defRPr>
      </a:lvl7pPr>
      <a:lvl8pPr marL="2571750" indent="-171450" algn="l" defTabSz="685800" rtl="0" eaLnBrk="1" latinLnBrk="0" hangingPunct="1">
        <a:lnSpc>
          <a:spcPct val="120000"/>
        </a:lnSpc>
        <a:spcBef>
          <a:spcPts val="375"/>
        </a:spcBef>
        <a:buClr>
          <a:schemeClr val="accent1"/>
        </a:buClr>
        <a:buSzPct val="100000"/>
        <a:buFont typeface="Arial" panose="020B0604020202020204" pitchFamily="34" charset="0"/>
        <a:buChar char="•"/>
        <a:defRPr sz="900" kern="1200" baseline="0">
          <a:solidFill>
            <a:schemeClr val="tx1"/>
          </a:solidFill>
          <a:effectLst/>
          <a:latin typeface="+mn-lt"/>
          <a:ea typeface="+mn-ea"/>
          <a:cs typeface="+mn-cs"/>
        </a:defRPr>
      </a:lvl8pPr>
      <a:lvl9pPr marL="2914650" indent="-171450" algn="l" defTabSz="685800" rtl="0" eaLnBrk="1" latinLnBrk="0" hangingPunct="1">
        <a:lnSpc>
          <a:spcPct val="120000"/>
        </a:lnSpc>
        <a:spcBef>
          <a:spcPts val="375"/>
        </a:spcBef>
        <a:buClr>
          <a:schemeClr val="accent1"/>
        </a:buClr>
        <a:buSzPct val="100000"/>
        <a:buFont typeface="Arial" panose="020B0604020202020204" pitchFamily="34" charset="0"/>
        <a:buChar char="•"/>
        <a:defRPr sz="900" kern="1200" baseline="0">
          <a:solidFill>
            <a:schemeClr val="tx1"/>
          </a:solidFill>
          <a:effectLst/>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5.xml"/><Relationship Id="rId1" Type="http://schemas.openxmlformats.org/officeDocument/2006/relationships/slideLayout" Target="../slideLayouts/slideLayout12.xml"/><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6.xml"/><Relationship Id="rId1" Type="http://schemas.openxmlformats.org/officeDocument/2006/relationships/slideLayout" Target="../slideLayouts/slideLayout12.xml"/><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7.xml"/><Relationship Id="rId1" Type="http://schemas.openxmlformats.org/officeDocument/2006/relationships/slideLayout" Target="../slideLayouts/slideLayout12.xml"/><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8.xml"/><Relationship Id="rId1" Type="http://schemas.openxmlformats.org/officeDocument/2006/relationships/slideLayout" Target="../slideLayouts/slideLayout12.xml"/><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9.xml"/><Relationship Id="rId1" Type="http://schemas.openxmlformats.org/officeDocument/2006/relationships/slideLayout" Target="../slideLayouts/slideLayout12.xml"/><Relationship Id="rId4" Type="http://schemas.openxmlformats.org/officeDocument/2006/relationships/image" Target="../media/image6.png"/></Relationships>
</file>

<file path=ppt/slides/_rels/slide10.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0.xml"/><Relationship Id="rId1" Type="http://schemas.openxmlformats.org/officeDocument/2006/relationships/slideLayout" Target="../slideLayouts/slideLayout12.xml"/><Relationship Id="rId4" Type="http://schemas.openxmlformats.org/officeDocument/2006/relationships/image" Target="../media/image7.png"/></Relationships>
</file>

<file path=ppt/slides/_rels/slide1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1.xml"/><Relationship Id="rId1" Type="http://schemas.openxmlformats.org/officeDocument/2006/relationships/slideLayout" Target="../slideLayouts/slideLayout12.xml"/><Relationship Id="rId4" Type="http://schemas.openxmlformats.org/officeDocument/2006/relationships/image" Target="../media/image8.png"/></Relationships>
</file>

<file path=ppt/slides/_rels/slide1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2.xml"/><Relationship Id="rId1" Type="http://schemas.openxmlformats.org/officeDocument/2006/relationships/slideLayout" Target="../slideLayouts/slideLayout12.xml"/><Relationship Id="rId4" Type="http://schemas.openxmlformats.org/officeDocument/2006/relationships/image" Target="../media/image9.png"/></Relationships>
</file>

<file path=ppt/slides/_rels/slide13.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3.xml"/><Relationship Id="rId1" Type="http://schemas.openxmlformats.org/officeDocument/2006/relationships/slideLayout" Target="../slideLayouts/slideLayout12.xml"/><Relationship Id="rId4" Type="http://schemas.openxmlformats.org/officeDocument/2006/relationships/image" Target="../media/image10.png"/></Relationships>
</file>

<file path=ppt/slides/_rels/slide14.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4.xml"/><Relationship Id="rId1" Type="http://schemas.openxmlformats.org/officeDocument/2006/relationships/slideLayout" Target="../slideLayouts/slideLayout12.xml"/><Relationship Id="rId4" Type="http://schemas.openxmlformats.org/officeDocument/2006/relationships/image" Target="../media/image11.png"/></Relationships>
</file>

<file path=ppt/slides/_rels/slide15.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5.xml"/><Relationship Id="rId1" Type="http://schemas.openxmlformats.org/officeDocument/2006/relationships/slideLayout" Target="../slideLayouts/slideLayout12.xml"/><Relationship Id="rId4" Type="http://schemas.openxmlformats.org/officeDocument/2006/relationships/image" Target="../media/image12.png"/></Relationships>
</file>

<file path=ppt/slides/_rels/slide16.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6.xml"/><Relationship Id="rId1" Type="http://schemas.openxmlformats.org/officeDocument/2006/relationships/slideLayout" Target="../slideLayouts/slideLayout12.xml"/><Relationship Id="rId4" Type="http://schemas.openxmlformats.org/officeDocument/2006/relationships/image" Target="../media/image13.png"/></Relationships>
</file>

<file path=ppt/slides/_rels/slide17.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7.xml"/><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9.xml"/><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20.xml"/><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21.xml"/><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23522FE7-5A29-4EF6-B1EF-2CA55748A7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514607"/>
            <a:ext cx="9144000" cy="3079455"/>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11" name="Picture 10">
            <a:extLst>
              <a:ext uri="{FF2B5EF4-FFF2-40B4-BE49-F238E27FC236}">
                <a16:creationId xmlns:a16="http://schemas.microsoft.com/office/drawing/2014/main" id="{C2192E09-EBC7-416C-B887-DFF915D7F43D}"/>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3">
            <a:extLst>
              <a:ext uri="{28A0092B-C50C-407E-A947-70E740481C1C}">
                <a14:useLocalDpi xmlns:a14="http://schemas.microsoft.com/office/drawing/2010/main" val="0"/>
              </a:ext>
            </a:extLst>
          </a:blip>
          <a:srcRect t="1538" b="-1538"/>
          <a:stretch/>
        </p:blipFill>
        <p:spPr bwMode="black">
          <a:xfrm>
            <a:off x="0" y="4594860"/>
            <a:ext cx="9144000" cy="557212"/>
          </a:xfrm>
          <a:prstGeom prst="rect">
            <a:avLst/>
          </a:prstGeom>
        </p:spPr>
      </p:pic>
      <p:cxnSp>
        <p:nvCxnSpPr>
          <p:cNvPr id="13" name="Straight Connector 12">
            <a:extLst>
              <a:ext uri="{FF2B5EF4-FFF2-40B4-BE49-F238E27FC236}">
                <a16:creationId xmlns:a16="http://schemas.microsoft.com/office/drawing/2014/main" id="{2924498D-E084-44BE-A196-CFCE3556435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4596309"/>
            <a:ext cx="9144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3BBC7667-C352-4842-9AFD-E5C16AD002F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813335" y="2646406"/>
            <a:ext cx="6477804" cy="0"/>
          </a:xfrm>
          <a:prstGeom prst="line">
            <a:avLst/>
          </a:prstGeom>
          <a:ln w="31750"/>
        </p:spPr>
        <p:style>
          <a:lnRef idx="3">
            <a:schemeClr val="accent1"/>
          </a:lnRef>
          <a:fillRef idx="0">
            <a:schemeClr val="accent1"/>
          </a:fillRef>
          <a:effectRef idx="2">
            <a:schemeClr val="accent1"/>
          </a:effectRef>
          <a:fontRef idx="minor">
            <a:schemeClr val="tx1"/>
          </a:fontRef>
        </p:style>
      </p:cxnSp>
      <p:sp useBgFill="1">
        <p:nvSpPr>
          <p:cNvPr id="17" name="Rectangle 16">
            <a:extLst>
              <a:ext uri="{FF2B5EF4-FFF2-40B4-BE49-F238E27FC236}">
                <a16:creationId xmlns:a16="http://schemas.microsoft.com/office/drawing/2014/main" id="{1EE485E7-7D6D-4CB0-A3AD-261D97B2EF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9143771"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A55E3208-F0C4-4962-8946-065C94F896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514607"/>
            <a:ext cx="9144000" cy="3079455"/>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US" dirty="0"/>
          </a:p>
        </p:txBody>
      </p:sp>
      <p:sp>
        <p:nvSpPr>
          <p:cNvPr id="2" name="Text 0"/>
          <p:cNvSpPr/>
          <p:nvPr/>
        </p:nvSpPr>
        <p:spPr>
          <a:xfrm>
            <a:off x="3855176" y="770952"/>
            <a:ext cx="4562781" cy="2783921"/>
          </a:xfrm>
          <a:prstGeom prst="rect">
            <a:avLst/>
          </a:prstGeom>
        </p:spPr>
        <p:txBody>
          <a:bodyPr vert="horz" lIns="91440" tIns="45720" rIns="91440" bIns="0" rtlCol="0" anchor="ctr">
            <a:normAutofit/>
          </a:bodyPr>
          <a:lstStyle/>
          <a:p>
            <a:pPr marL="0" indent="0" defTabSz="914400">
              <a:lnSpc>
                <a:spcPct val="90000"/>
              </a:lnSpc>
              <a:spcBef>
                <a:spcPct val="0"/>
              </a:spcBef>
              <a:spcAft>
                <a:spcPts val="600"/>
              </a:spcAft>
            </a:pPr>
            <a:r>
              <a:rPr lang="en-US" sz="4100" cap="all">
                <a:latin typeface="+mj-lt"/>
                <a:ea typeface="+mj-ea"/>
                <a:cs typeface="+mj-cs"/>
              </a:rPr>
              <a:t>Harvey AI</a:t>
            </a:r>
          </a:p>
        </p:txBody>
      </p:sp>
      <p:sp>
        <p:nvSpPr>
          <p:cNvPr id="3" name="Text 1"/>
          <p:cNvSpPr/>
          <p:nvPr/>
        </p:nvSpPr>
        <p:spPr>
          <a:xfrm>
            <a:off x="726042" y="770952"/>
            <a:ext cx="2441175" cy="2783921"/>
          </a:xfrm>
          <a:prstGeom prst="rect">
            <a:avLst/>
          </a:prstGeom>
        </p:spPr>
        <p:txBody>
          <a:bodyPr vert="horz" lIns="91440" tIns="91440" rIns="91440" bIns="91440" rtlCol="0" anchor="ctr">
            <a:normAutofit/>
          </a:bodyPr>
          <a:lstStyle/>
          <a:p>
            <a:pPr algn="r" defTabSz="914400">
              <a:lnSpc>
                <a:spcPct val="120000"/>
              </a:lnSpc>
              <a:spcBef>
                <a:spcPts val="1000"/>
              </a:spcBef>
              <a:buClr>
                <a:schemeClr val="accent1"/>
              </a:buClr>
              <a:buSzPct val="100000"/>
            </a:pPr>
            <a:r>
              <a:rPr lang="en-US" cap="all"/>
              <a:t>Legal Document Analysis Portal</a:t>
            </a:r>
          </a:p>
        </p:txBody>
      </p:sp>
      <p:cxnSp>
        <p:nvCxnSpPr>
          <p:cNvPr id="21" name="Straight Connector 20">
            <a:extLst>
              <a:ext uri="{FF2B5EF4-FFF2-40B4-BE49-F238E27FC236}">
                <a16:creationId xmlns:a16="http://schemas.microsoft.com/office/drawing/2014/main" id="{4FAE17D3-C2DC-4665-AF20-33C5BACD5E0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3490722" y="1031343"/>
            <a:ext cx="0" cy="2263140"/>
          </a:xfrm>
          <a:prstGeom prst="line">
            <a:avLst/>
          </a:prstGeom>
          <a:ln w="31750"/>
        </p:spPr>
        <p:style>
          <a:lnRef idx="1">
            <a:schemeClr val="accent1"/>
          </a:lnRef>
          <a:fillRef idx="0">
            <a:schemeClr val="accent1"/>
          </a:fillRef>
          <a:effectRef idx="0">
            <a:schemeClr val="accent1"/>
          </a:effectRef>
          <a:fontRef idx="minor">
            <a:schemeClr val="tx1"/>
          </a:fontRef>
        </p:style>
      </p:cxnSp>
      <p:pic>
        <p:nvPicPr>
          <p:cNvPr id="23" name="Picture 22">
            <a:extLst>
              <a:ext uri="{FF2B5EF4-FFF2-40B4-BE49-F238E27FC236}">
                <a16:creationId xmlns:a16="http://schemas.microsoft.com/office/drawing/2014/main" id="{7021C573-B3FF-44B8-A5DE-AB39E9AA6B96}"/>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3">
            <a:extLst>
              <a:ext uri="{28A0092B-C50C-407E-A947-70E740481C1C}">
                <a14:useLocalDpi xmlns:a14="http://schemas.microsoft.com/office/drawing/2010/main" val="0"/>
              </a:ext>
            </a:extLst>
          </a:blip>
          <a:srcRect t="1538" b="-1538"/>
          <a:stretch/>
        </p:blipFill>
        <p:spPr bwMode="black">
          <a:xfrm>
            <a:off x="0" y="4594860"/>
            <a:ext cx="9144000" cy="557212"/>
          </a:xfrm>
          <a:prstGeom prst="rect">
            <a:avLst/>
          </a:prstGeom>
        </p:spPr>
      </p:pic>
      <p:cxnSp>
        <p:nvCxnSpPr>
          <p:cNvPr id="25" name="Straight Connector 24">
            <a:extLst>
              <a:ext uri="{FF2B5EF4-FFF2-40B4-BE49-F238E27FC236}">
                <a16:creationId xmlns:a16="http://schemas.microsoft.com/office/drawing/2014/main" id="{50B0CCD4-E9B0-43B2-806F-05EDF57A762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4596309"/>
            <a:ext cx="9144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sp>
        <p:nvSpPr>
          <p:cNvPr id="4" name="Text 2"/>
          <p:cNvSpPr/>
          <p:nvPr/>
        </p:nvSpPr>
        <p:spPr>
          <a:xfrm>
            <a:off x="551329" y="3581204"/>
            <a:ext cx="8095130" cy="804134"/>
          </a:xfrm>
          <a:prstGeom prst="rect">
            <a:avLst/>
          </a:prstGeom>
          <a:noFill/>
          <a:ln/>
        </p:spPr>
        <p:txBody>
          <a:bodyPr wrap="square" rtlCol="0" anchor="ctr"/>
          <a:lstStyle/>
          <a:p>
            <a:pPr marL="0" indent="0" algn="ctr">
              <a:spcAft>
                <a:spcPts val="600"/>
              </a:spcAft>
              <a:buNone/>
            </a:pPr>
            <a:r>
              <a:rPr lang="en-US" sz="1800" dirty="0">
                <a:solidFill>
                  <a:srgbClr val="39428E"/>
                </a:solidFill>
                <a:latin typeface="Calibri" pitchFamily="34" charset="0"/>
                <a:ea typeface="Calibri" pitchFamily="34" charset="-122"/>
                <a:cs typeface="Calibri" pitchFamily="34" charset="-120"/>
              </a:rPr>
              <a:t>Attorney Adoption Presentation</a:t>
            </a:r>
            <a:endParaRPr lang="en-US" sz="1800"/>
          </a:p>
          <a:p>
            <a:pPr marL="0" indent="0" algn="ctr">
              <a:spcAft>
                <a:spcPts val="600"/>
              </a:spcAft>
              <a:buNone/>
            </a:pPr>
            <a:r>
              <a:rPr lang="en-US" sz="1800" dirty="0">
                <a:solidFill>
                  <a:srgbClr val="39428E"/>
                </a:solidFill>
                <a:latin typeface="Calibri" pitchFamily="34" charset="0"/>
                <a:ea typeface="Calibri" pitchFamily="34" charset="-122"/>
                <a:cs typeface="Calibri" pitchFamily="34" charset="-120"/>
              </a:rPr>
              <a:t>Bernhardt Riley | January 2026</a:t>
            </a:r>
            <a:endParaRPr lang="en-US" sz="180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1">
                <a:tint val="94000"/>
                <a:satMod val="80000"/>
                <a:lumMod val="106000"/>
              </a:schemeClr>
            </a:gs>
            <a:gs pos="100000">
              <a:schemeClr val="bg1">
                <a:shade val="80000"/>
              </a:schemeClr>
            </a:gs>
          </a:gsLst>
          <a:path path="circle">
            <a:fillToRect l="50000" t="50000" r="50000" b="50000"/>
          </a:path>
        </a:gra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23522FE7-5A29-4EF6-B1EF-2CA55748A7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514607"/>
            <a:ext cx="9144000" cy="3079455"/>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12" name="Picture 11">
            <a:extLst>
              <a:ext uri="{FF2B5EF4-FFF2-40B4-BE49-F238E27FC236}">
                <a16:creationId xmlns:a16="http://schemas.microsoft.com/office/drawing/2014/main" id="{C2192E09-EBC7-416C-B887-DFF915D7F43D}"/>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3">
            <a:extLst>
              <a:ext uri="{28A0092B-C50C-407E-A947-70E740481C1C}">
                <a14:useLocalDpi xmlns:a14="http://schemas.microsoft.com/office/drawing/2010/main" val="0"/>
              </a:ext>
            </a:extLst>
          </a:blip>
          <a:srcRect t="1538" b="-1538"/>
          <a:stretch/>
        </p:blipFill>
        <p:spPr bwMode="black">
          <a:xfrm>
            <a:off x="0" y="4594860"/>
            <a:ext cx="9144000" cy="557212"/>
          </a:xfrm>
          <a:prstGeom prst="rect">
            <a:avLst/>
          </a:prstGeom>
        </p:spPr>
      </p:pic>
      <p:cxnSp>
        <p:nvCxnSpPr>
          <p:cNvPr id="14" name="Straight Connector 13">
            <a:extLst>
              <a:ext uri="{FF2B5EF4-FFF2-40B4-BE49-F238E27FC236}">
                <a16:creationId xmlns:a16="http://schemas.microsoft.com/office/drawing/2014/main" id="{2924498D-E084-44BE-A196-CFCE3556435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4596309"/>
            <a:ext cx="9144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14C12901-9FCC-461E-A64A-89B4791235E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090422" y="1385316"/>
            <a:ext cx="7205641" cy="0"/>
          </a:xfrm>
          <a:prstGeom prst="line">
            <a:avLst/>
          </a:prstGeom>
          <a:ln w="31750"/>
        </p:spPr>
        <p:style>
          <a:lnRef idx="3">
            <a:schemeClr val="accent1"/>
          </a:lnRef>
          <a:fillRef idx="0">
            <a:schemeClr val="accent1"/>
          </a:fillRef>
          <a:effectRef idx="2">
            <a:schemeClr val="accent1"/>
          </a:effectRef>
          <a:fontRef idx="minor">
            <a:schemeClr val="tx1"/>
          </a:fontRef>
        </p:style>
      </p:cxnSp>
      <p:sp>
        <p:nvSpPr>
          <p:cNvPr id="2" name="Text 0"/>
          <p:cNvSpPr/>
          <p:nvPr/>
        </p:nvSpPr>
        <p:spPr>
          <a:xfrm>
            <a:off x="1088684" y="603389"/>
            <a:ext cx="7202456" cy="786926"/>
          </a:xfrm>
          <a:prstGeom prst="rect">
            <a:avLst/>
          </a:prstGeom>
        </p:spPr>
        <p:txBody>
          <a:bodyPr vert="horz" lIns="91440" tIns="45720" rIns="91440" bIns="45720" rtlCol="0" anchor="t">
            <a:normAutofit/>
          </a:bodyPr>
          <a:lstStyle/>
          <a:p>
            <a:pPr marL="0" indent="0" defTabSz="914400">
              <a:lnSpc>
                <a:spcPct val="90000"/>
              </a:lnSpc>
              <a:spcBef>
                <a:spcPct val="0"/>
              </a:spcBef>
              <a:spcAft>
                <a:spcPts val="600"/>
              </a:spcAft>
            </a:pPr>
            <a:r>
              <a:rPr lang="en-US" sz="3200" b="0" i="0" kern="1200" cap="all" dirty="0">
                <a:solidFill>
                  <a:schemeClr val="tx1"/>
                </a:solidFill>
                <a:effectLst/>
                <a:latin typeface="+mj-lt"/>
                <a:ea typeface="+mj-ea"/>
                <a:cs typeface="+mj-cs"/>
              </a:rPr>
              <a:t>The Problem: Inefficient Intake</a:t>
            </a:r>
          </a:p>
        </p:txBody>
      </p:sp>
      <p:sp>
        <p:nvSpPr>
          <p:cNvPr id="3" name="Text 1"/>
          <p:cNvSpPr/>
          <p:nvPr/>
        </p:nvSpPr>
        <p:spPr>
          <a:xfrm>
            <a:off x="1088684" y="1511799"/>
            <a:ext cx="7202456" cy="2587959"/>
          </a:xfrm>
          <a:prstGeom prst="rect">
            <a:avLst/>
          </a:prstGeom>
        </p:spPr>
        <p:txBody>
          <a:bodyPr vert="horz" lIns="91440" tIns="45720" rIns="91440" bIns="45720" rtlCol="0" anchor="t">
            <a:normAutofit/>
          </a:bodyPr>
          <a:lstStyle/>
          <a:p>
            <a:pPr marL="342900" indent="-228600" defTabSz="914400">
              <a:lnSpc>
                <a:spcPct val="120000"/>
              </a:lnSpc>
              <a:spcAft>
                <a:spcPts val="600"/>
              </a:spcAft>
              <a:buClr>
                <a:schemeClr val="accent1"/>
              </a:buClr>
              <a:buSzPct val="100000"/>
              <a:buFont typeface="Arial" panose="020B0604020202020204" pitchFamily="34" charset="0"/>
              <a:buChar char="•"/>
            </a:pPr>
            <a:r>
              <a:rPr lang="en-US"/>
              <a:t>Manual document review requires hours to extract basic facts.</a:t>
            </a:r>
          </a:p>
          <a:p>
            <a:pPr marL="342900" indent="-228600" defTabSz="914400">
              <a:lnSpc>
                <a:spcPct val="120000"/>
              </a:lnSpc>
              <a:spcAft>
                <a:spcPts val="600"/>
              </a:spcAft>
              <a:buClr>
                <a:schemeClr val="accent1"/>
              </a:buClr>
              <a:buSzPct val="100000"/>
              <a:buFont typeface="Arial" panose="020B0604020202020204" pitchFamily="34" charset="0"/>
              <a:buChar char="•"/>
            </a:pPr>
            <a:r>
              <a:rPr lang="en-US"/>
              <a:t>Initial review consumes attorney time without requiring senior judgment.</a:t>
            </a:r>
          </a:p>
          <a:p>
            <a:pPr marL="342900" indent="-228600" defTabSz="914400">
              <a:lnSpc>
                <a:spcPct val="120000"/>
              </a:lnSpc>
              <a:spcAft>
                <a:spcPts val="600"/>
              </a:spcAft>
              <a:buClr>
                <a:schemeClr val="accent1"/>
              </a:buClr>
              <a:buSzPct val="100000"/>
              <a:buFont typeface="Arial" panose="020B0604020202020204" pitchFamily="34" charset="0"/>
              <a:buChar char="•"/>
            </a:pPr>
            <a:r>
              <a:rPr lang="en-US"/>
              <a:t>Creating findings letters from scratch leads to inconsistencies.</a:t>
            </a:r>
          </a:p>
          <a:p>
            <a:pPr marL="342900" indent="-228600" defTabSz="914400">
              <a:lnSpc>
                <a:spcPct val="120000"/>
              </a:lnSpc>
              <a:spcAft>
                <a:spcPts val="600"/>
              </a:spcAft>
              <a:buClr>
                <a:schemeClr val="accent1"/>
              </a:buClr>
              <a:buSzPct val="100000"/>
              <a:buFont typeface="Arial" panose="020B0604020202020204" pitchFamily="34" charset="0"/>
              <a:buChar char="•"/>
            </a:pPr>
            <a:r>
              <a:rPr lang="en-US"/>
              <a:t>Manual citation is error-prone and creates liability risk</a:t>
            </a:r>
          </a:p>
        </p:txBody>
      </p:sp>
      <p:sp>
        <p:nvSpPr>
          <p:cNvPr id="5" name="Text 3"/>
          <p:cNvSpPr/>
          <p:nvPr/>
        </p:nvSpPr>
        <p:spPr>
          <a:xfrm>
            <a:off x="977423" y="4718354"/>
            <a:ext cx="7189153" cy="293146"/>
          </a:xfrm>
          <a:prstGeom prst="rect">
            <a:avLst/>
          </a:prstGeom>
          <a:noFill/>
          <a:ln/>
        </p:spPr>
        <p:txBody>
          <a:bodyPr wrap="square" rtlCol="0" anchor="ctr"/>
          <a:lstStyle/>
          <a:p>
            <a:pPr marL="0" indent="0" algn="ctr">
              <a:spcAft>
                <a:spcPts val="600"/>
              </a:spcAft>
              <a:buNone/>
            </a:pPr>
            <a:r>
              <a:rPr lang="en-US" sz="2200" b="1" dirty="0">
                <a:latin typeface="Calibri" pitchFamily="34" charset="0"/>
                <a:ea typeface="Calibri" pitchFamily="34" charset="-122"/>
                <a:cs typeface="Calibri" pitchFamily="34" charset="-120"/>
              </a:rPr>
              <a:t>This tool removes the busywork, not your judgment.</a:t>
            </a:r>
            <a:endParaRPr lang="en-US" sz="2200" dirty="0"/>
          </a:p>
        </p:txBody>
      </p:sp>
    </p:spTree>
  </p:cSld>
  <p:clrMapOvr>
    <a:overrideClrMapping bg1="dk1" tx1="lt1" bg2="dk2" tx2="lt2" accent1="accent1" accent2="accent2" accent3="accent3" accent4="accent4" accent5="accent5" accent6="accent6" hlink="hlink" folHlink="folHlink"/>
  </p:clrMapOvr>
</p:sld>
</file>

<file path=ppt/slides/slide3.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1">
                <a:tint val="94000"/>
                <a:satMod val="80000"/>
                <a:lumMod val="106000"/>
              </a:schemeClr>
            </a:gs>
            <a:gs pos="100000">
              <a:schemeClr val="bg1">
                <a:shade val="80000"/>
              </a:schemeClr>
            </a:gs>
          </a:gsLst>
          <a:path path="circle">
            <a:fillToRect l="50000" t="50000" r="50000" b="50000"/>
          </a:path>
        </a:gra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23522FE7-5A29-4EF6-B1EF-2CA55748A7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514607"/>
            <a:ext cx="9144000" cy="3079455"/>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23" name="Picture 22">
            <a:extLst>
              <a:ext uri="{FF2B5EF4-FFF2-40B4-BE49-F238E27FC236}">
                <a16:creationId xmlns:a16="http://schemas.microsoft.com/office/drawing/2014/main" id="{C2192E09-EBC7-416C-B887-DFF915D7F43D}"/>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3">
            <a:extLst>
              <a:ext uri="{28A0092B-C50C-407E-A947-70E740481C1C}">
                <a14:useLocalDpi xmlns:a14="http://schemas.microsoft.com/office/drawing/2010/main" val="0"/>
              </a:ext>
            </a:extLst>
          </a:blip>
          <a:srcRect t="1538" b="-1538"/>
          <a:stretch/>
        </p:blipFill>
        <p:spPr bwMode="black">
          <a:xfrm>
            <a:off x="0" y="4594860"/>
            <a:ext cx="9144000" cy="557212"/>
          </a:xfrm>
          <a:prstGeom prst="rect">
            <a:avLst/>
          </a:prstGeom>
        </p:spPr>
      </p:pic>
      <p:cxnSp>
        <p:nvCxnSpPr>
          <p:cNvPr id="25" name="Straight Connector 24">
            <a:extLst>
              <a:ext uri="{FF2B5EF4-FFF2-40B4-BE49-F238E27FC236}">
                <a16:creationId xmlns:a16="http://schemas.microsoft.com/office/drawing/2014/main" id="{2924498D-E084-44BE-A196-CFCE3556435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4596309"/>
            <a:ext cx="9144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14C12901-9FCC-461E-A64A-89B4791235E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090422" y="1385316"/>
            <a:ext cx="7205641" cy="0"/>
          </a:xfrm>
          <a:prstGeom prst="line">
            <a:avLst/>
          </a:prstGeom>
          <a:ln w="31750"/>
        </p:spPr>
        <p:style>
          <a:lnRef idx="3">
            <a:schemeClr val="accent1"/>
          </a:lnRef>
          <a:fillRef idx="0">
            <a:schemeClr val="accent1"/>
          </a:fillRef>
          <a:effectRef idx="2">
            <a:schemeClr val="accent1"/>
          </a:effectRef>
          <a:fontRef idx="minor">
            <a:schemeClr val="tx1"/>
          </a:fontRef>
        </p:style>
      </p:cxnSp>
      <p:sp useBgFill="1">
        <p:nvSpPr>
          <p:cNvPr id="29" name="Rectangle 28">
            <a:extLst>
              <a:ext uri="{FF2B5EF4-FFF2-40B4-BE49-F238E27FC236}">
                <a16:creationId xmlns:a16="http://schemas.microsoft.com/office/drawing/2014/main" id="{54F891EB-ED45-44C3-95D6-FFB2EC07FA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7" y="0"/>
            <a:ext cx="9143771"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2EA385B8-7C85-4CE0-AE3A-00EB627B34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514607"/>
            <a:ext cx="9144000" cy="3079455"/>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2" name="Text 0"/>
          <p:cNvSpPr/>
          <p:nvPr/>
        </p:nvSpPr>
        <p:spPr>
          <a:xfrm>
            <a:off x="609153" y="603389"/>
            <a:ext cx="2431365" cy="3323520"/>
          </a:xfrm>
          <a:prstGeom prst="rect">
            <a:avLst/>
          </a:prstGeom>
        </p:spPr>
        <p:txBody>
          <a:bodyPr vert="horz" lIns="91440" tIns="45720" rIns="91440" bIns="45720" rtlCol="0" anchor="ctr">
            <a:normAutofit/>
          </a:bodyPr>
          <a:lstStyle/>
          <a:p>
            <a:pPr marL="0" indent="0" defTabSz="914400">
              <a:lnSpc>
                <a:spcPct val="90000"/>
              </a:lnSpc>
              <a:spcBef>
                <a:spcPct val="0"/>
              </a:spcBef>
              <a:spcAft>
                <a:spcPts val="600"/>
              </a:spcAft>
            </a:pPr>
            <a:r>
              <a:rPr lang="en-US" sz="3200" b="0" i="0" kern="1200" cap="all" dirty="0">
                <a:solidFill>
                  <a:schemeClr val="tx1"/>
                </a:solidFill>
                <a:effectLst/>
                <a:latin typeface="+mj-lt"/>
                <a:ea typeface="+mj-ea"/>
                <a:cs typeface="+mj-cs"/>
              </a:rPr>
              <a:t>The Solution: Harvey AI</a:t>
            </a:r>
          </a:p>
        </p:txBody>
      </p:sp>
      <p:cxnSp>
        <p:nvCxnSpPr>
          <p:cNvPr id="33" name="Straight Connector 32">
            <a:extLst>
              <a:ext uri="{FF2B5EF4-FFF2-40B4-BE49-F238E27FC236}">
                <a16:creationId xmlns:a16="http://schemas.microsoft.com/office/drawing/2014/main" id="{19AF263B-E208-40DF-A182-5193478DCFA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3258867" y="667764"/>
            <a:ext cx="0" cy="3429000"/>
          </a:xfrm>
          <a:prstGeom prst="line">
            <a:avLst/>
          </a:prstGeom>
          <a:ln w="3175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Text 1"/>
          <p:cNvSpPr/>
          <p:nvPr/>
        </p:nvSpPr>
        <p:spPr>
          <a:xfrm>
            <a:off x="3478397" y="603390"/>
            <a:ext cx="4576919" cy="3323519"/>
          </a:xfrm>
          <a:prstGeom prst="rect">
            <a:avLst/>
          </a:prstGeom>
        </p:spPr>
        <p:txBody>
          <a:bodyPr vert="horz" lIns="91440" tIns="45720" rIns="91440" bIns="45720" rtlCol="0" anchor="ctr">
            <a:normAutofit/>
          </a:bodyPr>
          <a:lstStyle/>
          <a:p>
            <a:pPr marL="342900" indent="-228600" defTabSz="914400">
              <a:lnSpc>
                <a:spcPct val="120000"/>
              </a:lnSpc>
              <a:spcAft>
                <a:spcPts val="600"/>
              </a:spcAft>
              <a:buClr>
                <a:schemeClr val="accent1"/>
              </a:buClr>
              <a:buSzPct val="100000"/>
              <a:buFont typeface="Arial" panose="020B0604020202020204" pitchFamily="34" charset="0"/>
              <a:buChar char="•"/>
            </a:pPr>
            <a:r>
              <a:rPr lang="en-US" dirty="0"/>
              <a:t>Production software that analyzes documents and generates findings letters.</a:t>
            </a:r>
          </a:p>
          <a:p>
            <a:pPr marL="342900" indent="-228600" defTabSz="914400">
              <a:lnSpc>
                <a:spcPct val="120000"/>
              </a:lnSpc>
              <a:spcAft>
                <a:spcPts val="600"/>
              </a:spcAft>
              <a:buClr>
                <a:schemeClr val="accent1"/>
              </a:buClr>
              <a:buSzPct val="100000"/>
              <a:buFont typeface="Arial" panose="020B0604020202020204" pitchFamily="34" charset="0"/>
              <a:buChar char="•"/>
            </a:pPr>
            <a:r>
              <a:rPr lang="en-US" dirty="0"/>
              <a:t>Extracts text, identifies facts, and constructs timelines automatically.</a:t>
            </a:r>
          </a:p>
          <a:p>
            <a:pPr marL="342900" indent="-228600" defTabSz="914400">
              <a:lnSpc>
                <a:spcPct val="120000"/>
              </a:lnSpc>
              <a:spcAft>
                <a:spcPts val="600"/>
              </a:spcAft>
              <a:buClr>
                <a:schemeClr val="accent1"/>
              </a:buClr>
              <a:buSzPct val="100000"/>
              <a:buFont typeface="Arial" panose="020B0604020202020204" pitchFamily="34" charset="0"/>
              <a:buChar char="•"/>
            </a:pPr>
            <a:r>
              <a:rPr lang="en-US" dirty="0"/>
              <a:t>Validates statute citations against verified legal corpus.</a:t>
            </a:r>
          </a:p>
          <a:p>
            <a:pPr marL="342900" indent="-228600" defTabSz="914400">
              <a:lnSpc>
                <a:spcPct val="120000"/>
              </a:lnSpc>
              <a:spcAft>
                <a:spcPts val="600"/>
              </a:spcAft>
              <a:buClr>
                <a:schemeClr val="accent1"/>
              </a:buClr>
              <a:buSzPct val="100000"/>
              <a:buFont typeface="Arial" panose="020B0604020202020204" pitchFamily="34" charset="0"/>
              <a:buChar char="•"/>
            </a:pPr>
            <a:r>
              <a:rPr lang="en-US" dirty="0"/>
              <a:t>Every fact cited directly to its source document</a:t>
            </a:r>
          </a:p>
        </p:txBody>
      </p:sp>
      <p:pic>
        <p:nvPicPr>
          <p:cNvPr id="35" name="Picture 34">
            <a:extLst>
              <a:ext uri="{FF2B5EF4-FFF2-40B4-BE49-F238E27FC236}">
                <a16:creationId xmlns:a16="http://schemas.microsoft.com/office/drawing/2014/main" id="{DCC0100C-A457-45B1-8A8B-8740F43EC158}"/>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3">
            <a:extLst>
              <a:ext uri="{28A0092B-C50C-407E-A947-70E740481C1C}">
                <a14:useLocalDpi xmlns:a14="http://schemas.microsoft.com/office/drawing/2010/main" val="0"/>
              </a:ext>
            </a:extLst>
          </a:blip>
          <a:srcRect t="1538" b="-1538"/>
          <a:stretch/>
        </p:blipFill>
        <p:spPr bwMode="black">
          <a:xfrm>
            <a:off x="0" y="4594860"/>
            <a:ext cx="9144000" cy="557212"/>
          </a:xfrm>
          <a:prstGeom prst="rect">
            <a:avLst/>
          </a:prstGeom>
        </p:spPr>
      </p:pic>
      <p:sp>
        <p:nvSpPr>
          <p:cNvPr id="5" name="Text 3"/>
          <p:cNvSpPr/>
          <p:nvPr/>
        </p:nvSpPr>
        <p:spPr>
          <a:xfrm>
            <a:off x="748834" y="4723531"/>
            <a:ext cx="7646332" cy="299870"/>
          </a:xfrm>
          <a:prstGeom prst="rect">
            <a:avLst/>
          </a:prstGeom>
          <a:noFill/>
          <a:ln/>
        </p:spPr>
        <p:txBody>
          <a:bodyPr wrap="square" rtlCol="0" anchor="ctr"/>
          <a:lstStyle/>
          <a:p>
            <a:pPr marL="0" indent="0" algn="ctr">
              <a:spcAft>
                <a:spcPts val="600"/>
              </a:spcAft>
              <a:buNone/>
            </a:pPr>
            <a:r>
              <a:rPr lang="en-US" sz="2200" b="1" dirty="0">
                <a:latin typeface="Calibri" pitchFamily="34" charset="0"/>
                <a:ea typeface="Calibri" pitchFamily="34" charset="-122"/>
                <a:cs typeface="Calibri" pitchFamily="34" charset="-120"/>
              </a:rPr>
              <a:t>Think of this as a tireless junior associate.</a:t>
            </a:r>
            <a:endParaRPr lang="en-US" sz="2200" dirty="0"/>
          </a:p>
        </p:txBody>
      </p:sp>
    </p:spTree>
  </p:cSld>
  <p:clrMapOvr>
    <a:overrideClrMapping bg1="dk1" tx1="lt1" bg2="dk2" tx2="lt2" accent1="accent1" accent2="accent2" accent3="accent3" accent4="accent4" accent5="accent5" accent6="accent6" hlink="hlink" folHlink="folHlink"/>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43753" y="0"/>
            <a:ext cx="10360152" cy="1097280"/>
          </a:xfrm>
          <a:prstGeom prst="rect">
            <a:avLst/>
          </a:prstGeom>
          <a:noFill/>
          <a:ln/>
        </p:spPr>
        <p:txBody>
          <a:bodyPr wrap="square" rtlCol="0" anchor="ctr"/>
          <a:lstStyle/>
          <a:p>
            <a:pPr marL="0" indent="0" algn="l">
              <a:buNone/>
            </a:pPr>
            <a:r>
              <a:rPr lang="en-US" sz="3600" b="1" dirty="0">
                <a:solidFill>
                  <a:srgbClr val="181A31"/>
                </a:solidFill>
                <a:latin typeface="Calibri" pitchFamily="34" charset="0"/>
                <a:ea typeface="Calibri" pitchFamily="34" charset="-122"/>
                <a:cs typeface="Calibri" pitchFamily="34" charset="-120"/>
              </a:rPr>
              <a:t>The Attorney Workflow</a:t>
            </a:r>
            <a:endParaRPr lang="en-US" sz="3600" dirty="0"/>
          </a:p>
        </p:txBody>
      </p:sp>
      <p:sp>
        <p:nvSpPr>
          <p:cNvPr id="3" name="Shape 1"/>
          <p:cNvSpPr/>
          <p:nvPr/>
        </p:nvSpPr>
        <p:spPr>
          <a:xfrm>
            <a:off x="626633" y="1143000"/>
            <a:ext cx="365760" cy="365760"/>
          </a:xfrm>
          <a:prstGeom prst="ellipse">
            <a:avLst/>
          </a:prstGeom>
          <a:solidFill>
            <a:srgbClr val="5AB7A3"/>
          </a:solidFill>
          <a:ln/>
        </p:spPr>
        <p:txBody>
          <a:bodyPr/>
          <a:lstStyle/>
          <a:p>
            <a:endParaRPr lang="en-US"/>
          </a:p>
        </p:txBody>
      </p:sp>
      <p:sp>
        <p:nvSpPr>
          <p:cNvPr id="4" name="Text 2"/>
          <p:cNvSpPr/>
          <p:nvPr/>
        </p:nvSpPr>
        <p:spPr>
          <a:xfrm>
            <a:off x="626633" y="1143000"/>
            <a:ext cx="365760" cy="365760"/>
          </a:xfrm>
          <a:prstGeom prst="rect">
            <a:avLst/>
          </a:prstGeom>
          <a:noFill/>
          <a:ln/>
        </p:spPr>
        <p:txBody>
          <a:bodyPr wrap="square"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5" name="Text 3"/>
          <p:cNvSpPr/>
          <p:nvPr/>
        </p:nvSpPr>
        <p:spPr>
          <a:xfrm>
            <a:off x="1175273" y="1188720"/>
            <a:ext cx="8686800" cy="457200"/>
          </a:xfrm>
          <a:prstGeom prst="rect">
            <a:avLst/>
          </a:prstGeom>
          <a:noFill/>
          <a:ln/>
        </p:spPr>
        <p:txBody>
          <a:bodyPr wrap="square" rtlCol="0" anchor="t"/>
          <a:lstStyle/>
          <a:p>
            <a:pPr marL="0" indent="0" algn="l">
              <a:buNone/>
            </a:pPr>
            <a:r>
              <a:rPr lang="en-US" sz="1800" dirty="0">
                <a:solidFill>
                  <a:srgbClr val="39428E"/>
                </a:solidFill>
                <a:latin typeface="Calibri" pitchFamily="34" charset="0"/>
                <a:ea typeface="Calibri" pitchFamily="34" charset="-122"/>
                <a:cs typeface="Calibri" pitchFamily="34" charset="-120"/>
              </a:rPr>
              <a:t>Create Case: Initialize case record with client name and reference number</a:t>
            </a:r>
            <a:endParaRPr lang="en-US" sz="1800" dirty="0"/>
          </a:p>
        </p:txBody>
      </p:sp>
      <p:sp>
        <p:nvSpPr>
          <p:cNvPr id="6" name="Shape 4"/>
          <p:cNvSpPr/>
          <p:nvPr/>
        </p:nvSpPr>
        <p:spPr>
          <a:xfrm>
            <a:off x="626633" y="1828800"/>
            <a:ext cx="365760" cy="365760"/>
          </a:xfrm>
          <a:prstGeom prst="ellipse">
            <a:avLst/>
          </a:prstGeom>
          <a:solidFill>
            <a:srgbClr val="5AB7A3"/>
          </a:solidFill>
          <a:ln/>
        </p:spPr>
        <p:txBody>
          <a:bodyPr/>
          <a:lstStyle/>
          <a:p>
            <a:endParaRPr lang="en-US"/>
          </a:p>
        </p:txBody>
      </p:sp>
      <p:sp>
        <p:nvSpPr>
          <p:cNvPr id="7" name="Text 5"/>
          <p:cNvSpPr/>
          <p:nvPr/>
        </p:nvSpPr>
        <p:spPr>
          <a:xfrm>
            <a:off x="626633" y="1828800"/>
            <a:ext cx="365760" cy="365760"/>
          </a:xfrm>
          <a:prstGeom prst="rect">
            <a:avLst/>
          </a:prstGeom>
          <a:noFill/>
          <a:ln/>
        </p:spPr>
        <p:txBody>
          <a:bodyPr wrap="square"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8" name="Text 6"/>
          <p:cNvSpPr/>
          <p:nvPr/>
        </p:nvSpPr>
        <p:spPr>
          <a:xfrm>
            <a:off x="1175273" y="1874520"/>
            <a:ext cx="8686800" cy="457200"/>
          </a:xfrm>
          <a:prstGeom prst="rect">
            <a:avLst/>
          </a:prstGeom>
          <a:noFill/>
          <a:ln/>
        </p:spPr>
        <p:txBody>
          <a:bodyPr wrap="square" rtlCol="0" anchor="t"/>
          <a:lstStyle/>
          <a:p>
            <a:pPr marL="0" indent="0" algn="l">
              <a:buNone/>
            </a:pPr>
            <a:r>
              <a:rPr lang="en-US" sz="1800" dirty="0">
                <a:solidFill>
                  <a:srgbClr val="39428E"/>
                </a:solidFill>
                <a:latin typeface="Calibri" pitchFamily="34" charset="0"/>
                <a:ea typeface="Calibri" pitchFamily="34" charset="-122"/>
                <a:cs typeface="Calibri" pitchFamily="34" charset="-120"/>
              </a:rPr>
              <a:t>Upload Documents: Drag-and-drop files or import directly from Clio</a:t>
            </a:r>
            <a:endParaRPr lang="en-US" sz="1800" dirty="0"/>
          </a:p>
        </p:txBody>
      </p:sp>
      <p:sp>
        <p:nvSpPr>
          <p:cNvPr id="9" name="Shape 7"/>
          <p:cNvSpPr/>
          <p:nvPr/>
        </p:nvSpPr>
        <p:spPr>
          <a:xfrm>
            <a:off x="626633" y="2514600"/>
            <a:ext cx="365760" cy="365760"/>
          </a:xfrm>
          <a:prstGeom prst="ellipse">
            <a:avLst/>
          </a:prstGeom>
          <a:solidFill>
            <a:srgbClr val="5AB7A3"/>
          </a:solidFill>
          <a:ln/>
        </p:spPr>
        <p:txBody>
          <a:bodyPr/>
          <a:lstStyle/>
          <a:p>
            <a:endParaRPr lang="en-US"/>
          </a:p>
        </p:txBody>
      </p:sp>
      <p:sp>
        <p:nvSpPr>
          <p:cNvPr id="10" name="Text 8"/>
          <p:cNvSpPr/>
          <p:nvPr/>
        </p:nvSpPr>
        <p:spPr>
          <a:xfrm>
            <a:off x="626633" y="2514600"/>
            <a:ext cx="365760" cy="365760"/>
          </a:xfrm>
          <a:prstGeom prst="rect">
            <a:avLst/>
          </a:prstGeom>
          <a:noFill/>
          <a:ln/>
        </p:spPr>
        <p:txBody>
          <a:bodyPr wrap="square"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1" name="Text 9"/>
          <p:cNvSpPr/>
          <p:nvPr/>
        </p:nvSpPr>
        <p:spPr>
          <a:xfrm>
            <a:off x="1175273" y="2560320"/>
            <a:ext cx="8686800" cy="457200"/>
          </a:xfrm>
          <a:prstGeom prst="rect">
            <a:avLst/>
          </a:prstGeom>
          <a:noFill/>
          <a:ln/>
        </p:spPr>
        <p:txBody>
          <a:bodyPr wrap="square" rtlCol="0" anchor="t"/>
          <a:lstStyle/>
          <a:p>
            <a:pPr marL="0" indent="0" algn="l">
              <a:buNone/>
            </a:pPr>
            <a:r>
              <a:rPr lang="en-US" sz="1800" dirty="0">
                <a:solidFill>
                  <a:srgbClr val="39428E"/>
                </a:solidFill>
                <a:latin typeface="Calibri" pitchFamily="34" charset="0"/>
                <a:ea typeface="Calibri" pitchFamily="34" charset="-122"/>
                <a:cs typeface="Calibri" pitchFamily="34" charset="-120"/>
              </a:rPr>
              <a:t>Run Analysis: AI processes documents (1–8 minutes)</a:t>
            </a:r>
            <a:endParaRPr lang="en-US" sz="1800" dirty="0"/>
          </a:p>
        </p:txBody>
      </p:sp>
      <p:sp>
        <p:nvSpPr>
          <p:cNvPr id="12" name="Shape 10"/>
          <p:cNvSpPr/>
          <p:nvPr/>
        </p:nvSpPr>
        <p:spPr>
          <a:xfrm>
            <a:off x="626633" y="3200400"/>
            <a:ext cx="365760" cy="365760"/>
          </a:xfrm>
          <a:prstGeom prst="ellipse">
            <a:avLst/>
          </a:prstGeom>
          <a:solidFill>
            <a:srgbClr val="5AB7A3"/>
          </a:solidFill>
          <a:ln/>
        </p:spPr>
        <p:txBody>
          <a:bodyPr/>
          <a:lstStyle/>
          <a:p>
            <a:endParaRPr lang="en-US"/>
          </a:p>
        </p:txBody>
      </p:sp>
      <p:sp>
        <p:nvSpPr>
          <p:cNvPr id="13" name="Text 11"/>
          <p:cNvSpPr/>
          <p:nvPr/>
        </p:nvSpPr>
        <p:spPr>
          <a:xfrm>
            <a:off x="626633" y="3200400"/>
            <a:ext cx="365760" cy="365760"/>
          </a:xfrm>
          <a:prstGeom prst="rect">
            <a:avLst/>
          </a:prstGeom>
          <a:noFill/>
          <a:ln/>
        </p:spPr>
        <p:txBody>
          <a:bodyPr wrap="square"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4" name="Text 12"/>
          <p:cNvSpPr/>
          <p:nvPr/>
        </p:nvSpPr>
        <p:spPr>
          <a:xfrm>
            <a:off x="1175273" y="3246120"/>
            <a:ext cx="8686800" cy="457200"/>
          </a:xfrm>
          <a:prstGeom prst="rect">
            <a:avLst/>
          </a:prstGeom>
          <a:noFill/>
          <a:ln/>
        </p:spPr>
        <p:txBody>
          <a:bodyPr wrap="square" rtlCol="0" anchor="t"/>
          <a:lstStyle/>
          <a:p>
            <a:pPr marL="0" indent="0" algn="l">
              <a:buNone/>
            </a:pPr>
            <a:r>
              <a:rPr lang="en-US" sz="1800" dirty="0">
                <a:solidFill>
                  <a:srgbClr val="39428E"/>
                </a:solidFill>
                <a:latin typeface="Calibri" pitchFamily="34" charset="0"/>
                <a:ea typeface="Calibri" pitchFamily="34" charset="-122"/>
                <a:cs typeface="Calibri" pitchFamily="34" charset="-120"/>
              </a:rPr>
              <a:t>Review Results: Verify findings letter, timeline, and document summaries</a:t>
            </a:r>
            <a:endParaRPr lang="en-US" sz="1800" dirty="0"/>
          </a:p>
        </p:txBody>
      </p:sp>
      <p:sp>
        <p:nvSpPr>
          <p:cNvPr id="15" name="Shape 13"/>
          <p:cNvSpPr/>
          <p:nvPr/>
        </p:nvSpPr>
        <p:spPr>
          <a:xfrm>
            <a:off x="626633" y="3886200"/>
            <a:ext cx="365760" cy="365760"/>
          </a:xfrm>
          <a:prstGeom prst="ellipse">
            <a:avLst/>
          </a:prstGeom>
          <a:solidFill>
            <a:srgbClr val="5AB7A3"/>
          </a:solidFill>
          <a:ln/>
        </p:spPr>
        <p:txBody>
          <a:bodyPr/>
          <a:lstStyle/>
          <a:p>
            <a:endParaRPr lang="en-US"/>
          </a:p>
        </p:txBody>
      </p:sp>
      <p:sp>
        <p:nvSpPr>
          <p:cNvPr id="16" name="Text 14"/>
          <p:cNvSpPr/>
          <p:nvPr/>
        </p:nvSpPr>
        <p:spPr>
          <a:xfrm>
            <a:off x="626633" y="3886200"/>
            <a:ext cx="365760" cy="365760"/>
          </a:xfrm>
          <a:prstGeom prst="rect">
            <a:avLst/>
          </a:prstGeom>
          <a:noFill/>
          <a:ln/>
        </p:spPr>
        <p:txBody>
          <a:bodyPr wrap="square"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7" name="Text 15"/>
          <p:cNvSpPr/>
          <p:nvPr/>
        </p:nvSpPr>
        <p:spPr>
          <a:xfrm>
            <a:off x="1175273" y="3931920"/>
            <a:ext cx="8686800" cy="457200"/>
          </a:xfrm>
          <a:prstGeom prst="rect">
            <a:avLst/>
          </a:prstGeom>
          <a:noFill/>
          <a:ln/>
        </p:spPr>
        <p:txBody>
          <a:bodyPr wrap="square" rtlCol="0" anchor="t"/>
          <a:lstStyle/>
          <a:p>
            <a:pPr marL="0" indent="0" algn="l">
              <a:buNone/>
            </a:pPr>
            <a:r>
              <a:rPr lang="en-US" sz="1800" dirty="0">
                <a:solidFill>
                  <a:srgbClr val="39428E"/>
                </a:solidFill>
                <a:latin typeface="Calibri" pitchFamily="34" charset="0"/>
                <a:ea typeface="Calibri" pitchFamily="34" charset="-122"/>
                <a:cs typeface="Calibri" pitchFamily="34" charset="-120"/>
              </a:rPr>
              <a:t>Export: Edit letter in-browser and export to HTML/Word</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6738F172-08B9-4BA5-B753-7D93472C0B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514607"/>
            <a:ext cx="9144000" cy="3079455"/>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10" name="Picture 9">
            <a:extLst>
              <a:ext uri="{FF2B5EF4-FFF2-40B4-BE49-F238E27FC236}">
                <a16:creationId xmlns:a16="http://schemas.microsoft.com/office/drawing/2014/main" id="{C900681B-C4FD-40B3-B5BC-C33231614C91}"/>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3">
            <a:extLst>
              <a:ext uri="{28A0092B-C50C-407E-A947-70E740481C1C}">
                <a14:useLocalDpi xmlns:a14="http://schemas.microsoft.com/office/drawing/2010/main" val="0"/>
              </a:ext>
            </a:extLst>
          </a:blip>
          <a:srcRect t="1538" b="-1538"/>
          <a:stretch/>
        </p:blipFill>
        <p:spPr bwMode="black">
          <a:xfrm>
            <a:off x="0" y="4594860"/>
            <a:ext cx="9144000" cy="557212"/>
          </a:xfrm>
          <a:prstGeom prst="rect">
            <a:avLst/>
          </a:prstGeom>
        </p:spPr>
      </p:pic>
      <p:cxnSp>
        <p:nvCxnSpPr>
          <p:cNvPr id="12" name="Straight Connector 11">
            <a:extLst>
              <a:ext uri="{FF2B5EF4-FFF2-40B4-BE49-F238E27FC236}">
                <a16:creationId xmlns:a16="http://schemas.microsoft.com/office/drawing/2014/main" id="{FEAACD67-2FB5-4530-9B74-8D946F1CE9E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4596309"/>
            <a:ext cx="9144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pic>
        <p:nvPicPr>
          <p:cNvPr id="3" name="Picture 2" descr="A screenshot of a computer&#10;&#10;AI-generated content may be incorrect.">
            <a:extLst>
              <a:ext uri="{FF2B5EF4-FFF2-40B4-BE49-F238E27FC236}">
                <a16:creationId xmlns:a16="http://schemas.microsoft.com/office/drawing/2014/main" id="{61DE5317-9DD3-9513-1E05-777D523E49E2}"/>
              </a:ext>
            </a:extLst>
          </p:cNvPr>
          <p:cNvPicPr>
            <a:picLocks noChangeAspect="1"/>
          </p:cNvPicPr>
          <p:nvPr/>
        </p:nvPicPr>
        <p:blipFill>
          <a:blip r:embed="rId4"/>
          <a:srcRect b="28783"/>
          <a:stretch>
            <a:fillRect/>
          </a:stretch>
        </p:blipFill>
        <p:spPr>
          <a:xfrm>
            <a:off x="20" y="10"/>
            <a:ext cx="9143980" cy="4590997"/>
          </a:xfrm>
          <a:prstGeom prst="rect">
            <a:avLst/>
          </a:prstGeom>
        </p:spPr>
      </p:pic>
    </p:spTree>
    <p:extLst>
      <p:ext uri="{BB962C8B-B14F-4D97-AF65-F5344CB8AC3E}">
        <p14:creationId xmlns:p14="http://schemas.microsoft.com/office/powerpoint/2010/main" val="309348781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6738F172-08B9-4BA5-B753-7D93472C0B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514607"/>
            <a:ext cx="9144000" cy="3079455"/>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19" name="Picture 18">
            <a:extLst>
              <a:ext uri="{FF2B5EF4-FFF2-40B4-BE49-F238E27FC236}">
                <a16:creationId xmlns:a16="http://schemas.microsoft.com/office/drawing/2014/main" id="{C900681B-C4FD-40B3-B5BC-C33231614C91}"/>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3">
            <a:extLst>
              <a:ext uri="{28A0092B-C50C-407E-A947-70E740481C1C}">
                <a14:useLocalDpi xmlns:a14="http://schemas.microsoft.com/office/drawing/2010/main" val="0"/>
              </a:ext>
            </a:extLst>
          </a:blip>
          <a:srcRect t="1538" b="-1538"/>
          <a:stretch/>
        </p:blipFill>
        <p:spPr bwMode="black">
          <a:xfrm>
            <a:off x="0" y="4594860"/>
            <a:ext cx="9144000" cy="557212"/>
          </a:xfrm>
          <a:prstGeom prst="rect">
            <a:avLst/>
          </a:prstGeom>
        </p:spPr>
      </p:pic>
      <p:cxnSp>
        <p:nvCxnSpPr>
          <p:cNvPr id="20" name="Straight Connector 19">
            <a:extLst>
              <a:ext uri="{FF2B5EF4-FFF2-40B4-BE49-F238E27FC236}">
                <a16:creationId xmlns:a16="http://schemas.microsoft.com/office/drawing/2014/main" id="{FEAACD67-2FB5-4530-9B74-8D946F1CE9E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4596309"/>
            <a:ext cx="9144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pic>
        <p:nvPicPr>
          <p:cNvPr id="3" name="Picture 2" descr="A screenshot of a web page&#10;&#10;AI-generated content may be incorrect.">
            <a:extLst>
              <a:ext uri="{FF2B5EF4-FFF2-40B4-BE49-F238E27FC236}">
                <a16:creationId xmlns:a16="http://schemas.microsoft.com/office/drawing/2014/main" id="{E7787325-3544-8577-0AB3-752143048F4B}"/>
              </a:ext>
            </a:extLst>
          </p:cNvPr>
          <p:cNvPicPr>
            <a:picLocks noChangeAspect="1"/>
          </p:cNvPicPr>
          <p:nvPr/>
        </p:nvPicPr>
        <p:blipFill>
          <a:blip r:embed="rId4"/>
          <a:srcRect b="28783"/>
          <a:stretch>
            <a:fillRect/>
          </a:stretch>
        </p:blipFill>
        <p:spPr>
          <a:xfrm>
            <a:off x="20" y="10"/>
            <a:ext cx="9143980" cy="4590997"/>
          </a:xfrm>
          <a:prstGeom prst="rect">
            <a:avLst/>
          </a:prstGeom>
        </p:spPr>
      </p:pic>
    </p:spTree>
    <p:extLst>
      <p:ext uri="{BB962C8B-B14F-4D97-AF65-F5344CB8AC3E}">
        <p14:creationId xmlns:p14="http://schemas.microsoft.com/office/powerpoint/2010/main" val="409979172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6738F172-08B9-4BA5-B753-7D93472C0B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514607"/>
            <a:ext cx="9144000" cy="3079455"/>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10" name="Picture 9">
            <a:extLst>
              <a:ext uri="{FF2B5EF4-FFF2-40B4-BE49-F238E27FC236}">
                <a16:creationId xmlns:a16="http://schemas.microsoft.com/office/drawing/2014/main" id="{C900681B-C4FD-40B3-B5BC-C33231614C91}"/>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3">
            <a:extLst>
              <a:ext uri="{28A0092B-C50C-407E-A947-70E740481C1C}">
                <a14:useLocalDpi xmlns:a14="http://schemas.microsoft.com/office/drawing/2010/main" val="0"/>
              </a:ext>
            </a:extLst>
          </a:blip>
          <a:srcRect t="1538" b="-1538"/>
          <a:stretch/>
        </p:blipFill>
        <p:spPr bwMode="black">
          <a:xfrm>
            <a:off x="0" y="4594860"/>
            <a:ext cx="9144000" cy="557212"/>
          </a:xfrm>
          <a:prstGeom prst="rect">
            <a:avLst/>
          </a:prstGeom>
        </p:spPr>
      </p:pic>
      <p:cxnSp>
        <p:nvCxnSpPr>
          <p:cNvPr id="12" name="Straight Connector 11">
            <a:extLst>
              <a:ext uri="{FF2B5EF4-FFF2-40B4-BE49-F238E27FC236}">
                <a16:creationId xmlns:a16="http://schemas.microsoft.com/office/drawing/2014/main" id="{FEAACD67-2FB5-4530-9B74-8D946F1CE9E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4596309"/>
            <a:ext cx="9144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pic>
        <p:nvPicPr>
          <p:cNvPr id="3" name="Picture 2" descr="A screenshot of a computer&#10;&#10;AI-generated content may be incorrect.">
            <a:extLst>
              <a:ext uri="{FF2B5EF4-FFF2-40B4-BE49-F238E27FC236}">
                <a16:creationId xmlns:a16="http://schemas.microsoft.com/office/drawing/2014/main" id="{0429847A-151B-CD63-A01D-D869F0E12483}"/>
              </a:ext>
            </a:extLst>
          </p:cNvPr>
          <p:cNvPicPr>
            <a:picLocks noChangeAspect="1"/>
          </p:cNvPicPr>
          <p:nvPr/>
        </p:nvPicPr>
        <p:blipFill>
          <a:blip r:embed="rId4"/>
          <a:srcRect t="14440" b="14343"/>
          <a:stretch>
            <a:fillRect/>
          </a:stretch>
        </p:blipFill>
        <p:spPr>
          <a:xfrm>
            <a:off x="20" y="10"/>
            <a:ext cx="9143980" cy="4590997"/>
          </a:xfrm>
          <a:prstGeom prst="rect">
            <a:avLst/>
          </a:prstGeom>
        </p:spPr>
      </p:pic>
    </p:spTree>
    <p:extLst>
      <p:ext uri="{BB962C8B-B14F-4D97-AF65-F5344CB8AC3E}">
        <p14:creationId xmlns:p14="http://schemas.microsoft.com/office/powerpoint/2010/main" val="34933658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31" name="Rectangle 30">
            <a:extLst>
              <a:ext uri="{FF2B5EF4-FFF2-40B4-BE49-F238E27FC236}">
                <a16:creationId xmlns:a16="http://schemas.microsoft.com/office/drawing/2014/main" id="{6738F172-08B9-4BA5-B753-7D93472C0B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514607"/>
            <a:ext cx="9144000" cy="3079455"/>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33" name="Picture 32">
            <a:extLst>
              <a:ext uri="{FF2B5EF4-FFF2-40B4-BE49-F238E27FC236}">
                <a16:creationId xmlns:a16="http://schemas.microsoft.com/office/drawing/2014/main" id="{C900681B-C4FD-40B3-B5BC-C33231614C91}"/>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3">
            <a:extLst>
              <a:ext uri="{28A0092B-C50C-407E-A947-70E740481C1C}">
                <a14:useLocalDpi xmlns:a14="http://schemas.microsoft.com/office/drawing/2010/main" val="0"/>
              </a:ext>
            </a:extLst>
          </a:blip>
          <a:srcRect t="1538" b="-1538"/>
          <a:stretch/>
        </p:blipFill>
        <p:spPr bwMode="black">
          <a:xfrm>
            <a:off x="0" y="4594860"/>
            <a:ext cx="9144000" cy="557212"/>
          </a:xfrm>
          <a:prstGeom prst="rect">
            <a:avLst/>
          </a:prstGeom>
        </p:spPr>
      </p:pic>
      <p:cxnSp>
        <p:nvCxnSpPr>
          <p:cNvPr id="35" name="Straight Connector 34">
            <a:extLst>
              <a:ext uri="{FF2B5EF4-FFF2-40B4-BE49-F238E27FC236}">
                <a16:creationId xmlns:a16="http://schemas.microsoft.com/office/drawing/2014/main" id="{FEAACD67-2FB5-4530-9B74-8D946F1CE9E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4596309"/>
            <a:ext cx="9144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pic>
        <p:nvPicPr>
          <p:cNvPr id="5" name="Picture 4" descr="A screenshot of a computer&#10;&#10;AI-generated content may be incorrect.">
            <a:extLst>
              <a:ext uri="{FF2B5EF4-FFF2-40B4-BE49-F238E27FC236}">
                <a16:creationId xmlns:a16="http://schemas.microsoft.com/office/drawing/2014/main" id="{A02200B1-D258-C585-2A35-818CE16705CB}"/>
              </a:ext>
            </a:extLst>
          </p:cNvPr>
          <p:cNvPicPr>
            <a:picLocks noChangeAspect="1"/>
          </p:cNvPicPr>
          <p:nvPr/>
        </p:nvPicPr>
        <p:blipFill>
          <a:blip r:embed="rId4"/>
          <a:srcRect t="18394" b="10390"/>
          <a:stretch>
            <a:fillRect/>
          </a:stretch>
        </p:blipFill>
        <p:spPr>
          <a:xfrm>
            <a:off x="20" y="10"/>
            <a:ext cx="9143980" cy="4590997"/>
          </a:xfrm>
          <a:prstGeom prst="rect">
            <a:avLst/>
          </a:prstGeom>
        </p:spPr>
      </p:pic>
    </p:spTree>
    <p:extLst>
      <p:ext uri="{BB962C8B-B14F-4D97-AF65-F5344CB8AC3E}">
        <p14:creationId xmlns:p14="http://schemas.microsoft.com/office/powerpoint/2010/main" val="5530917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6738F172-08B9-4BA5-B753-7D93472C0B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514607"/>
            <a:ext cx="9144000" cy="3079455"/>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10" name="Picture 9">
            <a:extLst>
              <a:ext uri="{FF2B5EF4-FFF2-40B4-BE49-F238E27FC236}">
                <a16:creationId xmlns:a16="http://schemas.microsoft.com/office/drawing/2014/main" id="{C900681B-C4FD-40B3-B5BC-C33231614C91}"/>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3">
            <a:extLst>
              <a:ext uri="{28A0092B-C50C-407E-A947-70E740481C1C}">
                <a14:useLocalDpi xmlns:a14="http://schemas.microsoft.com/office/drawing/2010/main" val="0"/>
              </a:ext>
            </a:extLst>
          </a:blip>
          <a:srcRect t="1538" b="-1538"/>
          <a:stretch/>
        </p:blipFill>
        <p:spPr bwMode="black">
          <a:xfrm>
            <a:off x="0" y="4594860"/>
            <a:ext cx="9144000" cy="557212"/>
          </a:xfrm>
          <a:prstGeom prst="rect">
            <a:avLst/>
          </a:prstGeom>
        </p:spPr>
      </p:pic>
      <p:cxnSp>
        <p:nvCxnSpPr>
          <p:cNvPr id="12" name="Straight Connector 11">
            <a:extLst>
              <a:ext uri="{FF2B5EF4-FFF2-40B4-BE49-F238E27FC236}">
                <a16:creationId xmlns:a16="http://schemas.microsoft.com/office/drawing/2014/main" id="{FEAACD67-2FB5-4530-9B74-8D946F1CE9E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4596309"/>
            <a:ext cx="9144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pic>
        <p:nvPicPr>
          <p:cNvPr id="3" name="Picture 2" descr="A screenshot of a chat&#10;&#10;AI-generated content may be incorrect.">
            <a:extLst>
              <a:ext uri="{FF2B5EF4-FFF2-40B4-BE49-F238E27FC236}">
                <a16:creationId xmlns:a16="http://schemas.microsoft.com/office/drawing/2014/main" id="{D5A7E6C9-6262-8E66-592D-7F61F571F94B}"/>
              </a:ext>
            </a:extLst>
          </p:cNvPr>
          <p:cNvPicPr>
            <a:picLocks noChangeAspect="1"/>
          </p:cNvPicPr>
          <p:nvPr/>
        </p:nvPicPr>
        <p:blipFill>
          <a:blip r:embed="rId4"/>
          <a:srcRect t="18214" b="10569"/>
          <a:stretch>
            <a:fillRect/>
          </a:stretch>
        </p:blipFill>
        <p:spPr>
          <a:xfrm>
            <a:off x="20" y="10"/>
            <a:ext cx="9143980" cy="4590997"/>
          </a:xfrm>
          <a:prstGeom prst="rect">
            <a:avLst/>
          </a:prstGeom>
        </p:spPr>
      </p:pic>
    </p:spTree>
    <p:extLst>
      <p:ext uri="{BB962C8B-B14F-4D97-AF65-F5344CB8AC3E}">
        <p14:creationId xmlns:p14="http://schemas.microsoft.com/office/powerpoint/2010/main" val="333811891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6738F172-08B9-4BA5-B753-7D93472C0B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514607"/>
            <a:ext cx="9144000" cy="3079455"/>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10" name="Picture 9">
            <a:extLst>
              <a:ext uri="{FF2B5EF4-FFF2-40B4-BE49-F238E27FC236}">
                <a16:creationId xmlns:a16="http://schemas.microsoft.com/office/drawing/2014/main" id="{C900681B-C4FD-40B3-B5BC-C33231614C91}"/>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3">
            <a:extLst>
              <a:ext uri="{28A0092B-C50C-407E-A947-70E740481C1C}">
                <a14:useLocalDpi xmlns:a14="http://schemas.microsoft.com/office/drawing/2010/main" val="0"/>
              </a:ext>
            </a:extLst>
          </a:blip>
          <a:srcRect t="1538" b="-1538"/>
          <a:stretch/>
        </p:blipFill>
        <p:spPr bwMode="black">
          <a:xfrm>
            <a:off x="0" y="4594860"/>
            <a:ext cx="9144000" cy="557212"/>
          </a:xfrm>
          <a:prstGeom prst="rect">
            <a:avLst/>
          </a:prstGeom>
        </p:spPr>
      </p:pic>
      <p:cxnSp>
        <p:nvCxnSpPr>
          <p:cNvPr id="12" name="Straight Connector 11">
            <a:extLst>
              <a:ext uri="{FF2B5EF4-FFF2-40B4-BE49-F238E27FC236}">
                <a16:creationId xmlns:a16="http://schemas.microsoft.com/office/drawing/2014/main" id="{FEAACD67-2FB5-4530-9B74-8D946F1CE9E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4596309"/>
            <a:ext cx="9144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pic>
        <p:nvPicPr>
          <p:cNvPr id="3" name="Picture 2" descr="A screenshot of a computer&#10;&#10;AI-generated content may be incorrect.">
            <a:extLst>
              <a:ext uri="{FF2B5EF4-FFF2-40B4-BE49-F238E27FC236}">
                <a16:creationId xmlns:a16="http://schemas.microsoft.com/office/drawing/2014/main" id="{70704360-527B-CD3D-CB6A-20BF12D05754}"/>
              </a:ext>
            </a:extLst>
          </p:cNvPr>
          <p:cNvPicPr>
            <a:picLocks noChangeAspect="1"/>
          </p:cNvPicPr>
          <p:nvPr/>
        </p:nvPicPr>
        <p:blipFill>
          <a:blip r:embed="rId4"/>
          <a:srcRect t="14363" b="14420"/>
          <a:stretch>
            <a:fillRect/>
          </a:stretch>
        </p:blipFill>
        <p:spPr>
          <a:xfrm>
            <a:off x="20" y="10"/>
            <a:ext cx="9143980" cy="4590997"/>
          </a:xfrm>
          <a:prstGeom prst="rect">
            <a:avLst/>
          </a:prstGeom>
        </p:spPr>
      </p:pic>
    </p:spTree>
    <p:extLst>
      <p:ext uri="{BB962C8B-B14F-4D97-AF65-F5344CB8AC3E}">
        <p14:creationId xmlns:p14="http://schemas.microsoft.com/office/powerpoint/2010/main" val="197512890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6738F172-08B9-4BA5-B753-7D93472C0B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514607"/>
            <a:ext cx="9144000" cy="3079455"/>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10" name="Picture 9">
            <a:extLst>
              <a:ext uri="{FF2B5EF4-FFF2-40B4-BE49-F238E27FC236}">
                <a16:creationId xmlns:a16="http://schemas.microsoft.com/office/drawing/2014/main" id="{C900681B-C4FD-40B3-B5BC-C33231614C91}"/>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3">
            <a:extLst>
              <a:ext uri="{28A0092B-C50C-407E-A947-70E740481C1C}">
                <a14:useLocalDpi xmlns:a14="http://schemas.microsoft.com/office/drawing/2010/main" val="0"/>
              </a:ext>
            </a:extLst>
          </a:blip>
          <a:srcRect t="1538" b="-1538"/>
          <a:stretch/>
        </p:blipFill>
        <p:spPr bwMode="black">
          <a:xfrm>
            <a:off x="0" y="4594860"/>
            <a:ext cx="9144000" cy="557212"/>
          </a:xfrm>
          <a:prstGeom prst="rect">
            <a:avLst/>
          </a:prstGeom>
        </p:spPr>
      </p:pic>
      <p:cxnSp>
        <p:nvCxnSpPr>
          <p:cNvPr id="12" name="Straight Connector 11">
            <a:extLst>
              <a:ext uri="{FF2B5EF4-FFF2-40B4-BE49-F238E27FC236}">
                <a16:creationId xmlns:a16="http://schemas.microsoft.com/office/drawing/2014/main" id="{FEAACD67-2FB5-4530-9B74-8D946F1CE9E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4596309"/>
            <a:ext cx="9144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pic>
        <p:nvPicPr>
          <p:cNvPr id="3" name="Picture 2" descr="A screenshot of a computer&#10;&#10;AI-generated content may be incorrect.">
            <a:extLst>
              <a:ext uri="{FF2B5EF4-FFF2-40B4-BE49-F238E27FC236}">
                <a16:creationId xmlns:a16="http://schemas.microsoft.com/office/drawing/2014/main" id="{1AEEA920-9C91-F17C-F60B-1C8612806B4C}"/>
              </a:ext>
            </a:extLst>
          </p:cNvPr>
          <p:cNvPicPr>
            <a:picLocks noChangeAspect="1"/>
          </p:cNvPicPr>
          <p:nvPr/>
        </p:nvPicPr>
        <p:blipFill>
          <a:blip r:embed="rId4"/>
          <a:srcRect b="28783"/>
          <a:stretch>
            <a:fillRect/>
          </a:stretch>
        </p:blipFill>
        <p:spPr>
          <a:xfrm>
            <a:off x="20" y="10"/>
            <a:ext cx="9143980" cy="4590997"/>
          </a:xfrm>
          <a:prstGeom prst="rect">
            <a:avLst/>
          </a:prstGeom>
        </p:spPr>
      </p:pic>
    </p:spTree>
    <p:extLst>
      <p:ext uri="{BB962C8B-B14F-4D97-AF65-F5344CB8AC3E}">
        <p14:creationId xmlns:p14="http://schemas.microsoft.com/office/powerpoint/2010/main" val="64917338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6738F172-08B9-4BA5-B753-7D93472C0B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514607"/>
            <a:ext cx="9144000" cy="3079455"/>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10" name="Picture 9">
            <a:extLst>
              <a:ext uri="{FF2B5EF4-FFF2-40B4-BE49-F238E27FC236}">
                <a16:creationId xmlns:a16="http://schemas.microsoft.com/office/drawing/2014/main" id="{C900681B-C4FD-40B3-B5BC-C33231614C91}"/>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3">
            <a:extLst>
              <a:ext uri="{28A0092B-C50C-407E-A947-70E740481C1C}">
                <a14:useLocalDpi xmlns:a14="http://schemas.microsoft.com/office/drawing/2010/main" val="0"/>
              </a:ext>
            </a:extLst>
          </a:blip>
          <a:srcRect t="1538" b="-1538"/>
          <a:stretch/>
        </p:blipFill>
        <p:spPr bwMode="black">
          <a:xfrm>
            <a:off x="0" y="4594860"/>
            <a:ext cx="9144000" cy="557212"/>
          </a:xfrm>
          <a:prstGeom prst="rect">
            <a:avLst/>
          </a:prstGeom>
        </p:spPr>
      </p:pic>
      <p:cxnSp>
        <p:nvCxnSpPr>
          <p:cNvPr id="12" name="Straight Connector 11">
            <a:extLst>
              <a:ext uri="{FF2B5EF4-FFF2-40B4-BE49-F238E27FC236}">
                <a16:creationId xmlns:a16="http://schemas.microsoft.com/office/drawing/2014/main" id="{FEAACD67-2FB5-4530-9B74-8D946F1CE9E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4596309"/>
            <a:ext cx="9144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pic>
        <p:nvPicPr>
          <p:cNvPr id="3" name="Picture 2" descr="A screenshot of a computer&#10;&#10;AI-generated content may be incorrect.">
            <a:extLst>
              <a:ext uri="{FF2B5EF4-FFF2-40B4-BE49-F238E27FC236}">
                <a16:creationId xmlns:a16="http://schemas.microsoft.com/office/drawing/2014/main" id="{1BBA9649-FCB6-EF01-B9F9-06206F78A285}"/>
              </a:ext>
            </a:extLst>
          </p:cNvPr>
          <p:cNvPicPr>
            <a:picLocks noChangeAspect="1"/>
          </p:cNvPicPr>
          <p:nvPr/>
        </p:nvPicPr>
        <p:blipFill>
          <a:blip r:embed="rId4"/>
          <a:srcRect t="18775" b="10008"/>
          <a:stretch>
            <a:fillRect/>
          </a:stretch>
        </p:blipFill>
        <p:spPr>
          <a:xfrm>
            <a:off x="20" y="10"/>
            <a:ext cx="9143980" cy="4590997"/>
          </a:xfrm>
          <a:prstGeom prst="rect">
            <a:avLst/>
          </a:prstGeom>
        </p:spPr>
      </p:pic>
    </p:spTree>
    <p:extLst>
      <p:ext uri="{BB962C8B-B14F-4D97-AF65-F5344CB8AC3E}">
        <p14:creationId xmlns:p14="http://schemas.microsoft.com/office/powerpoint/2010/main" val="240487608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6738F172-08B9-4BA5-B753-7D93472C0B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514607"/>
            <a:ext cx="9144000" cy="3079455"/>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10" name="Picture 9">
            <a:extLst>
              <a:ext uri="{FF2B5EF4-FFF2-40B4-BE49-F238E27FC236}">
                <a16:creationId xmlns:a16="http://schemas.microsoft.com/office/drawing/2014/main" id="{C900681B-C4FD-40B3-B5BC-C33231614C91}"/>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3">
            <a:extLst>
              <a:ext uri="{28A0092B-C50C-407E-A947-70E740481C1C}">
                <a14:useLocalDpi xmlns:a14="http://schemas.microsoft.com/office/drawing/2010/main" val="0"/>
              </a:ext>
            </a:extLst>
          </a:blip>
          <a:srcRect t="1538" b="-1538"/>
          <a:stretch/>
        </p:blipFill>
        <p:spPr bwMode="black">
          <a:xfrm>
            <a:off x="0" y="4594860"/>
            <a:ext cx="9144000" cy="557212"/>
          </a:xfrm>
          <a:prstGeom prst="rect">
            <a:avLst/>
          </a:prstGeom>
        </p:spPr>
      </p:pic>
      <p:cxnSp>
        <p:nvCxnSpPr>
          <p:cNvPr id="12" name="Straight Connector 11">
            <a:extLst>
              <a:ext uri="{FF2B5EF4-FFF2-40B4-BE49-F238E27FC236}">
                <a16:creationId xmlns:a16="http://schemas.microsoft.com/office/drawing/2014/main" id="{FEAACD67-2FB5-4530-9B74-8D946F1CE9E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4596309"/>
            <a:ext cx="9144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pic>
        <p:nvPicPr>
          <p:cNvPr id="3" name="Picture 2" descr="A screenshot of a computer&#10;&#10;AI-generated content may be incorrect.">
            <a:extLst>
              <a:ext uri="{FF2B5EF4-FFF2-40B4-BE49-F238E27FC236}">
                <a16:creationId xmlns:a16="http://schemas.microsoft.com/office/drawing/2014/main" id="{61E9AFA9-E1CE-E833-DDBF-8BB76123F4C6}"/>
              </a:ext>
            </a:extLst>
          </p:cNvPr>
          <p:cNvPicPr>
            <a:picLocks noChangeAspect="1"/>
          </p:cNvPicPr>
          <p:nvPr/>
        </p:nvPicPr>
        <p:blipFill>
          <a:blip r:embed="rId4"/>
          <a:srcRect b="28783"/>
          <a:stretch>
            <a:fillRect/>
          </a:stretch>
        </p:blipFill>
        <p:spPr>
          <a:xfrm>
            <a:off x="20" y="10"/>
            <a:ext cx="9143980" cy="4590997"/>
          </a:xfrm>
          <a:prstGeom prst="rect">
            <a:avLst/>
          </a:prstGeom>
        </p:spPr>
      </p:pic>
    </p:spTree>
    <p:extLst>
      <p:ext uri="{BB962C8B-B14F-4D97-AF65-F5344CB8AC3E}">
        <p14:creationId xmlns:p14="http://schemas.microsoft.com/office/powerpoint/2010/main" val="295687893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6738F172-08B9-4BA5-B753-7D93472C0B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514607"/>
            <a:ext cx="9144000" cy="3079455"/>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10" name="Picture 9">
            <a:extLst>
              <a:ext uri="{FF2B5EF4-FFF2-40B4-BE49-F238E27FC236}">
                <a16:creationId xmlns:a16="http://schemas.microsoft.com/office/drawing/2014/main" id="{C900681B-C4FD-40B3-B5BC-C33231614C91}"/>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3">
            <a:extLst>
              <a:ext uri="{28A0092B-C50C-407E-A947-70E740481C1C}">
                <a14:useLocalDpi xmlns:a14="http://schemas.microsoft.com/office/drawing/2010/main" val="0"/>
              </a:ext>
            </a:extLst>
          </a:blip>
          <a:srcRect t="1538" b="-1538"/>
          <a:stretch/>
        </p:blipFill>
        <p:spPr bwMode="black">
          <a:xfrm>
            <a:off x="0" y="4594860"/>
            <a:ext cx="9144000" cy="557212"/>
          </a:xfrm>
          <a:prstGeom prst="rect">
            <a:avLst/>
          </a:prstGeom>
        </p:spPr>
      </p:pic>
      <p:cxnSp>
        <p:nvCxnSpPr>
          <p:cNvPr id="12" name="Straight Connector 11">
            <a:extLst>
              <a:ext uri="{FF2B5EF4-FFF2-40B4-BE49-F238E27FC236}">
                <a16:creationId xmlns:a16="http://schemas.microsoft.com/office/drawing/2014/main" id="{FEAACD67-2FB5-4530-9B74-8D946F1CE9E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4596309"/>
            <a:ext cx="9144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pic>
        <p:nvPicPr>
          <p:cNvPr id="3" name="Picture 2" descr="A screenshot of a computer&#10;&#10;AI-generated content may be incorrect.">
            <a:extLst>
              <a:ext uri="{FF2B5EF4-FFF2-40B4-BE49-F238E27FC236}">
                <a16:creationId xmlns:a16="http://schemas.microsoft.com/office/drawing/2014/main" id="{129DBC85-E44B-99E5-1E2D-D9BABD706BC5}"/>
              </a:ext>
            </a:extLst>
          </p:cNvPr>
          <p:cNvPicPr>
            <a:picLocks noChangeAspect="1"/>
          </p:cNvPicPr>
          <p:nvPr/>
        </p:nvPicPr>
        <p:blipFill>
          <a:blip r:embed="rId4"/>
          <a:srcRect t="24939" b="3844"/>
          <a:stretch>
            <a:fillRect/>
          </a:stretch>
        </p:blipFill>
        <p:spPr>
          <a:xfrm>
            <a:off x="20" y="10"/>
            <a:ext cx="9143980" cy="4590997"/>
          </a:xfrm>
          <a:prstGeom prst="rect">
            <a:avLst/>
          </a:prstGeom>
        </p:spPr>
      </p:pic>
    </p:spTree>
    <p:extLst>
      <p:ext uri="{BB962C8B-B14F-4D97-AF65-F5344CB8AC3E}">
        <p14:creationId xmlns:p14="http://schemas.microsoft.com/office/powerpoint/2010/main" val="28766853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6738F172-08B9-4BA5-B753-7D93472C0B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514607"/>
            <a:ext cx="9144000" cy="3079455"/>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10" name="Picture 9">
            <a:extLst>
              <a:ext uri="{FF2B5EF4-FFF2-40B4-BE49-F238E27FC236}">
                <a16:creationId xmlns:a16="http://schemas.microsoft.com/office/drawing/2014/main" id="{C900681B-C4FD-40B3-B5BC-C33231614C91}"/>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3">
            <a:extLst>
              <a:ext uri="{28A0092B-C50C-407E-A947-70E740481C1C}">
                <a14:useLocalDpi xmlns:a14="http://schemas.microsoft.com/office/drawing/2010/main" val="0"/>
              </a:ext>
            </a:extLst>
          </a:blip>
          <a:srcRect t="1538" b="-1538"/>
          <a:stretch/>
        </p:blipFill>
        <p:spPr bwMode="black">
          <a:xfrm>
            <a:off x="0" y="4594860"/>
            <a:ext cx="9144000" cy="557212"/>
          </a:xfrm>
          <a:prstGeom prst="rect">
            <a:avLst/>
          </a:prstGeom>
        </p:spPr>
      </p:pic>
      <p:cxnSp>
        <p:nvCxnSpPr>
          <p:cNvPr id="12" name="Straight Connector 11">
            <a:extLst>
              <a:ext uri="{FF2B5EF4-FFF2-40B4-BE49-F238E27FC236}">
                <a16:creationId xmlns:a16="http://schemas.microsoft.com/office/drawing/2014/main" id="{FEAACD67-2FB5-4530-9B74-8D946F1CE9E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4596309"/>
            <a:ext cx="9144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pic>
        <p:nvPicPr>
          <p:cNvPr id="3" name="Picture 2" descr="A screenshot of a computer&#10;&#10;AI-generated content may be incorrect.">
            <a:extLst>
              <a:ext uri="{FF2B5EF4-FFF2-40B4-BE49-F238E27FC236}">
                <a16:creationId xmlns:a16="http://schemas.microsoft.com/office/drawing/2014/main" id="{680E4E30-D859-E7F1-E7A1-3AB2ACC61BBC}"/>
              </a:ext>
            </a:extLst>
          </p:cNvPr>
          <p:cNvPicPr>
            <a:picLocks noChangeAspect="1"/>
          </p:cNvPicPr>
          <p:nvPr/>
        </p:nvPicPr>
        <p:blipFill>
          <a:blip r:embed="rId4"/>
          <a:srcRect t="23202" b="5581"/>
          <a:stretch>
            <a:fillRect/>
          </a:stretch>
        </p:blipFill>
        <p:spPr>
          <a:xfrm>
            <a:off x="20" y="10"/>
            <a:ext cx="9143980" cy="4590997"/>
          </a:xfrm>
          <a:prstGeom prst="rect">
            <a:avLst/>
          </a:prstGeom>
        </p:spPr>
      </p:pic>
    </p:spTree>
    <p:extLst>
      <p:ext uri="{BB962C8B-B14F-4D97-AF65-F5344CB8AC3E}">
        <p14:creationId xmlns:p14="http://schemas.microsoft.com/office/powerpoint/2010/main" val="392024026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6738F172-08B9-4BA5-B753-7D93472C0B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514607"/>
            <a:ext cx="9144000" cy="3079455"/>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10" name="Picture 9">
            <a:extLst>
              <a:ext uri="{FF2B5EF4-FFF2-40B4-BE49-F238E27FC236}">
                <a16:creationId xmlns:a16="http://schemas.microsoft.com/office/drawing/2014/main" id="{C900681B-C4FD-40B3-B5BC-C33231614C91}"/>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3">
            <a:extLst>
              <a:ext uri="{28A0092B-C50C-407E-A947-70E740481C1C}">
                <a14:useLocalDpi xmlns:a14="http://schemas.microsoft.com/office/drawing/2010/main" val="0"/>
              </a:ext>
            </a:extLst>
          </a:blip>
          <a:srcRect t="1538" b="-1538"/>
          <a:stretch/>
        </p:blipFill>
        <p:spPr bwMode="black">
          <a:xfrm>
            <a:off x="0" y="4594860"/>
            <a:ext cx="9144000" cy="557212"/>
          </a:xfrm>
          <a:prstGeom prst="rect">
            <a:avLst/>
          </a:prstGeom>
        </p:spPr>
      </p:pic>
      <p:cxnSp>
        <p:nvCxnSpPr>
          <p:cNvPr id="12" name="Straight Connector 11">
            <a:extLst>
              <a:ext uri="{FF2B5EF4-FFF2-40B4-BE49-F238E27FC236}">
                <a16:creationId xmlns:a16="http://schemas.microsoft.com/office/drawing/2014/main" id="{FEAACD67-2FB5-4530-9B74-8D946F1CE9E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4596309"/>
            <a:ext cx="9144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pic>
        <p:nvPicPr>
          <p:cNvPr id="3" name="Picture 2" descr="A screenshot of a computer&#10;&#10;AI-generated content may be incorrect.">
            <a:extLst>
              <a:ext uri="{FF2B5EF4-FFF2-40B4-BE49-F238E27FC236}">
                <a16:creationId xmlns:a16="http://schemas.microsoft.com/office/drawing/2014/main" id="{D0524FF6-0C80-9C03-E82D-B818DBD1235E}"/>
              </a:ext>
            </a:extLst>
          </p:cNvPr>
          <p:cNvPicPr>
            <a:picLocks noChangeAspect="1"/>
          </p:cNvPicPr>
          <p:nvPr/>
        </p:nvPicPr>
        <p:blipFill>
          <a:blip r:embed="rId4"/>
          <a:srcRect t="13329" b="15454"/>
          <a:stretch>
            <a:fillRect/>
          </a:stretch>
        </p:blipFill>
        <p:spPr>
          <a:xfrm>
            <a:off x="20" y="10"/>
            <a:ext cx="9143980" cy="4590997"/>
          </a:xfrm>
          <a:prstGeom prst="rect">
            <a:avLst/>
          </a:prstGeom>
        </p:spPr>
      </p:pic>
    </p:spTree>
    <p:extLst>
      <p:ext uri="{BB962C8B-B14F-4D97-AF65-F5344CB8AC3E}">
        <p14:creationId xmlns:p14="http://schemas.microsoft.com/office/powerpoint/2010/main" val="352237201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1">
                <a:tint val="94000"/>
                <a:satMod val="80000"/>
                <a:lumMod val="106000"/>
              </a:schemeClr>
            </a:gs>
            <a:gs pos="100000">
              <a:schemeClr val="bg1">
                <a:shade val="80000"/>
              </a:schemeClr>
            </a:gs>
          </a:gsLst>
          <a:path path="circle">
            <a:fillToRect l="50000" t="50000" r="50000" b="50000"/>
          </a:path>
        </a:gra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23522FE7-5A29-4EF6-B1EF-2CA55748A7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514607"/>
            <a:ext cx="9144000" cy="3079455"/>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12" name="Picture 11">
            <a:extLst>
              <a:ext uri="{FF2B5EF4-FFF2-40B4-BE49-F238E27FC236}">
                <a16:creationId xmlns:a16="http://schemas.microsoft.com/office/drawing/2014/main" id="{C2192E09-EBC7-416C-B887-DFF915D7F43D}"/>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3">
            <a:extLst>
              <a:ext uri="{28A0092B-C50C-407E-A947-70E740481C1C}">
                <a14:useLocalDpi xmlns:a14="http://schemas.microsoft.com/office/drawing/2010/main" val="0"/>
              </a:ext>
            </a:extLst>
          </a:blip>
          <a:srcRect t="1538" b="-1538"/>
          <a:stretch/>
        </p:blipFill>
        <p:spPr bwMode="black">
          <a:xfrm>
            <a:off x="0" y="4594860"/>
            <a:ext cx="9144000" cy="557212"/>
          </a:xfrm>
          <a:prstGeom prst="rect">
            <a:avLst/>
          </a:prstGeom>
        </p:spPr>
      </p:pic>
      <p:cxnSp>
        <p:nvCxnSpPr>
          <p:cNvPr id="14" name="Straight Connector 13">
            <a:extLst>
              <a:ext uri="{FF2B5EF4-FFF2-40B4-BE49-F238E27FC236}">
                <a16:creationId xmlns:a16="http://schemas.microsoft.com/office/drawing/2014/main" id="{2924498D-E084-44BE-A196-CFCE3556435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4596309"/>
            <a:ext cx="9144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14C12901-9FCC-461E-A64A-89B4791235E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090422" y="1385316"/>
            <a:ext cx="7205641" cy="0"/>
          </a:xfrm>
          <a:prstGeom prst="line">
            <a:avLst/>
          </a:prstGeom>
          <a:ln w="31750"/>
        </p:spPr>
        <p:style>
          <a:lnRef idx="3">
            <a:schemeClr val="accent1"/>
          </a:lnRef>
          <a:fillRef idx="0">
            <a:schemeClr val="accent1"/>
          </a:fillRef>
          <a:effectRef idx="2">
            <a:schemeClr val="accent1"/>
          </a:effectRef>
          <a:fontRef idx="minor">
            <a:schemeClr val="tx1"/>
          </a:fontRef>
        </p:style>
      </p:cxnSp>
      <p:sp>
        <p:nvSpPr>
          <p:cNvPr id="2" name="Text 0"/>
          <p:cNvSpPr/>
          <p:nvPr/>
        </p:nvSpPr>
        <p:spPr>
          <a:xfrm>
            <a:off x="1088684" y="603389"/>
            <a:ext cx="7202456" cy="786926"/>
          </a:xfrm>
          <a:prstGeom prst="rect">
            <a:avLst/>
          </a:prstGeom>
        </p:spPr>
        <p:txBody>
          <a:bodyPr vert="horz" lIns="91440" tIns="45720" rIns="91440" bIns="45720" rtlCol="0" anchor="t">
            <a:normAutofit/>
          </a:bodyPr>
          <a:lstStyle/>
          <a:p>
            <a:pPr marL="0" indent="0" defTabSz="914400">
              <a:lnSpc>
                <a:spcPct val="90000"/>
              </a:lnSpc>
              <a:spcBef>
                <a:spcPct val="0"/>
              </a:spcBef>
              <a:spcAft>
                <a:spcPts val="600"/>
              </a:spcAft>
            </a:pPr>
            <a:r>
              <a:rPr lang="en-US" sz="3200" b="0" i="0" kern="1200" cap="all" dirty="0">
                <a:solidFill>
                  <a:schemeClr val="tx1"/>
                </a:solidFill>
                <a:effectLst/>
                <a:latin typeface="+mj-lt"/>
                <a:ea typeface="+mj-ea"/>
                <a:cs typeface="+mj-cs"/>
              </a:rPr>
              <a:t>Supported Documents &amp; Intake</a:t>
            </a:r>
          </a:p>
        </p:txBody>
      </p:sp>
      <p:sp>
        <p:nvSpPr>
          <p:cNvPr id="3" name="Text 1"/>
          <p:cNvSpPr/>
          <p:nvPr/>
        </p:nvSpPr>
        <p:spPr>
          <a:xfrm>
            <a:off x="1088684" y="1511799"/>
            <a:ext cx="7202456" cy="2587959"/>
          </a:xfrm>
          <a:prstGeom prst="rect">
            <a:avLst/>
          </a:prstGeom>
        </p:spPr>
        <p:txBody>
          <a:bodyPr vert="horz" lIns="91440" tIns="45720" rIns="91440" bIns="45720" rtlCol="0" anchor="t">
            <a:normAutofit/>
          </a:bodyPr>
          <a:lstStyle/>
          <a:p>
            <a:pPr marL="342900" indent="-228600" defTabSz="914400">
              <a:lnSpc>
                <a:spcPct val="120000"/>
              </a:lnSpc>
              <a:spcAft>
                <a:spcPts val="600"/>
              </a:spcAft>
              <a:buClr>
                <a:schemeClr val="accent1"/>
              </a:buClr>
              <a:buSzPct val="100000"/>
              <a:buFont typeface="Arial" panose="020B0604020202020204" pitchFamily="34" charset="0"/>
              <a:buChar char="•"/>
            </a:pPr>
            <a:r>
              <a:rPr lang="en-US"/>
              <a:t>Broad format support: PDF, DOCX, TXT, CSV, JPG, PNG, EML, HTML.</a:t>
            </a:r>
          </a:p>
          <a:p>
            <a:pPr marL="342900" indent="-228600" defTabSz="914400">
              <a:lnSpc>
                <a:spcPct val="120000"/>
              </a:lnSpc>
              <a:spcAft>
                <a:spcPts val="600"/>
              </a:spcAft>
              <a:buClr>
                <a:schemeClr val="accent1"/>
              </a:buClr>
              <a:buSzPct val="100000"/>
              <a:buFont typeface="Arial" panose="020B0604020202020204" pitchFamily="34" charset="0"/>
              <a:buChar char="•"/>
            </a:pPr>
            <a:r>
              <a:rPr lang="en-US"/>
              <a:t>Integrated OCR processes scanned documents using GPT-4o Vision.</a:t>
            </a:r>
          </a:p>
          <a:p>
            <a:pPr marL="342900" indent="-228600" defTabSz="914400">
              <a:lnSpc>
                <a:spcPct val="120000"/>
              </a:lnSpc>
              <a:spcAft>
                <a:spcPts val="600"/>
              </a:spcAft>
              <a:buClr>
                <a:schemeClr val="accent1"/>
              </a:buClr>
              <a:buSzPct val="100000"/>
              <a:buFont typeface="Arial" panose="020B0604020202020204" pitchFamily="34" charset="0"/>
              <a:buChar char="•"/>
            </a:pPr>
            <a:r>
              <a:rPr lang="en-US"/>
              <a:t>Clio integration imports matters and documents directly.</a:t>
            </a:r>
          </a:p>
          <a:p>
            <a:pPr marL="342900" indent="-228600" defTabSz="914400">
              <a:lnSpc>
                <a:spcPct val="120000"/>
              </a:lnSpc>
              <a:spcAft>
                <a:spcPts val="600"/>
              </a:spcAft>
              <a:buClr>
                <a:schemeClr val="accent1"/>
              </a:buClr>
              <a:buSzPct val="100000"/>
              <a:buFont typeface="Arial" panose="020B0604020202020204" pitchFamily="34" charset="0"/>
              <a:buChar char="•"/>
            </a:pPr>
            <a:r>
              <a:rPr lang="en-US"/>
              <a:t>Verification Hub fixes or excludes poor-quality documents</a:t>
            </a:r>
          </a:p>
        </p:txBody>
      </p:sp>
      <p:sp>
        <p:nvSpPr>
          <p:cNvPr id="5" name="Text 3"/>
          <p:cNvSpPr/>
          <p:nvPr/>
        </p:nvSpPr>
        <p:spPr>
          <a:xfrm>
            <a:off x="804724" y="4631589"/>
            <a:ext cx="7534552" cy="456528"/>
          </a:xfrm>
          <a:prstGeom prst="rect">
            <a:avLst/>
          </a:prstGeom>
          <a:noFill/>
          <a:ln/>
        </p:spPr>
        <p:txBody>
          <a:bodyPr wrap="square" rtlCol="0" anchor="ctr"/>
          <a:lstStyle/>
          <a:p>
            <a:pPr marL="0" indent="0" algn="ctr">
              <a:spcAft>
                <a:spcPts val="600"/>
              </a:spcAft>
              <a:buNone/>
            </a:pPr>
            <a:r>
              <a:rPr lang="en-US" sz="2000" b="1" dirty="0">
                <a:latin typeface="Calibri" pitchFamily="34" charset="0"/>
                <a:ea typeface="Calibri" pitchFamily="34" charset="-122"/>
                <a:cs typeface="Calibri" pitchFamily="34" charset="-120"/>
              </a:rPr>
              <a:t>Upload core documents first: intake forms, police reports, contracts</a:t>
            </a:r>
            <a:endParaRPr lang="en-US" sz="2000" dirty="0"/>
          </a:p>
        </p:txBody>
      </p:sp>
    </p:spTree>
  </p:cSld>
  <p:clrMapOvr>
    <a:overrideClrMapping bg1="dk1" tx1="lt1" bg2="dk2" tx2="lt2" accent1="accent1" accent2="accent2" accent3="accent3" accent4="accent4" accent5="accent5" accent6="accent6" hlink="hlink" folHlink="folHlink"/>
  </p:clrMapOvr>
</p:sld>
</file>

<file path=ppt/slides/slide18.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1">
                <a:tint val="94000"/>
                <a:satMod val="80000"/>
                <a:lumMod val="106000"/>
              </a:schemeClr>
            </a:gs>
            <a:gs pos="100000">
              <a:schemeClr val="bg1">
                <a:shade val="80000"/>
              </a:schemeClr>
            </a:gs>
          </a:gsLst>
          <a:path path="circle">
            <a:fillToRect l="50000" t="50000" r="50000" b="50000"/>
          </a:path>
        </a:gra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23522FE7-5A29-4EF6-B1EF-2CA55748A7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514607"/>
            <a:ext cx="9144000" cy="3079455"/>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12" name="Picture 11">
            <a:extLst>
              <a:ext uri="{FF2B5EF4-FFF2-40B4-BE49-F238E27FC236}">
                <a16:creationId xmlns:a16="http://schemas.microsoft.com/office/drawing/2014/main" id="{C2192E09-EBC7-416C-B887-DFF915D7F43D}"/>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3">
            <a:extLst>
              <a:ext uri="{28A0092B-C50C-407E-A947-70E740481C1C}">
                <a14:useLocalDpi xmlns:a14="http://schemas.microsoft.com/office/drawing/2010/main" val="0"/>
              </a:ext>
            </a:extLst>
          </a:blip>
          <a:srcRect t="1538" b="-1538"/>
          <a:stretch/>
        </p:blipFill>
        <p:spPr bwMode="black">
          <a:xfrm>
            <a:off x="0" y="4594860"/>
            <a:ext cx="9144000" cy="557212"/>
          </a:xfrm>
          <a:prstGeom prst="rect">
            <a:avLst/>
          </a:prstGeom>
        </p:spPr>
      </p:pic>
      <p:cxnSp>
        <p:nvCxnSpPr>
          <p:cNvPr id="14" name="Straight Connector 13">
            <a:extLst>
              <a:ext uri="{FF2B5EF4-FFF2-40B4-BE49-F238E27FC236}">
                <a16:creationId xmlns:a16="http://schemas.microsoft.com/office/drawing/2014/main" id="{2924498D-E084-44BE-A196-CFCE3556435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4596309"/>
            <a:ext cx="9144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14C12901-9FCC-461E-A64A-89B4791235E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090422" y="1385316"/>
            <a:ext cx="7205641" cy="0"/>
          </a:xfrm>
          <a:prstGeom prst="line">
            <a:avLst/>
          </a:prstGeom>
          <a:ln w="31750"/>
        </p:spPr>
        <p:style>
          <a:lnRef idx="3">
            <a:schemeClr val="accent1"/>
          </a:lnRef>
          <a:fillRef idx="0">
            <a:schemeClr val="accent1"/>
          </a:fillRef>
          <a:effectRef idx="2">
            <a:schemeClr val="accent1"/>
          </a:effectRef>
          <a:fontRef idx="minor">
            <a:schemeClr val="tx1"/>
          </a:fontRef>
        </p:style>
      </p:cxnSp>
      <p:sp>
        <p:nvSpPr>
          <p:cNvPr id="2" name="Text 0"/>
          <p:cNvSpPr/>
          <p:nvPr/>
        </p:nvSpPr>
        <p:spPr>
          <a:xfrm>
            <a:off x="1088684" y="603389"/>
            <a:ext cx="7202456" cy="786926"/>
          </a:xfrm>
          <a:prstGeom prst="rect">
            <a:avLst/>
          </a:prstGeom>
        </p:spPr>
        <p:txBody>
          <a:bodyPr vert="horz" lIns="91440" tIns="45720" rIns="91440" bIns="45720" rtlCol="0" anchor="t">
            <a:normAutofit/>
          </a:bodyPr>
          <a:lstStyle/>
          <a:p>
            <a:pPr marL="0" indent="0" defTabSz="914400">
              <a:lnSpc>
                <a:spcPct val="90000"/>
              </a:lnSpc>
              <a:spcBef>
                <a:spcPct val="0"/>
              </a:spcBef>
              <a:spcAft>
                <a:spcPts val="600"/>
              </a:spcAft>
            </a:pPr>
            <a:r>
              <a:rPr lang="en-US" sz="3200" b="0" i="0" kern="1200" cap="all" dirty="0">
                <a:solidFill>
                  <a:schemeClr val="tx1"/>
                </a:solidFill>
                <a:effectLst/>
                <a:latin typeface="+mj-lt"/>
                <a:ea typeface="+mj-ea"/>
                <a:cs typeface="+mj-cs"/>
              </a:rPr>
              <a:t>Findings Letters &amp; Citations</a:t>
            </a:r>
          </a:p>
        </p:txBody>
      </p:sp>
      <p:sp>
        <p:nvSpPr>
          <p:cNvPr id="3" name="Text 1"/>
          <p:cNvSpPr/>
          <p:nvPr/>
        </p:nvSpPr>
        <p:spPr>
          <a:xfrm>
            <a:off x="1088684" y="1511799"/>
            <a:ext cx="7202456" cy="2587959"/>
          </a:xfrm>
          <a:prstGeom prst="rect">
            <a:avLst/>
          </a:prstGeom>
        </p:spPr>
        <p:txBody>
          <a:bodyPr vert="horz" lIns="91440" tIns="45720" rIns="91440" bIns="45720" rtlCol="0" anchor="t">
            <a:normAutofit/>
          </a:bodyPr>
          <a:lstStyle/>
          <a:p>
            <a:pPr marL="342900" indent="-228600" defTabSz="914400">
              <a:lnSpc>
                <a:spcPct val="120000"/>
              </a:lnSpc>
              <a:spcAft>
                <a:spcPts val="600"/>
              </a:spcAft>
              <a:buClr>
                <a:schemeClr val="accent1"/>
              </a:buClr>
              <a:buSzPct val="100000"/>
              <a:buFont typeface="Arial" panose="020B0604020202020204" pitchFamily="34" charset="0"/>
              <a:buChar char="•"/>
            </a:pPr>
            <a:r>
              <a:rPr lang="en-US"/>
              <a:t>Professional format: Structured, attorney-style letters.</a:t>
            </a:r>
          </a:p>
          <a:p>
            <a:pPr marL="342900" indent="-228600" defTabSz="914400">
              <a:lnSpc>
                <a:spcPct val="120000"/>
              </a:lnSpc>
              <a:spcAft>
                <a:spcPts val="600"/>
              </a:spcAft>
              <a:buClr>
                <a:schemeClr val="accent1"/>
              </a:buClr>
              <a:buSzPct val="100000"/>
              <a:buFont typeface="Arial" panose="020B0604020202020204" pitchFamily="34" charset="0"/>
              <a:buChar char="•"/>
            </a:pPr>
            <a:r>
              <a:rPr lang="en-US"/>
              <a:t>Source linking: Every fact includes inline citation (e.g., [Client_Intake.pdf]).</a:t>
            </a:r>
          </a:p>
          <a:p>
            <a:pPr marL="342900" indent="-228600" defTabSz="914400">
              <a:lnSpc>
                <a:spcPct val="120000"/>
              </a:lnSpc>
              <a:spcAft>
                <a:spcPts val="600"/>
              </a:spcAft>
              <a:buClr>
                <a:schemeClr val="accent1"/>
              </a:buClr>
              <a:buSzPct val="100000"/>
              <a:buFont typeface="Arial" panose="020B0604020202020204" pitchFamily="34" charset="0"/>
              <a:buChar char="•"/>
            </a:pPr>
            <a:r>
              <a:rPr lang="en-US"/>
              <a:t>Instant verification: Click any citation to view the original source.</a:t>
            </a:r>
          </a:p>
          <a:p>
            <a:pPr marL="342900" indent="-228600" defTabSz="914400">
              <a:lnSpc>
                <a:spcPct val="120000"/>
              </a:lnSpc>
              <a:spcAft>
                <a:spcPts val="600"/>
              </a:spcAft>
              <a:buClr>
                <a:schemeClr val="accent1"/>
              </a:buClr>
              <a:buSzPct val="100000"/>
              <a:buFont typeface="Arial" panose="020B0604020202020204" pitchFamily="34" charset="0"/>
              <a:buChar char="•"/>
            </a:pPr>
            <a:r>
              <a:rPr lang="en-US"/>
              <a:t>Draft status: All outputs designed for attorney review</a:t>
            </a:r>
          </a:p>
        </p:txBody>
      </p:sp>
      <p:sp>
        <p:nvSpPr>
          <p:cNvPr id="5" name="Text 3"/>
          <p:cNvSpPr/>
          <p:nvPr/>
        </p:nvSpPr>
        <p:spPr>
          <a:xfrm>
            <a:off x="739587" y="4594062"/>
            <a:ext cx="7664825" cy="548640"/>
          </a:xfrm>
          <a:prstGeom prst="rect">
            <a:avLst/>
          </a:prstGeom>
          <a:noFill/>
          <a:ln/>
        </p:spPr>
        <p:txBody>
          <a:bodyPr wrap="square" rtlCol="0" anchor="ctr"/>
          <a:lstStyle/>
          <a:p>
            <a:pPr marL="0" indent="0" algn="ctr">
              <a:spcAft>
                <a:spcPts val="600"/>
              </a:spcAft>
              <a:buNone/>
            </a:pPr>
            <a:r>
              <a:rPr lang="en-US" sz="2200" b="1" dirty="0">
                <a:latin typeface="Calibri" pitchFamily="34" charset="0"/>
                <a:ea typeface="Calibri" pitchFamily="34" charset="-122"/>
                <a:cs typeface="Calibri" pitchFamily="34" charset="-120"/>
              </a:rPr>
              <a:t>You can audit the AI's work by clicking the citations.</a:t>
            </a:r>
            <a:endParaRPr lang="en-US" sz="2200" dirty="0"/>
          </a:p>
        </p:txBody>
      </p:sp>
    </p:spTree>
  </p:cSld>
  <p:clrMapOvr>
    <a:overrideClrMapping bg1="dk1" tx1="lt1" bg2="dk2" tx2="lt2" accent1="accent1" accent2="accent2" accent3="accent3" accent4="accent4" accent5="accent5" accent6="accent6" hlink="hlink" folHlink="folHlink"/>
  </p:clrMapOvr>
</p:sld>
</file>

<file path=ppt/slides/slide19.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1">
                <a:tint val="94000"/>
                <a:satMod val="80000"/>
                <a:lumMod val="106000"/>
              </a:schemeClr>
            </a:gs>
            <a:gs pos="100000">
              <a:schemeClr val="bg1">
                <a:shade val="80000"/>
              </a:schemeClr>
            </a:gs>
          </a:gsLst>
          <a:path path="circle">
            <a:fillToRect l="50000" t="50000" r="50000" b="50000"/>
          </a:path>
        </a:gra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23522FE7-5A29-4EF6-B1EF-2CA55748A7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514607"/>
            <a:ext cx="9144000" cy="3079455"/>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12" name="Picture 11">
            <a:extLst>
              <a:ext uri="{FF2B5EF4-FFF2-40B4-BE49-F238E27FC236}">
                <a16:creationId xmlns:a16="http://schemas.microsoft.com/office/drawing/2014/main" id="{C2192E09-EBC7-416C-B887-DFF915D7F43D}"/>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3">
            <a:extLst>
              <a:ext uri="{28A0092B-C50C-407E-A947-70E740481C1C}">
                <a14:useLocalDpi xmlns:a14="http://schemas.microsoft.com/office/drawing/2010/main" val="0"/>
              </a:ext>
            </a:extLst>
          </a:blip>
          <a:srcRect t="1538" b="-1538"/>
          <a:stretch/>
        </p:blipFill>
        <p:spPr bwMode="black">
          <a:xfrm>
            <a:off x="0" y="4594860"/>
            <a:ext cx="9144000" cy="557212"/>
          </a:xfrm>
          <a:prstGeom prst="rect">
            <a:avLst/>
          </a:prstGeom>
        </p:spPr>
      </p:pic>
      <p:cxnSp>
        <p:nvCxnSpPr>
          <p:cNvPr id="14" name="Straight Connector 13">
            <a:extLst>
              <a:ext uri="{FF2B5EF4-FFF2-40B4-BE49-F238E27FC236}">
                <a16:creationId xmlns:a16="http://schemas.microsoft.com/office/drawing/2014/main" id="{2924498D-E084-44BE-A196-CFCE3556435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4596309"/>
            <a:ext cx="9144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14C12901-9FCC-461E-A64A-89B4791235E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090422" y="1385316"/>
            <a:ext cx="7205641" cy="0"/>
          </a:xfrm>
          <a:prstGeom prst="line">
            <a:avLst/>
          </a:prstGeom>
          <a:ln w="31750"/>
        </p:spPr>
        <p:style>
          <a:lnRef idx="3">
            <a:schemeClr val="accent1"/>
          </a:lnRef>
          <a:fillRef idx="0">
            <a:schemeClr val="accent1"/>
          </a:fillRef>
          <a:effectRef idx="2">
            <a:schemeClr val="accent1"/>
          </a:effectRef>
          <a:fontRef idx="minor">
            <a:schemeClr val="tx1"/>
          </a:fontRef>
        </p:style>
      </p:cxnSp>
      <p:sp>
        <p:nvSpPr>
          <p:cNvPr id="2" name="Text 0"/>
          <p:cNvSpPr/>
          <p:nvPr/>
        </p:nvSpPr>
        <p:spPr>
          <a:xfrm>
            <a:off x="1088684" y="603389"/>
            <a:ext cx="7202456" cy="786926"/>
          </a:xfrm>
          <a:prstGeom prst="rect">
            <a:avLst/>
          </a:prstGeom>
        </p:spPr>
        <p:txBody>
          <a:bodyPr vert="horz" lIns="91440" tIns="45720" rIns="91440" bIns="45720" rtlCol="0" anchor="t">
            <a:normAutofit/>
          </a:bodyPr>
          <a:lstStyle/>
          <a:p>
            <a:pPr marL="0" indent="0" defTabSz="914400">
              <a:lnSpc>
                <a:spcPct val="90000"/>
              </a:lnSpc>
              <a:spcBef>
                <a:spcPct val="0"/>
              </a:spcBef>
              <a:spcAft>
                <a:spcPts val="600"/>
              </a:spcAft>
            </a:pPr>
            <a:r>
              <a:rPr lang="en-US" sz="3200" b="0" i="0" kern="1200" cap="all" dirty="0">
                <a:solidFill>
                  <a:schemeClr val="tx1"/>
                </a:solidFill>
                <a:effectLst/>
                <a:latin typeface="+mj-lt"/>
                <a:ea typeface="+mj-ea"/>
                <a:cs typeface="+mj-cs"/>
              </a:rPr>
              <a:t>Quality, Accuracy &amp; Control</a:t>
            </a:r>
          </a:p>
        </p:txBody>
      </p:sp>
      <p:sp>
        <p:nvSpPr>
          <p:cNvPr id="3" name="Text 1"/>
          <p:cNvSpPr/>
          <p:nvPr/>
        </p:nvSpPr>
        <p:spPr>
          <a:xfrm>
            <a:off x="1088684" y="1511799"/>
            <a:ext cx="7202456" cy="2587959"/>
          </a:xfrm>
          <a:prstGeom prst="rect">
            <a:avLst/>
          </a:prstGeom>
        </p:spPr>
        <p:txBody>
          <a:bodyPr vert="horz" lIns="91440" tIns="45720" rIns="91440" bIns="45720" rtlCol="0" anchor="t">
            <a:normAutofit/>
          </a:bodyPr>
          <a:lstStyle/>
          <a:p>
            <a:pPr marL="342900" indent="-228600" defTabSz="914400">
              <a:lnSpc>
                <a:spcPct val="120000"/>
              </a:lnSpc>
              <a:spcAft>
                <a:spcPts val="600"/>
              </a:spcAft>
              <a:buClr>
                <a:schemeClr val="accent1"/>
              </a:buClr>
              <a:buSzPct val="100000"/>
              <a:buFont typeface="Arial" panose="020B0604020202020204" pitchFamily="34" charset="0"/>
              <a:buChar char="•"/>
            </a:pPr>
            <a:r>
              <a:rPr lang="en-US"/>
              <a:t>Verified legal corpus: AI checks citations against 51 FL + 42 NM statutes.</a:t>
            </a:r>
          </a:p>
          <a:p>
            <a:pPr marL="342900" indent="-228600" defTabSz="914400">
              <a:lnSpc>
                <a:spcPct val="120000"/>
              </a:lnSpc>
              <a:spcAft>
                <a:spcPts val="600"/>
              </a:spcAft>
              <a:buClr>
                <a:schemeClr val="accent1"/>
              </a:buClr>
              <a:buSzPct val="100000"/>
              <a:buFont typeface="Arial" panose="020B0604020202020204" pitchFamily="34" charset="0"/>
              <a:buChar char="•"/>
            </a:pPr>
            <a:r>
              <a:rPr lang="en-US"/>
              <a:t>Hallucination guardrails: Citations rejected if not in verified corpus.</a:t>
            </a:r>
          </a:p>
          <a:p>
            <a:pPr marL="342900" indent="-228600" defTabSz="914400">
              <a:lnSpc>
                <a:spcPct val="120000"/>
              </a:lnSpc>
              <a:spcAft>
                <a:spcPts val="600"/>
              </a:spcAft>
              <a:buClr>
                <a:schemeClr val="accent1"/>
              </a:buClr>
              <a:buSzPct val="100000"/>
              <a:buFont typeface="Arial" panose="020B0604020202020204" pitchFamily="34" charset="0"/>
              <a:buChar char="•"/>
            </a:pPr>
            <a:r>
              <a:rPr lang="en-US"/>
              <a:t>Jurisdiction limits: Optimized only for Florida and New Mexico civil litigation.</a:t>
            </a:r>
          </a:p>
          <a:p>
            <a:pPr marL="342900" indent="-228600" defTabSz="914400">
              <a:lnSpc>
                <a:spcPct val="120000"/>
              </a:lnSpc>
              <a:spcAft>
                <a:spcPts val="600"/>
              </a:spcAft>
              <a:buClr>
                <a:schemeClr val="accent1"/>
              </a:buClr>
              <a:buSzPct val="100000"/>
              <a:buFont typeface="Arial" panose="020B0604020202020204" pitchFamily="34" charset="0"/>
              <a:buChar char="•"/>
            </a:pPr>
            <a:r>
              <a:rPr lang="en-US"/>
              <a:t>Attorney responsibility: You verify cited statutes are strategically applicable</a:t>
            </a:r>
          </a:p>
        </p:txBody>
      </p:sp>
      <p:sp>
        <p:nvSpPr>
          <p:cNvPr id="5" name="Text 3"/>
          <p:cNvSpPr/>
          <p:nvPr/>
        </p:nvSpPr>
        <p:spPr>
          <a:xfrm>
            <a:off x="1611761" y="4578857"/>
            <a:ext cx="5920478" cy="548640"/>
          </a:xfrm>
          <a:prstGeom prst="rect">
            <a:avLst/>
          </a:prstGeom>
          <a:noFill/>
          <a:ln/>
        </p:spPr>
        <p:txBody>
          <a:bodyPr wrap="square" rtlCol="0" anchor="ctr"/>
          <a:lstStyle/>
          <a:p>
            <a:pPr marL="0" indent="0" algn="ctr">
              <a:spcAft>
                <a:spcPts val="600"/>
              </a:spcAft>
              <a:buNone/>
            </a:pPr>
            <a:r>
              <a:rPr lang="en-US" sz="2200" b="1" dirty="0">
                <a:latin typeface="Calibri" pitchFamily="34" charset="0"/>
                <a:ea typeface="Calibri" pitchFamily="34" charset="-122"/>
                <a:cs typeface="Calibri" pitchFamily="34" charset="-120"/>
              </a:rPr>
              <a:t>You are the final decision-maker.</a:t>
            </a:r>
            <a:endParaRPr lang="en-US" sz="2200" dirty="0"/>
          </a:p>
        </p:txBody>
      </p:sp>
    </p:spTree>
  </p:cSld>
  <p:clrMapOvr>
    <a:overrideClrMapping bg1="dk1" tx1="lt1" bg2="dk2" tx2="lt2" accent1="accent1" accent2="accent2" accent3="accent3" accent4="accent4" accent5="accent5" accent6="accent6" hlink="hlink" folHlink="folHlink"/>
  </p:clrMapOvr>
</p:sld>
</file>

<file path=ppt/slides/slide20.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1">
                <a:tint val="94000"/>
                <a:satMod val="80000"/>
                <a:lumMod val="106000"/>
              </a:schemeClr>
            </a:gs>
            <a:gs pos="100000">
              <a:schemeClr val="bg1">
                <a:shade val="80000"/>
              </a:schemeClr>
            </a:gs>
          </a:gsLst>
          <a:path path="circle">
            <a:fillToRect l="50000" t="50000" r="50000" b="50000"/>
          </a:path>
        </a:gra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23522FE7-5A29-4EF6-B1EF-2CA55748A7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514607"/>
            <a:ext cx="9144000" cy="3079455"/>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12" name="Picture 11">
            <a:extLst>
              <a:ext uri="{FF2B5EF4-FFF2-40B4-BE49-F238E27FC236}">
                <a16:creationId xmlns:a16="http://schemas.microsoft.com/office/drawing/2014/main" id="{C2192E09-EBC7-416C-B887-DFF915D7F43D}"/>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3">
            <a:extLst>
              <a:ext uri="{28A0092B-C50C-407E-A947-70E740481C1C}">
                <a14:useLocalDpi xmlns:a14="http://schemas.microsoft.com/office/drawing/2010/main" val="0"/>
              </a:ext>
            </a:extLst>
          </a:blip>
          <a:srcRect t="1538" b="-1538"/>
          <a:stretch/>
        </p:blipFill>
        <p:spPr bwMode="black">
          <a:xfrm>
            <a:off x="0" y="4594860"/>
            <a:ext cx="9144000" cy="557212"/>
          </a:xfrm>
          <a:prstGeom prst="rect">
            <a:avLst/>
          </a:prstGeom>
        </p:spPr>
      </p:pic>
      <p:cxnSp>
        <p:nvCxnSpPr>
          <p:cNvPr id="14" name="Straight Connector 13">
            <a:extLst>
              <a:ext uri="{FF2B5EF4-FFF2-40B4-BE49-F238E27FC236}">
                <a16:creationId xmlns:a16="http://schemas.microsoft.com/office/drawing/2014/main" id="{2924498D-E084-44BE-A196-CFCE3556435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4596309"/>
            <a:ext cx="9144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14C12901-9FCC-461E-A64A-89B4791235E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090422" y="1385316"/>
            <a:ext cx="7205641" cy="0"/>
          </a:xfrm>
          <a:prstGeom prst="line">
            <a:avLst/>
          </a:prstGeom>
          <a:ln w="31750"/>
        </p:spPr>
        <p:style>
          <a:lnRef idx="3">
            <a:schemeClr val="accent1"/>
          </a:lnRef>
          <a:fillRef idx="0">
            <a:schemeClr val="accent1"/>
          </a:fillRef>
          <a:effectRef idx="2">
            <a:schemeClr val="accent1"/>
          </a:effectRef>
          <a:fontRef idx="minor">
            <a:schemeClr val="tx1"/>
          </a:fontRef>
        </p:style>
      </p:cxnSp>
      <p:sp>
        <p:nvSpPr>
          <p:cNvPr id="2" name="Text 0"/>
          <p:cNvSpPr/>
          <p:nvPr/>
        </p:nvSpPr>
        <p:spPr>
          <a:xfrm>
            <a:off x="1088684" y="603389"/>
            <a:ext cx="7202456" cy="786926"/>
          </a:xfrm>
          <a:prstGeom prst="rect">
            <a:avLst/>
          </a:prstGeom>
        </p:spPr>
        <p:txBody>
          <a:bodyPr vert="horz" lIns="91440" tIns="45720" rIns="91440" bIns="45720" rtlCol="0" anchor="t">
            <a:normAutofit/>
          </a:bodyPr>
          <a:lstStyle/>
          <a:p>
            <a:pPr marL="0" indent="0" defTabSz="914400">
              <a:lnSpc>
                <a:spcPct val="90000"/>
              </a:lnSpc>
              <a:spcBef>
                <a:spcPct val="0"/>
              </a:spcBef>
              <a:spcAft>
                <a:spcPts val="600"/>
              </a:spcAft>
            </a:pPr>
            <a:r>
              <a:rPr lang="en-US" sz="3200" b="0" i="0" kern="1200" cap="all" dirty="0">
                <a:solidFill>
                  <a:schemeClr val="tx1"/>
                </a:solidFill>
                <a:effectLst/>
                <a:latin typeface="+mj-lt"/>
                <a:ea typeface="+mj-ea"/>
                <a:cs typeface="+mj-cs"/>
              </a:rPr>
              <a:t>What Is Rolling Out Now</a:t>
            </a:r>
          </a:p>
        </p:txBody>
      </p:sp>
      <p:sp>
        <p:nvSpPr>
          <p:cNvPr id="3" name="Text 1"/>
          <p:cNvSpPr/>
          <p:nvPr/>
        </p:nvSpPr>
        <p:spPr>
          <a:xfrm>
            <a:off x="1088684" y="1511799"/>
            <a:ext cx="7202456" cy="2587959"/>
          </a:xfrm>
          <a:prstGeom prst="rect">
            <a:avLst/>
          </a:prstGeom>
        </p:spPr>
        <p:txBody>
          <a:bodyPr vert="horz" lIns="91440" tIns="45720" rIns="91440" bIns="45720" rtlCol="0" anchor="t">
            <a:normAutofit/>
          </a:bodyPr>
          <a:lstStyle/>
          <a:p>
            <a:pPr marL="342900" indent="-228600" defTabSz="914400">
              <a:lnSpc>
                <a:spcPct val="120000"/>
              </a:lnSpc>
              <a:spcAft>
                <a:spcPts val="600"/>
              </a:spcAft>
              <a:buClr>
                <a:schemeClr val="accent1"/>
              </a:buClr>
              <a:buSzPct val="100000"/>
              <a:buFont typeface="Arial" panose="020B0604020202020204" pitchFamily="34" charset="0"/>
              <a:buChar char="•"/>
            </a:pPr>
            <a:r>
              <a:rPr lang="en-US"/>
              <a:t>Live jurisdictions: Florida and New Mexico civil litigation.</a:t>
            </a:r>
          </a:p>
          <a:p>
            <a:pPr marL="342900" indent="-228600" defTabSz="914400">
              <a:lnSpc>
                <a:spcPct val="120000"/>
              </a:lnSpc>
              <a:spcAft>
                <a:spcPts val="600"/>
              </a:spcAft>
              <a:buClr>
                <a:schemeClr val="accent1"/>
              </a:buClr>
              <a:buSzPct val="100000"/>
              <a:buFont typeface="Arial" panose="020B0604020202020204" pitchFamily="34" charset="0"/>
              <a:buChar char="•"/>
            </a:pPr>
            <a:r>
              <a:rPr lang="en-US"/>
              <a:t>Included areas: Consumer protection, landlord-tenant, foreclosure, construction, contracts.</a:t>
            </a:r>
          </a:p>
          <a:p>
            <a:pPr marL="342900" indent="-228600" defTabSz="914400">
              <a:lnSpc>
                <a:spcPct val="120000"/>
              </a:lnSpc>
              <a:spcAft>
                <a:spcPts val="600"/>
              </a:spcAft>
              <a:buClr>
                <a:schemeClr val="accent1"/>
              </a:buClr>
              <a:buSzPct val="100000"/>
              <a:buFont typeface="Arial" panose="020B0604020202020204" pitchFamily="34" charset="0"/>
              <a:buChar char="•"/>
            </a:pPr>
            <a:r>
              <a:rPr lang="en-US"/>
              <a:t>Explicit exclusions: No federal claims, criminal law, immigration, bankruptcy, family law.</a:t>
            </a:r>
          </a:p>
          <a:p>
            <a:pPr marL="342900" indent="-228600" defTabSz="914400">
              <a:lnSpc>
                <a:spcPct val="120000"/>
              </a:lnSpc>
              <a:spcAft>
                <a:spcPts val="600"/>
              </a:spcAft>
              <a:buClr>
                <a:schemeClr val="accent1"/>
              </a:buClr>
              <a:buSzPct val="100000"/>
              <a:buFont typeface="Arial" panose="020B0604020202020204" pitchFamily="34" charset="0"/>
              <a:buChar char="•"/>
            </a:pPr>
            <a:r>
              <a:rPr lang="en-US"/>
              <a:t>Status: Version 3.1.0 is live and available for immediate use</a:t>
            </a:r>
          </a:p>
        </p:txBody>
      </p:sp>
      <p:sp>
        <p:nvSpPr>
          <p:cNvPr id="5" name="Text 3"/>
          <p:cNvSpPr/>
          <p:nvPr/>
        </p:nvSpPr>
        <p:spPr>
          <a:xfrm>
            <a:off x="1503180" y="4666045"/>
            <a:ext cx="6137639" cy="414842"/>
          </a:xfrm>
          <a:prstGeom prst="rect">
            <a:avLst/>
          </a:prstGeom>
          <a:noFill/>
          <a:ln/>
        </p:spPr>
        <p:txBody>
          <a:bodyPr wrap="square" rtlCol="0" anchor="ctr"/>
          <a:lstStyle/>
          <a:p>
            <a:pPr marL="0" indent="0" algn="ctr">
              <a:spcAft>
                <a:spcPts val="600"/>
              </a:spcAft>
              <a:buNone/>
            </a:pPr>
            <a:r>
              <a:rPr lang="en-US" sz="2000" b="1" dirty="0">
                <a:latin typeface="Calibri" pitchFamily="34" charset="0"/>
                <a:ea typeface="Calibri" pitchFamily="34" charset="-122"/>
                <a:cs typeface="Calibri" pitchFamily="34" charset="-120"/>
              </a:rPr>
              <a:t>Do not use for federal cases or criminal law.</a:t>
            </a:r>
            <a:endParaRPr lang="en-US" sz="2000" dirty="0"/>
          </a:p>
        </p:txBody>
      </p:sp>
    </p:spTree>
  </p:cSld>
  <p:clrMapOvr>
    <a:overrideClrMapping bg1="dk1" tx1="lt1" bg2="dk2" tx2="lt2" accent1="accent1" accent2="accent2" accent3="accent3" accent4="accent4" accent5="accent5" accent6="accent6" hlink="hlink" folHlink="folHlink"/>
  </p:clrMapOvr>
</p:sld>
</file>

<file path=ppt/slides/slide21.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1">
                <a:tint val="94000"/>
                <a:satMod val="80000"/>
                <a:lumMod val="106000"/>
              </a:schemeClr>
            </a:gs>
            <a:gs pos="100000">
              <a:schemeClr val="bg1">
                <a:shade val="80000"/>
              </a:schemeClr>
            </a:gs>
          </a:gsLst>
          <a:path path="circle">
            <a:fillToRect l="50000" t="50000" r="50000" b="50000"/>
          </a:path>
        </a:gra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23522FE7-5A29-4EF6-B1EF-2CA55748A7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514607"/>
            <a:ext cx="9144000" cy="3079455"/>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12" name="Picture 11">
            <a:extLst>
              <a:ext uri="{FF2B5EF4-FFF2-40B4-BE49-F238E27FC236}">
                <a16:creationId xmlns:a16="http://schemas.microsoft.com/office/drawing/2014/main" id="{C2192E09-EBC7-416C-B887-DFF915D7F43D}"/>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3">
            <a:extLst>
              <a:ext uri="{28A0092B-C50C-407E-A947-70E740481C1C}">
                <a14:useLocalDpi xmlns:a14="http://schemas.microsoft.com/office/drawing/2010/main" val="0"/>
              </a:ext>
            </a:extLst>
          </a:blip>
          <a:srcRect t="1538" b="-1538"/>
          <a:stretch/>
        </p:blipFill>
        <p:spPr bwMode="black">
          <a:xfrm>
            <a:off x="0" y="4594860"/>
            <a:ext cx="9144000" cy="557212"/>
          </a:xfrm>
          <a:prstGeom prst="rect">
            <a:avLst/>
          </a:prstGeom>
        </p:spPr>
      </p:pic>
      <p:cxnSp>
        <p:nvCxnSpPr>
          <p:cNvPr id="14" name="Straight Connector 13">
            <a:extLst>
              <a:ext uri="{FF2B5EF4-FFF2-40B4-BE49-F238E27FC236}">
                <a16:creationId xmlns:a16="http://schemas.microsoft.com/office/drawing/2014/main" id="{2924498D-E084-44BE-A196-CFCE3556435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4596309"/>
            <a:ext cx="9144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14C12901-9FCC-461E-A64A-89B4791235E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090422" y="1385316"/>
            <a:ext cx="7205641" cy="0"/>
          </a:xfrm>
          <a:prstGeom prst="line">
            <a:avLst/>
          </a:prstGeom>
          <a:ln w="31750"/>
        </p:spPr>
        <p:style>
          <a:lnRef idx="3">
            <a:schemeClr val="accent1"/>
          </a:lnRef>
          <a:fillRef idx="0">
            <a:schemeClr val="accent1"/>
          </a:fillRef>
          <a:effectRef idx="2">
            <a:schemeClr val="accent1"/>
          </a:effectRef>
          <a:fontRef idx="minor">
            <a:schemeClr val="tx1"/>
          </a:fontRef>
        </p:style>
      </p:cxnSp>
      <p:sp>
        <p:nvSpPr>
          <p:cNvPr id="2" name="Text 0"/>
          <p:cNvSpPr/>
          <p:nvPr/>
        </p:nvSpPr>
        <p:spPr>
          <a:xfrm>
            <a:off x="1088684" y="603389"/>
            <a:ext cx="7202456" cy="786926"/>
          </a:xfrm>
          <a:prstGeom prst="rect">
            <a:avLst/>
          </a:prstGeom>
        </p:spPr>
        <p:txBody>
          <a:bodyPr vert="horz" lIns="91440" tIns="45720" rIns="91440" bIns="45720" rtlCol="0" anchor="t">
            <a:normAutofit/>
          </a:bodyPr>
          <a:lstStyle/>
          <a:p>
            <a:pPr marL="0" indent="0" defTabSz="914400">
              <a:lnSpc>
                <a:spcPct val="90000"/>
              </a:lnSpc>
              <a:spcBef>
                <a:spcPct val="0"/>
              </a:spcBef>
              <a:spcAft>
                <a:spcPts val="600"/>
              </a:spcAft>
            </a:pPr>
            <a:r>
              <a:rPr lang="en-US" sz="3200" b="0" i="0" kern="1200" cap="all" dirty="0">
                <a:solidFill>
                  <a:schemeClr val="tx1"/>
                </a:solidFill>
                <a:effectLst/>
                <a:latin typeface="+mj-lt"/>
                <a:ea typeface="+mj-ea"/>
                <a:cs typeface="+mj-cs"/>
              </a:rPr>
              <a:t>Adoption Plan &amp; Expectations</a:t>
            </a:r>
          </a:p>
        </p:txBody>
      </p:sp>
      <p:sp>
        <p:nvSpPr>
          <p:cNvPr id="3" name="Text 1"/>
          <p:cNvSpPr/>
          <p:nvPr/>
        </p:nvSpPr>
        <p:spPr>
          <a:xfrm>
            <a:off x="1088684" y="1511799"/>
            <a:ext cx="7202456" cy="2587959"/>
          </a:xfrm>
          <a:prstGeom prst="rect">
            <a:avLst/>
          </a:prstGeom>
        </p:spPr>
        <p:txBody>
          <a:bodyPr vert="horz" lIns="91440" tIns="45720" rIns="91440" bIns="45720" rtlCol="0" anchor="t">
            <a:normAutofit/>
          </a:bodyPr>
          <a:lstStyle/>
          <a:p>
            <a:pPr marL="342900" indent="-228600" defTabSz="914400">
              <a:lnSpc>
                <a:spcPct val="120000"/>
              </a:lnSpc>
              <a:spcAft>
                <a:spcPts val="600"/>
              </a:spcAft>
              <a:buClr>
                <a:schemeClr val="accent1"/>
              </a:buClr>
              <a:buSzPct val="100000"/>
              <a:buFont typeface="Arial" panose="020B0604020202020204" pitchFamily="34" charset="0"/>
              <a:buChar char="•"/>
            </a:pPr>
            <a:r>
              <a:rPr lang="en-US"/>
              <a:t>Immediate access: Your accounts are created; credentials distributed.</a:t>
            </a:r>
          </a:p>
          <a:p>
            <a:pPr marL="342900" indent="-228600" defTabSz="914400">
              <a:lnSpc>
                <a:spcPct val="120000"/>
              </a:lnSpc>
              <a:spcAft>
                <a:spcPts val="600"/>
              </a:spcAft>
              <a:buClr>
                <a:schemeClr val="accent1"/>
              </a:buClr>
              <a:buSzPct val="100000"/>
              <a:buFont typeface="Arial" panose="020B0604020202020204" pitchFamily="34" charset="0"/>
              <a:buChar char="•"/>
            </a:pPr>
            <a:r>
              <a:rPr lang="en-US"/>
              <a:t>Resources: One-page Quickstart Guide emailed to you.</a:t>
            </a:r>
          </a:p>
          <a:p>
            <a:pPr marL="342900" indent="-228600" defTabSz="914400">
              <a:lnSpc>
                <a:spcPct val="120000"/>
              </a:lnSpc>
              <a:spcAft>
                <a:spcPts val="600"/>
              </a:spcAft>
              <a:buClr>
                <a:schemeClr val="accent1"/>
              </a:buClr>
              <a:buSzPct val="100000"/>
              <a:buFont typeface="Arial" panose="020B0604020202020204" pitchFamily="34" charset="0"/>
              <a:buChar char="•"/>
            </a:pPr>
            <a:r>
              <a:rPr lang="en-US"/>
              <a:t>Training: Live Q&amp;A session next Wednesday for questions.</a:t>
            </a:r>
          </a:p>
          <a:p>
            <a:pPr marL="342900" indent="-228600" defTabSz="914400">
              <a:lnSpc>
                <a:spcPct val="120000"/>
              </a:lnSpc>
              <a:spcAft>
                <a:spcPts val="600"/>
              </a:spcAft>
              <a:buClr>
                <a:schemeClr val="accent1"/>
              </a:buClr>
              <a:buSzPct val="100000"/>
              <a:buFont typeface="Arial" panose="020B0604020202020204" pitchFamily="34" charset="0"/>
              <a:buChar char="•"/>
            </a:pPr>
            <a:r>
              <a:rPr lang="en-US"/>
              <a:t>Support: Dedicated channels for technical issues and feature requests</a:t>
            </a:r>
          </a:p>
        </p:txBody>
      </p:sp>
      <p:sp>
        <p:nvSpPr>
          <p:cNvPr id="5" name="Text 3"/>
          <p:cNvSpPr/>
          <p:nvPr/>
        </p:nvSpPr>
        <p:spPr>
          <a:xfrm>
            <a:off x="1463177" y="4646255"/>
            <a:ext cx="6217646" cy="403412"/>
          </a:xfrm>
          <a:prstGeom prst="rect">
            <a:avLst/>
          </a:prstGeom>
          <a:noFill/>
          <a:ln/>
        </p:spPr>
        <p:txBody>
          <a:bodyPr wrap="square" rtlCol="0" anchor="ctr"/>
          <a:lstStyle/>
          <a:p>
            <a:pPr marL="0" indent="0" algn="ctr">
              <a:spcAft>
                <a:spcPts val="600"/>
              </a:spcAft>
              <a:buNone/>
            </a:pPr>
            <a:r>
              <a:rPr lang="en-US" sz="2000" b="1" dirty="0">
                <a:latin typeface="Calibri" pitchFamily="34" charset="0"/>
                <a:ea typeface="Calibri" pitchFamily="34" charset="-122"/>
                <a:cs typeface="Calibri" pitchFamily="34" charset="-120"/>
              </a:rPr>
              <a:t>Expectation: Log in and create a test case this week</a:t>
            </a:r>
            <a:endParaRPr lang="en-US" sz="2000" dirty="0"/>
          </a:p>
        </p:txBody>
      </p:sp>
    </p:spTree>
  </p:cSld>
  <p:clrMapOvr>
    <a:overrideClrMapping bg1="dk1" tx1="lt1" bg2="dk2" tx2="lt2" accent1="accent1" accent2="accent2" accent3="accent3" accent4="accent4" accent5="accent5" accent6="accent6" hlink="hlink" folHlink="folHlink"/>
  </p:clrMapOvr>
</p:sld>
</file>

<file path=ppt/slides/slide22.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295836" y="0"/>
            <a:ext cx="10360152" cy="1097280"/>
          </a:xfrm>
          <a:prstGeom prst="rect">
            <a:avLst/>
          </a:prstGeom>
          <a:noFill/>
          <a:ln/>
        </p:spPr>
        <p:txBody>
          <a:bodyPr wrap="square" rtlCol="0" anchor="ctr"/>
          <a:lstStyle/>
          <a:p>
            <a:pPr marL="0" indent="0" algn="l">
              <a:buNone/>
            </a:pPr>
            <a:r>
              <a:rPr lang="en-US" sz="3600" b="1" dirty="0">
                <a:solidFill>
                  <a:srgbClr val="181A31"/>
                </a:solidFill>
                <a:latin typeface="Calibri" pitchFamily="34" charset="0"/>
                <a:ea typeface="Calibri" pitchFamily="34" charset="-122"/>
                <a:cs typeface="Calibri" pitchFamily="34" charset="-120"/>
              </a:rPr>
              <a:t>Immediate Next Steps</a:t>
            </a:r>
            <a:endParaRPr lang="en-US" sz="3600" dirty="0"/>
          </a:p>
        </p:txBody>
      </p:sp>
      <p:sp>
        <p:nvSpPr>
          <p:cNvPr id="3" name="Shape 1"/>
          <p:cNvSpPr/>
          <p:nvPr/>
        </p:nvSpPr>
        <p:spPr>
          <a:xfrm>
            <a:off x="478716" y="1143000"/>
            <a:ext cx="365760" cy="365760"/>
          </a:xfrm>
          <a:prstGeom prst="rect">
            <a:avLst/>
          </a:prstGeom>
          <a:solidFill>
            <a:srgbClr val="5AB7A3"/>
          </a:solidFill>
          <a:ln/>
        </p:spPr>
        <p:txBody>
          <a:bodyPr/>
          <a:lstStyle/>
          <a:p>
            <a:endParaRPr lang="en-US"/>
          </a:p>
        </p:txBody>
      </p:sp>
      <p:sp>
        <p:nvSpPr>
          <p:cNvPr id="4" name="Text 2"/>
          <p:cNvSpPr/>
          <p:nvPr/>
        </p:nvSpPr>
        <p:spPr>
          <a:xfrm>
            <a:off x="478716" y="1143000"/>
            <a:ext cx="365760" cy="365760"/>
          </a:xfrm>
          <a:prstGeom prst="rect">
            <a:avLst/>
          </a:prstGeom>
          <a:noFill/>
          <a:ln/>
        </p:spPr>
        <p:txBody>
          <a:bodyPr wrap="square"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5" name="Text 3"/>
          <p:cNvSpPr/>
          <p:nvPr/>
        </p:nvSpPr>
        <p:spPr>
          <a:xfrm>
            <a:off x="1027356" y="1188720"/>
            <a:ext cx="8686800" cy="457200"/>
          </a:xfrm>
          <a:prstGeom prst="rect">
            <a:avLst/>
          </a:prstGeom>
          <a:noFill/>
          <a:ln/>
        </p:spPr>
        <p:txBody>
          <a:bodyPr wrap="square" rtlCol="0" anchor="t"/>
          <a:lstStyle/>
          <a:p>
            <a:pPr marL="0" indent="0" algn="l">
              <a:buNone/>
            </a:pPr>
            <a:r>
              <a:rPr lang="en-US" sz="1800" dirty="0">
                <a:solidFill>
                  <a:srgbClr val="39428E"/>
                </a:solidFill>
                <a:latin typeface="Calibri" pitchFamily="34" charset="0"/>
                <a:ea typeface="Calibri" pitchFamily="34" charset="-122"/>
                <a:cs typeface="Calibri" pitchFamily="34" charset="-120"/>
              </a:rPr>
              <a:t>Verify Access: Log in to the portal today</a:t>
            </a:r>
            <a:endParaRPr lang="en-US" sz="1800" dirty="0"/>
          </a:p>
        </p:txBody>
      </p:sp>
      <p:sp>
        <p:nvSpPr>
          <p:cNvPr id="6" name="Shape 4"/>
          <p:cNvSpPr/>
          <p:nvPr/>
        </p:nvSpPr>
        <p:spPr>
          <a:xfrm>
            <a:off x="478716" y="1874520"/>
            <a:ext cx="365760" cy="365760"/>
          </a:xfrm>
          <a:prstGeom prst="rect">
            <a:avLst/>
          </a:prstGeom>
          <a:solidFill>
            <a:srgbClr val="5AB7A3"/>
          </a:solidFill>
          <a:ln/>
        </p:spPr>
        <p:txBody>
          <a:bodyPr/>
          <a:lstStyle/>
          <a:p>
            <a:endParaRPr lang="en-US"/>
          </a:p>
        </p:txBody>
      </p:sp>
      <p:sp>
        <p:nvSpPr>
          <p:cNvPr id="7" name="Text 5"/>
          <p:cNvSpPr/>
          <p:nvPr/>
        </p:nvSpPr>
        <p:spPr>
          <a:xfrm>
            <a:off x="478716" y="1874520"/>
            <a:ext cx="365760" cy="365760"/>
          </a:xfrm>
          <a:prstGeom prst="rect">
            <a:avLst/>
          </a:prstGeom>
          <a:noFill/>
          <a:ln/>
        </p:spPr>
        <p:txBody>
          <a:bodyPr wrap="square"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8" name="Text 6"/>
          <p:cNvSpPr/>
          <p:nvPr/>
        </p:nvSpPr>
        <p:spPr>
          <a:xfrm>
            <a:off x="1027356" y="1920240"/>
            <a:ext cx="8686800" cy="457200"/>
          </a:xfrm>
          <a:prstGeom prst="rect">
            <a:avLst/>
          </a:prstGeom>
          <a:noFill/>
          <a:ln/>
        </p:spPr>
        <p:txBody>
          <a:bodyPr wrap="square" rtlCol="0" anchor="t"/>
          <a:lstStyle/>
          <a:p>
            <a:pPr marL="0" indent="0" algn="l">
              <a:buNone/>
            </a:pPr>
            <a:r>
              <a:rPr lang="en-US" sz="1800" dirty="0">
                <a:solidFill>
                  <a:srgbClr val="39428E"/>
                </a:solidFill>
                <a:latin typeface="Calibri" pitchFamily="34" charset="0"/>
                <a:ea typeface="Calibri" pitchFamily="34" charset="-122"/>
                <a:cs typeface="Calibri" pitchFamily="34" charset="-120"/>
              </a:rPr>
              <a:t>Create Test Case: Upload sample documents to familiarize yourself</a:t>
            </a:r>
            <a:endParaRPr lang="en-US" sz="1800" dirty="0"/>
          </a:p>
        </p:txBody>
      </p:sp>
      <p:sp>
        <p:nvSpPr>
          <p:cNvPr id="9" name="Shape 7"/>
          <p:cNvSpPr/>
          <p:nvPr/>
        </p:nvSpPr>
        <p:spPr>
          <a:xfrm>
            <a:off x="478716" y="2606040"/>
            <a:ext cx="365760" cy="365760"/>
          </a:xfrm>
          <a:prstGeom prst="rect">
            <a:avLst/>
          </a:prstGeom>
          <a:solidFill>
            <a:srgbClr val="5AB7A3"/>
          </a:solidFill>
          <a:ln/>
        </p:spPr>
        <p:txBody>
          <a:bodyPr/>
          <a:lstStyle/>
          <a:p>
            <a:endParaRPr lang="en-US"/>
          </a:p>
        </p:txBody>
      </p:sp>
      <p:sp>
        <p:nvSpPr>
          <p:cNvPr id="10" name="Text 8"/>
          <p:cNvSpPr/>
          <p:nvPr/>
        </p:nvSpPr>
        <p:spPr>
          <a:xfrm>
            <a:off x="478716" y="2606040"/>
            <a:ext cx="365760" cy="365760"/>
          </a:xfrm>
          <a:prstGeom prst="rect">
            <a:avLst/>
          </a:prstGeom>
          <a:noFill/>
          <a:ln/>
        </p:spPr>
        <p:txBody>
          <a:bodyPr wrap="square"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1" name="Text 9"/>
          <p:cNvSpPr/>
          <p:nvPr/>
        </p:nvSpPr>
        <p:spPr>
          <a:xfrm>
            <a:off x="1027356" y="2651760"/>
            <a:ext cx="8686800" cy="457200"/>
          </a:xfrm>
          <a:prstGeom prst="rect">
            <a:avLst/>
          </a:prstGeom>
          <a:noFill/>
          <a:ln/>
        </p:spPr>
        <p:txBody>
          <a:bodyPr wrap="square" rtlCol="0" anchor="t"/>
          <a:lstStyle/>
          <a:p>
            <a:pPr marL="0" indent="0" algn="l">
              <a:buNone/>
            </a:pPr>
            <a:r>
              <a:rPr lang="en-US" sz="1800" dirty="0">
                <a:solidFill>
                  <a:srgbClr val="39428E"/>
                </a:solidFill>
                <a:latin typeface="Calibri" pitchFamily="34" charset="0"/>
                <a:ea typeface="Calibri" pitchFamily="34" charset="-122"/>
                <a:cs typeface="Calibri" pitchFamily="34" charset="-120"/>
              </a:rPr>
              <a:t>Real Intake: Use Harvey AI for your next eligible case</a:t>
            </a:r>
            <a:endParaRPr lang="en-US" sz="1800" dirty="0"/>
          </a:p>
        </p:txBody>
      </p:sp>
      <p:sp>
        <p:nvSpPr>
          <p:cNvPr id="12" name="Shape 10"/>
          <p:cNvSpPr/>
          <p:nvPr/>
        </p:nvSpPr>
        <p:spPr>
          <a:xfrm>
            <a:off x="478716" y="3337560"/>
            <a:ext cx="365760" cy="365760"/>
          </a:xfrm>
          <a:prstGeom prst="rect">
            <a:avLst/>
          </a:prstGeom>
          <a:solidFill>
            <a:srgbClr val="5AB7A3"/>
          </a:solidFill>
          <a:ln/>
        </p:spPr>
        <p:txBody>
          <a:bodyPr/>
          <a:lstStyle/>
          <a:p>
            <a:endParaRPr lang="en-US"/>
          </a:p>
        </p:txBody>
      </p:sp>
      <p:sp>
        <p:nvSpPr>
          <p:cNvPr id="13" name="Text 11"/>
          <p:cNvSpPr/>
          <p:nvPr/>
        </p:nvSpPr>
        <p:spPr>
          <a:xfrm>
            <a:off x="478716" y="3337560"/>
            <a:ext cx="365760" cy="365760"/>
          </a:xfrm>
          <a:prstGeom prst="rect">
            <a:avLst/>
          </a:prstGeom>
          <a:noFill/>
          <a:ln/>
        </p:spPr>
        <p:txBody>
          <a:bodyPr wrap="square"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4" name="Text 12"/>
          <p:cNvSpPr/>
          <p:nvPr/>
        </p:nvSpPr>
        <p:spPr>
          <a:xfrm>
            <a:off x="1027356" y="3383280"/>
            <a:ext cx="8686800" cy="457200"/>
          </a:xfrm>
          <a:prstGeom prst="rect">
            <a:avLst/>
          </a:prstGeom>
          <a:noFill/>
          <a:ln/>
        </p:spPr>
        <p:txBody>
          <a:bodyPr wrap="square" rtlCol="0" anchor="t"/>
          <a:lstStyle/>
          <a:p>
            <a:pPr marL="0" indent="0" algn="l">
              <a:buNone/>
            </a:pPr>
            <a:r>
              <a:rPr lang="en-US" sz="1800" dirty="0">
                <a:solidFill>
                  <a:srgbClr val="39428E"/>
                </a:solidFill>
                <a:latin typeface="Calibri" pitchFamily="34" charset="0"/>
                <a:ea typeface="Calibri" pitchFamily="34" charset="-122"/>
                <a:cs typeface="Calibri" pitchFamily="34" charset="-120"/>
              </a:rPr>
              <a:t>Attend Q&amp;A: Bring questions and feedback to next Wednesday's session</a:t>
            </a:r>
            <a:endParaRPr lang="en-US" sz="1800" dirty="0"/>
          </a:p>
        </p:txBody>
      </p:sp>
      <p:sp>
        <p:nvSpPr>
          <p:cNvPr id="16" name="Text 14"/>
          <p:cNvSpPr/>
          <p:nvPr/>
        </p:nvSpPr>
        <p:spPr>
          <a:xfrm>
            <a:off x="2112400" y="4503420"/>
            <a:ext cx="4677155" cy="640080"/>
          </a:xfrm>
          <a:prstGeom prst="rect">
            <a:avLst/>
          </a:prstGeom>
          <a:noFill/>
          <a:ln/>
        </p:spPr>
        <p:txBody>
          <a:bodyPr wrap="square" rtlCol="0" anchor="ctr"/>
          <a:lstStyle/>
          <a:p>
            <a:pPr marL="0" indent="0" algn="ctr">
              <a:buNone/>
            </a:pPr>
            <a:r>
              <a:rPr lang="en-US" sz="2000" b="1" dirty="0">
                <a:solidFill>
                  <a:schemeClr val="bg1"/>
                </a:solidFill>
                <a:latin typeface="Calibri" pitchFamily="34" charset="0"/>
                <a:ea typeface="Calibri" pitchFamily="34" charset="-122"/>
                <a:cs typeface="Calibri" pitchFamily="34" charset="-120"/>
              </a:rPr>
              <a:t>This is live. Use it on your next intake.</a:t>
            </a:r>
            <a:endParaRPr lang="en-US" sz="2000" dirty="0">
              <a:solidFill>
                <a:schemeClr val="bg1"/>
              </a:solidFill>
            </a:endParaRPr>
          </a:p>
        </p:txBody>
      </p:sp>
    </p:spTree>
  </p:cSld>
  <p:clrMapOvr>
    <a:masterClrMapping/>
  </p:clrMapOvr>
</p:sld>
</file>

<file path=ppt/theme/theme1.xml><?xml version="1.0" encoding="utf-8"?>
<a:theme xmlns:a="http://schemas.openxmlformats.org/drawingml/2006/main" name="Gallery">
  <a:themeElements>
    <a:clrScheme name="Gallery">
      <a:dk1>
        <a:sysClr val="windowText" lastClr="000000"/>
      </a:dk1>
      <a:lt1>
        <a:sysClr val="window" lastClr="FFFFFF"/>
      </a:lt1>
      <a:dk2>
        <a:srgbClr val="454545"/>
      </a:dk2>
      <a:lt2>
        <a:srgbClr val="DFDBD5"/>
      </a:lt2>
      <a:accent1>
        <a:srgbClr val="B71E42"/>
      </a:accent1>
      <a:accent2>
        <a:srgbClr val="DE478E"/>
      </a:accent2>
      <a:accent3>
        <a:srgbClr val="BC72F0"/>
      </a:accent3>
      <a:accent4>
        <a:srgbClr val="795FAF"/>
      </a:accent4>
      <a:accent5>
        <a:srgbClr val="586EA6"/>
      </a:accent5>
      <a:accent6>
        <a:srgbClr val="6892A0"/>
      </a:accent6>
      <a:hlink>
        <a:srgbClr val="FA2B5C"/>
      </a:hlink>
      <a:folHlink>
        <a:srgbClr val="BC658E"/>
      </a:folHlink>
    </a:clrScheme>
    <a:fontScheme name="Gallery">
      <a:majorFont>
        <a:latin typeface="Gill Sans MT" panose="020B0502020104020203"/>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panose="020B0502020104020203"/>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Gallery">
      <a:fillStyleLst>
        <a:solidFill>
          <a:schemeClr val="phClr"/>
        </a:solidFill>
        <a:gradFill rotWithShape="1">
          <a:gsLst>
            <a:gs pos="0">
              <a:schemeClr val="phClr">
                <a:tint val="54000"/>
                <a:alpha val="100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8000"/>
                <a:satMod val="130000"/>
                <a:lumMod val="92000"/>
              </a:schemeClr>
            </a:gs>
            <a:gs pos="100000">
              <a:schemeClr val="phClr">
                <a:shade val="78000"/>
                <a:satMod val="130000"/>
                <a:lumMod val="92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0800" dist="50800" dir="5400000" sx="96000" sy="96000" rotWithShape="0">
              <a:srgbClr val="000000">
                <a:alpha val="48000"/>
              </a:srgbClr>
            </a:outerShdw>
          </a:effectLst>
          <a:scene3d>
            <a:camera prst="orthographicFront">
              <a:rot lat="0" lon="0" rev="0"/>
            </a:camera>
            <a:lightRig rig="balanced" dir="t">
              <a:rot lat="0" lon="0" rev="1080000"/>
            </a:lightRig>
          </a:scene3d>
          <a:sp3d>
            <a:bevelT w="38100" h="12700" prst="softRound"/>
          </a:sp3d>
        </a:effectStyle>
      </a:effectStyleLst>
      <a:bgFillStyleLst>
        <a:solidFill>
          <a:schemeClr val="phClr"/>
        </a:solidFill>
        <a:solidFill>
          <a:schemeClr val="phClr"/>
        </a:solidFill>
        <a:gradFill rotWithShape="1">
          <a:gsLst>
            <a:gs pos="0">
              <a:schemeClr val="phClr">
                <a:tint val="94000"/>
                <a:satMod val="80000"/>
                <a:lumMod val="106000"/>
              </a:schemeClr>
            </a:gs>
            <a:gs pos="100000">
              <a:schemeClr val="phClr">
                <a:shade val="8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Gallery" id="{BBFCD31E-59A1-489D-B089-A3EAD7CAE12E}" vid="{F5E91637-A7B6-4E27-B710-77DA7014EE1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Gallery</Template>
  <TotalTime>130</TotalTime>
  <Words>1511</Words>
  <Application>Microsoft Macintosh PowerPoint</Application>
  <PresentationFormat>On-screen Show (16:9)</PresentationFormat>
  <Paragraphs>114</Paragraphs>
  <Slides>22</Slides>
  <Notes>22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22</vt:i4>
      </vt:variant>
    </vt:vector>
  </HeadingPairs>
  <TitlesOfParts>
    <vt:vector size="26" baseType="lpstr">
      <vt:lpstr>Arial</vt:lpstr>
      <vt:lpstr>Calibri</vt:lpstr>
      <vt:lpstr>Gill Sans MT</vt:lpstr>
      <vt:lpstr>Gallery</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Bernhardt Riley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Harvey AI: Legal Document Analysis Portal</dc:title>
  <dc:subject>Harvey AI Attorney Adoption</dc:subject>
  <dc:creator>Bernhardt Riley</dc:creator>
  <cp:lastModifiedBy>Franklin Riley</cp:lastModifiedBy>
  <cp:revision>5</cp:revision>
  <dcterms:created xsi:type="dcterms:W3CDTF">2026-01-23T17:15:23Z</dcterms:created>
  <dcterms:modified xsi:type="dcterms:W3CDTF">2026-01-23T19:28:42Z</dcterms:modified>
</cp:coreProperties>
</file>