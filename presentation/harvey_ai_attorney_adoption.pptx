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2" r:id="rId1"/>
  </p:sldMasterIdLst>
  <p:notesMasterIdLst>
    <p:notesMasterId r:id="rId21"/>
  </p:notesMasterIdLst>
  <p:sldIdLst>
    <p:sldId id="256" r:id="rId2"/>
    <p:sldId id="257" r:id="rId3"/>
    <p:sldId id="258" r:id="rId4"/>
    <p:sldId id="259" r:id="rId5"/>
    <p:sldId id="266" r:id="rId6"/>
    <p:sldId id="267" r:id="rId7"/>
    <p:sldId id="274" r:id="rId8"/>
    <p:sldId id="275" r:id="rId9"/>
    <p:sldId id="276" r:id="rId10"/>
    <p:sldId id="277" r:id="rId11"/>
    <p:sldId id="278" r:id="rId12"/>
    <p:sldId id="279" r:id="rId13"/>
    <p:sldId id="280" r:id="rId14"/>
    <p:sldId id="260" r:id="rId15"/>
    <p:sldId id="261" r:id="rId16"/>
    <p:sldId id="262" r:id="rId17"/>
    <p:sldId id="263" r:id="rId18"/>
    <p:sldId id="264" r:id="rId19"/>
    <p:sldId id="265" r:id="rId20"/>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37"/>
    <p:restoredTop sz="94610"/>
  </p:normalViewPr>
  <p:slideViewPr>
    <p:cSldViewPr snapToGrid="0" snapToObjects="1">
      <p:cViewPr>
        <p:scale>
          <a:sx n="95" d="100"/>
          <a:sy n="95" d="100"/>
        </p:scale>
        <p:origin x="1256" y="24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8330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prototype or a beta test. This is production-ready software (Version 3.1.0) deployed live today to accelerate your document review and drafting process.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solving for the bottleneck in case intake. The goal is to remove the "busywork" of reading 50 pages just to understand the basic timeline, allowing you to focus on strategy immediately.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this tool as a tireless junior associate. It handles the initial review and drafting, giving you an 80% complete draft. You remain responsible for the final review and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designed to be simple. There is no complex manual to study. You can run your first analysis in less than 5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best results, upload core documents first: intake forms, police reports, contracts, and key correspondence. The system handles files up to 50MB each.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critical feature for trust. You do not have to guess where a fact came from. You can audit the AI's work by clicking the citations.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prevents the AI from inventing laws. However, it cannot replace your judgment on whether a law is appropriate for the case strategy. You are the final decision-maker.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use this for federal cases or criminal law. The legal validation corpus does not cover those areas, and results will be unreliable.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expect every attorney to log in and create a test case this week. Success is defined by using this on real client matters to reduce your intake time.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live. Please log in after this meeting and try it out. Trust the system to handle the reading, but verify the output before you send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13335" y="601724"/>
            <a:ext cx="6477805" cy="1906073"/>
          </a:xfrm>
        </p:spPr>
        <p:txBody>
          <a:bodyPr bIns="0" anchor="b">
            <a:normAutofit/>
          </a:bodyPr>
          <a:lstStyle>
            <a:lvl1pPr algn="l">
              <a:defRPr sz="4950"/>
            </a:lvl1pPr>
          </a:lstStyle>
          <a:p>
            <a:r>
              <a:rPr lang="en-US"/>
              <a:t>Click to edit Master title style</a:t>
            </a:r>
            <a:endParaRPr lang="en-US" dirty="0"/>
          </a:p>
        </p:txBody>
      </p:sp>
      <p:sp>
        <p:nvSpPr>
          <p:cNvPr id="3" name="Subtitle 2"/>
          <p:cNvSpPr>
            <a:spLocks noGrp="1"/>
          </p:cNvSpPr>
          <p:nvPr>
            <p:ph type="subTitle" idx="1"/>
          </p:nvPr>
        </p:nvSpPr>
        <p:spPr>
          <a:xfrm>
            <a:off x="1813335" y="2648403"/>
            <a:ext cx="6477804" cy="733216"/>
          </a:xfrm>
        </p:spPr>
        <p:txBody>
          <a:bodyPr tIns="91440" bIns="91440">
            <a:normAutofit/>
          </a:bodyPr>
          <a:lstStyle>
            <a:lvl1pPr marL="0" indent="0" algn="l">
              <a:buNone/>
              <a:defRPr sz="1350" b="0" cap="all" baseline="0">
                <a:solidFill>
                  <a:schemeClr val="tx1"/>
                </a:solidFill>
              </a:defRPr>
            </a:lvl1pPr>
            <a:lvl2pPr marL="342900" indent="0" algn="ctr">
              <a:buNone/>
              <a:defRPr sz="135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a:xfrm>
            <a:off x="1812376" y="246981"/>
            <a:ext cx="3730436" cy="231901"/>
          </a:xfrm>
        </p:spPr>
        <p:txBody>
          <a:bodyPr/>
          <a:lstStyle/>
          <a:p>
            <a:endParaRPr lang="en-US" dirty="0"/>
          </a:p>
        </p:txBody>
      </p:sp>
      <p:sp>
        <p:nvSpPr>
          <p:cNvPr id="6" name="Slide Number Placeholder 5"/>
          <p:cNvSpPr>
            <a:spLocks noGrp="1"/>
          </p:cNvSpPr>
          <p:nvPr>
            <p:ph type="sldNum" sz="quarter" idx="12"/>
          </p:nvPr>
        </p:nvSpPr>
        <p:spPr>
          <a:xfrm>
            <a:off x="1078249" y="599230"/>
            <a:ext cx="608264" cy="377684"/>
          </a:xfrm>
        </p:spPr>
        <p:txBody>
          <a:bodyPr/>
          <a:lstStyle/>
          <a:p>
            <a:fld id="{6D22F896-40B5-4ADD-8801-0D06FADFA095}" type="slidenum">
              <a:rPr lang="en-US" smtClean="0"/>
              <a:t>‹#›</a:t>
            </a:fld>
            <a:endParaRPr lang="en-US" dirty="0"/>
          </a:p>
        </p:txBody>
      </p:sp>
      <p:cxnSp>
        <p:nvCxnSpPr>
          <p:cNvPr id="15" name="Straight Connector 14"/>
          <p:cNvCxnSpPr/>
          <p:nvPr/>
        </p:nvCxnSpPr>
        <p:spPr>
          <a:xfrm>
            <a:off x="1813335" y="2646407"/>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68605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33" name="Straight Connector 32"/>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0369392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90679" y="1317097"/>
            <a:ext cx="6482366" cy="1415963"/>
          </a:xfrm>
        </p:spPr>
        <p:txBody>
          <a:bodyPr anchor="b">
            <a:normAutofit/>
          </a:bodyPr>
          <a:lstStyle>
            <a:lvl1pPr algn="l">
              <a:defRPr sz="2700"/>
            </a:lvl1pPr>
          </a:lstStyle>
          <a:p>
            <a:r>
              <a:rPr lang="en-US"/>
              <a:t>Click to edit Master title style</a:t>
            </a:r>
            <a:endParaRPr lang="en-US" dirty="0"/>
          </a:p>
        </p:txBody>
      </p:sp>
      <p:sp>
        <p:nvSpPr>
          <p:cNvPr id="3" name="Text Placeholder 2"/>
          <p:cNvSpPr>
            <a:spLocks noGrp="1"/>
          </p:cNvSpPr>
          <p:nvPr>
            <p:ph type="body" idx="1"/>
          </p:nvPr>
        </p:nvSpPr>
        <p:spPr>
          <a:xfrm>
            <a:off x="1090679" y="2854647"/>
            <a:ext cx="6472835" cy="759697"/>
          </a:xfrm>
        </p:spPr>
        <p:txBody>
          <a:bodyPr tIns="91440">
            <a:normAutofit/>
          </a:bodyPr>
          <a:lstStyle>
            <a:lvl1pPr marL="0" indent="0" algn="l">
              <a:buNone/>
              <a:defRPr sz="1350">
                <a:solidFill>
                  <a:schemeClr val="tx1"/>
                </a:solidFill>
              </a:defRPr>
            </a:lvl1pPr>
            <a:lvl2pPr marL="342900" indent="0">
              <a:buNone/>
              <a:defRPr sz="135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15" name="Straight Connector 14"/>
          <p:cNvCxnSpPr/>
          <p:nvPr/>
        </p:nvCxnSpPr>
        <p:spPr>
          <a:xfrm>
            <a:off x="1090679" y="2853739"/>
            <a:ext cx="64728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637344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86913" y="603667"/>
            <a:ext cx="7204226" cy="79447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85498" y="1508159"/>
            <a:ext cx="3483864" cy="25864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10328" y="1513007"/>
            <a:ext cx="3483864" cy="2581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35" name="Straight Connector 3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5733612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85394" y="603123"/>
            <a:ext cx="7205746" cy="79223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85393" y="1514662"/>
            <a:ext cx="3483864" cy="601457"/>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085393" y="2118202"/>
            <a:ext cx="3483864" cy="19833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09272" y="1517253"/>
            <a:ext cx="3483864" cy="601678"/>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09272" y="2116119"/>
            <a:ext cx="3483864" cy="19780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cxnSp>
        <p:nvCxnSpPr>
          <p:cNvPr id="29" name="Straight Connector 28"/>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203077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1/23/26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cxnSp>
        <p:nvCxnSpPr>
          <p:cNvPr id="25" name="Straight Connector 2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61566262"/>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1/23/26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91691577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3504" y="599230"/>
            <a:ext cx="2454824" cy="1685338"/>
          </a:xfrm>
        </p:spPr>
        <p:txBody>
          <a:bodyPr anchor="b">
            <a:normAutofit/>
          </a:bodyPr>
          <a:lstStyle>
            <a:lvl1pPr algn="l">
              <a:defRPr sz="1800"/>
            </a:lvl1pPr>
          </a:lstStyle>
          <a:p>
            <a:r>
              <a:rPr lang="en-US"/>
              <a:t>Click to edit Master title style</a:t>
            </a:r>
            <a:endParaRPr lang="en-US" dirty="0"/>
          </a:p>
        </p:txBody>
      </p:sp>
      <p:sp>
        <p:nvSpPr>
          <p:cNvPr id="3" name="Content Placeholder 2"/>
          <p:cNvSpPr>
            <a:spLocks noGrp="1"/>
          </p:cNvSpPr>
          <p:nvPr>
            <p:ph idx="1"/>
          </p:nvPr>
        </p:nvSpPr>
        <p:spPr>
          <a:xfrm>
            <a:off x="3782785" y="599230"/>
            <a:ext cx="4509353" cy="349412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83503" y="2404119"/>
            <a:ext cx="2456260" cy="1686136"/>
          </a:xfrm>
        </p:spPr>
        <p:txBody>
          <a:bodyPr/>
          <a:lstStyle>
            <a:lvl1pPr marL="0" indent="0" algn="l">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17" name="Straight Connector 16"/>
          <p:cNvCxnSpPr/>
          <p:nvPr/>
        </p:nvCxnSpPr>
        <p:spPr>
          <a:xfrm>
            <a:off x="1086210" y="2404118"/>
            <a:ext cx="245211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1552141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5608041" y="361628"/>
            <a:ext cx="3055900" cy="3861826"/>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088405" y="847135"/>
            <a:ext cx="4149246" cy="1372938"/>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3292" y="841907"/>
            <a:ext cx="2093378" cy="2899745"/>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087747" y="2359494"/>
            <a:ext cx="4143303" cy="1502807"/>
          </a:xfrm>
        </p:spPr>
        <p:txBody>
          <a:bodyPr>
            <a:normAutofit/>
          </a:bodyPr>
          <a:lstStyle>
            <a:lvl1pPr marL="0" indent="0" algn="l">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085537" y="4102393"/>
            <a:ext cx="4145513" cy="240092"/>
          </a:xfrm>
        </p:spPr>
        <p:txBody>
          <a:bodyPr/>
          <a:lstStyle>
            <a:lvl1pPr algn="l">
              <a:defRPr/>
            </a:lvl1pPr>
          </a:lstStyle>
          <a:p>
            <a:fld id="{48A87A34-81AB-432B-8DAE-1953F412C126}" type="datetimeFigureOut">
              <a:rPr lang="en-US" smtClean="0"/>
              <a:pPr/>
              <a:t>1/23/26</a:t>
            </a:fld>
            <a:endParaRPr lang="en-US" dirty="0"/>
          </a:p>
        </p:txBody>
      </p:sp>
      <p:sp>
        <p:nvSpPr>
          <p:cNvPr id="6" name="Footer Placeholder 5"/>
          <p:cNvSpPr>
            <a:spLocks noGrp="1"/>
          </p:cNvSpPr>
          <p:nvPr>
            <p:ph type="ftr" sz="quarter" idx="11"/>
          </p:nvPr>
        </p:nvSpPr>
        <p:spPr>
          <a:xfrm>
            <a:off x="1085537" y="238981"/>
            <a:ext cx="4155753" cy="240698"/>
          </a:xfrm>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cxnSp>
        <p:nvCxnSpPr>
          <p:cNvPr id="31" name="Straight Connector 30"/>
          <p:cNvCxnSpPr/>
          <p:nvPr/>
        </p:nvCxnSpPr>
        <p:spPr>
          <a:xfrm>
            <a:off x="1085537" y="2357704"/>
            <a:ext cx="414551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3999842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26" name="Straight Connector 25"/>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3363426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79333" y="599230"/>
            <a:ext cx="1211807" cy="3494917"/>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83504" y="599230"/>
            <a:ext cx="5871623" cy="34949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cxnSp>
        <p:nvCxnSpPr>
          <p:cNvPr id="15" name="Straight Connector 14"/>
          <p:cNvCxnSpPr/>
          <p:nvPr/>
        </p:nvCxnSpPr>
        <p:spPr>
          <a:xfrm>
            <a:off x="7079333" y="599230"/>
            <a:ext cx="0" cy="3494917"/>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3812521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6106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1514607"/>
            <a:ext cx="9144000" cy="3079456"/>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4">
            <a:extLst>
              <a:ext uri="{28A0092B-C50C-407E-A947-70E740481C1C}">
                <a14:useLocalDpi xmlns:a14="http://schemas.microsoft.com/office/drawing/2010/main" val="0"/>
              </a:ext>
            </a:extLst>
          </a:blip>
          <a:srcRect t="1538" b="-1538"/>
          <a:stretch/>
        </p:blipFill>
        <p:spPr bwMode="black">
          <a:xfrm>
            <a:off x="0" y="4594860"/>
            <a:ext cx="9144000" cy="557213"/>
          </a:xfrm>
          <a:prstGeom prst="rect">
            <a:avLst/>
          </a:prstGeom>
        </p:spPr>
      </p:pic>
      <p:sp>
        <p:nvSpPr>
          <p:cNvPr id="2" name="Title Placeholder 1"/>
          <p:cNvSpPr>
            <a:spLocks noGrp="1"/>
          </p:cNvSpPr>
          <p:nvPr>
            <p:ph type="title"/>
          </p:nvPr>
        </p:nvSpPr>
        <p:spPr>
          <a:xfrm>
            <a:off x="1088685" y="603390"/>
            <a:ext cx="7202456" cy="78692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88685" y="1511799"/>
            <a:ext cx="7202456" cy="25879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65604" y="247778"/>
            <a:ext cx="2625536" cy="231901"/>
          </a:xfrm>
          <a:prstGeom prst="rect">
            <a:avLst/>
          </a:prstGeom>
        </p:spPr>
        <p:txBody>
          <a:bodyPr vert="horz" lIns="91440" tIns="45720" rIns="91440" bIns="45720" rtlCol="0" anchor="ctr"/>
          <a:lstStyle>
            <a:lvl1pPr algn="r">
              <a:defRPr sz="750">
                <a:solidFill>
                  <a:schemeClr val="tx1">
                    <a:tint val="75000"/>
                  </a:schemeClr>
                </a:solidFill>
              </a:defRPr>
            </a:lvl1pPr>
          </a:lstStyle>
          <a:p>
            <a:fld id="{48A87A34-81AB-432B-8DAE-1953F412C126}" type="datetimeFigureOut">
              <a:rPr lang="en-US" smtClean="0"/>
              <a:pPr/>
              <a:t>1/23/26</a:t>
            </a:fld>
            <a:endParaRPr lang="en-US" dirty="0"/>
          </a:p>
        </p:txBody>
      </p:sp>
      <p:sp>
        <p:nvSpPr>
          <p:cNvPr id="5" name="Footer Placeholder 4"/>
          <p:cNvSpPr>
            <a:spLocks noGrp="1"/>
          </p:cNvSpPr>
          <p:nvPr>
            <p:ph type="ftr" sz="quarter" idx="3"/>
          </p:nvPr>
        </p:nvSpPr>
        <p:spPr>
          <a:xfrm>
            <a:off x="1088684" y="246981"/>
            <a:ext cx="4454127" cy="231901"/>
          </a:xfrm>
          <a:prstGeom prst="rect">
            <a:avLst/>
          </a:prstGeom>
        </p:spPr>
        <p:txBody>
          <a:bodyPr vert="horz" lIns="91440" tIns="45720" rIns="91440" bIns="45720" rtlCol="0" anchor="ctr"/>
          <a:lstStyle>
            <a:lvl1pPr algn="l">
              <a:defRPr sz="7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0046" y="599230"/>
            <a:ext cx="608264" cy="377684"/>
          </a:xfrm>
          <a:prstGeom prst="rect">
            <a:avLst/>
          </a:prstGeom>
        </p:spPr>
        <p:txBody>
          <a:bodyPr vert="horz" lIns="91440" tIns="45720" rIns="91440" bIns="45720" rtlCol="0" anchor="t"/>
          <a:lstStyle>
            <a:lvl1pPr algn="r">
              <a:defRPr sz="2100">
                <a:solidFill>
                  <a:schemeClr val="accent1"/>
                </a:solidFill>
              </a:defRPr>
            </a:lvl1pPr>
          </a:lstStyle>
          <a:p>
            <a:fld id="{6D22F896-40B5-4ADD-8801-0D06FADFA095}" type="slidenum">
              <a:rPr lang="en-US" smtClean="0"/>
              <a:pPr/>
              <a:t>‹#›</a:t>
            </a:fld>
            <a:endParaRPr lang="en-US" dirty="0"/>
          </a:p>
        </p:txBody>
      </p:sp>
      <p:cxnSp>
        <p:nvCxnSpPr>
          <p:cNvPr id="10" name="Straight Connector 9"/>
          <p:cNvCxnSpPr/>
          <p:nvPr/>
        </p:nvCxnSpPr>
        <p:spPr>
          <a:xfrm>
            <a:off x="0" y="4596310"/>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188034"/>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Lst>
  <p:hf sldNum="0" hdr="0" ftr="0" dt="0"/>
  <p:txStyles>
    <p:titleStyle>
      <a:lvl1pPr algn="l" defTabSz="685800" rtl="0" eaLnBrk="1" latinLnBrk="0" hangingPunct="1">
        <a:lnSpc>
          <a:spcPct val="90000"/>
        </a:lnSpc>
        <a:spcBef>
          <a:spcPct val="0"/>
        </a:spcBef>
        <a:buNone/>
        <a:defRPr sz="2400" b="0" i="0" kern="1200" cap="all">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accent1"/>
        </a:buClr>
        <a:buSzPct val="100000"/>
        <a:buFont typeface="Arial" panose="020B0604020202020204" pitchFamily="34" charset="0"/>
        <a:buChar char="•"/>
        <a:defRPr sz="1500" kern="120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350" kern="1200" cap="none"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050" kern="1200" cap="none"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3" name="Straight Connector 12">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BBC7667-C352-4842-9AFD-E5C16AD002F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813335" y="2646406"/>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17" name="Rectangle 16">
            <a:extLst>
              <a:ext uri="{FF2B5EF4-FFF2-40B4-BE49-F238E27FC236}">
                <a16:creationId xmlns:a16="http://schemas.microsoft.com/office/drawing/2014/main" id="{1EE485E7-7D6D-4CB0-A3AD-261D97B2E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55E3208-F0C4-4962-8946-065C94F89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2" name="Text 0"/>
          <p:cNvSpPr/>
          <p:nvPr/>
        </p:nvSpPr>
        <p:spPr>
          <a:xfrm>
            <a:off x="3855176" y="770952"/>
            <a:ext cx="4562781" cy="2783921"/>
          </a:xfrm>
          <a:prstGeom prst="rect">
            <a:avLst/>
          </a:prstGeom>
        </p:spPr>
        <p:txBody>
          <a:bodyPr vert="horz" lIns="91440" tIns="45720" rIns="91440" bIns="0" rtlCol="0" anchor="ctr">
            <a:normAutofit/>
          </a:bodyPr>
          <a:lstStyle/>
          <a:p>
            <a:pPr marL="0" indent="0" defTabSz="914400">
              <a:lnSpc>
                <a:spcPct val="90000"/>
              </a:lnSpc>
              <a:spcBef>
                <a:spcPct val="0"/>
              </a:spcBef>
              <a:spcAft>
                <a:spcPts val="600"/>
              </a:spcAft>
            </a:pPr>
            <a:r>
              <a:rPr lang="en-US" sz="4100" cap="all">
                <a:latin typeface="+mj-lt"/>
                <a:ea typeface="+mj-ea"/>
                <a:cs typeface="+mj-cs"/>
              </a:rPr>
              <a:t>Harvey AI</a:t>
            </a:r>
          </a:p>
        </p:txBody>
      </p:sp>
      <p:sp>
        <p:nvSpPr>
          <p:cNvPr id="3" name="Text 1"/>
          <p:cNvSpPr/>
          <p:nvPr/>
        </p:nvSpPr>
        <p:spPr>
          <a:xfrm>
            <a:off x="726042" y="770952"/>
            <a:ext cx="2441175" cy="2783921"/>
          </a:xfrm>
          <a:prstGeom prst="rect">
            <a:avLst/>
          </a:prstGeom>
        </p:spPr>
        <p:txBody>
          <a:bodyPr vert="horz" lIns="91440" tIns="91440" rIns="91440" bIns="91440" rtlCol="0" anchor="ctr">
            <a:normAutofit/>
          </a:bodyPr>
          <a:lstStyle/>
          <a:p>
            <a:pPr algn="r" defTabSz="914400">
              <a:lnSpc>
                <a:spcPct val="120000"/>
              </a:lnSpc>
              <a:spcBef>
                <a:spcPts val="1000"/>
              </a:spcBef>
              <a:buClr>
                <a:schemeClr val="accent1"/>
              </a:buClr>
              <a:buSzPct val="100000"/>
            </a:pPr>
            <a:r>
              <a:rPr lang="en-US" cap="all"/>
              <a:t>Legal Document Analysis Portal</a:t>
            </a:r>
          </a:p>
        </p:txBody>
      </p:sp>
      <p:cxnSp>
        <p:nvCxnSpPr>
          <p:cNvPr id="21" name="Straight Connector 20">
            <a:extLst>
              <a:ext uri="{FF2B5EF4-FFF2-40B4-BE49-F238E27FC236}">
                <a16:creationId xmlns:a16="http://schemas.microsoft.com/office/drawing/2014/main" id="{4FAE17D3-C2DC-4665-AF20-33C5BACD5E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031343"/>
            <a:ext cx="0" cy="2263140"/>
          </a:xfrm>
          <a:prstGeom prst="line">
            <a:avLst/>
          </a:prstGeom>
          <a:ln w="31750"/>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7021C573-B3FF-44B8-A5DE-AB39E9AA6B9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5" name="Straight Connector 24">
            <a:extLst>
              <a:ext uri="{FF2B5EF4-FFF2-40B4-BE49-F238E27FC236}">
                <a16:creationId xmlns:a16="http://schemas.microsoft.com/office/drawing/2014/main" id="{50B0CCD4-E9B0-43B2-806F-05EDF57A76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4" name="Text 2"/>
          <p:cNvSpPr/>
          <p:nvPr/>
        </p:nvSpPr>
        <p:spPr>
          <a:xfrm>
            <a:off x="551329" y="3581204"/>
            <a:ext cx="8095130" cy="804134"/>
          </a:xfrm>
          <a:prstGeom prst="rect">
            <a:avLst/>
          </a:prstGeom>
          <a:noFill/>
          <a:ln/>
        </p:spPr>
        <p:txBody>
          <a:bodyPr wrap="square" rtlCol="0" anchor="ctr"/>
          <a:lstStyle/>
          <a:p>
            <a:pPr marL="0" indent="0" algn="ctr">
              <a:spcAft>
                <a:spcPts val="600"/>
              </a:spcAft>
              <a:buNone/>
            </a:pPr>
            <a:r>
              <a:rPr lang="en-US" sz="1800" dirty="0">
                <a:solidFill>
                  <a:srgbClr val="39428E"/>
                </a:solidFill>
                <a:latin typeface="Calibri" pitchFamily="34" charset="0"/>
                <a:ea typeface="Calibri" pitchFamily="34" charset="-122"/>
                <a:cs typeface="Calibri" pitchFamily="34" charset="-120"/>
              </a:rPr>
              <a:t>Attorney Adoption Presentation</a:t>
            </a:r>
            <a:endParaRPr lang="en-US" sz="1800"/>
          </a:p>
          <a:p>
            <a:pPr marL="0" indent="0" algn="ctr">
              <a:spcAft>
                <a:spcPts val="600"/>
              </a:spcAft>
              <a:buNone/>
            </a:pPr>
            <a:r>
              <a:rPr lang="en-US" sz="1800" dirty="0">
                <a:solidFill>
                  <a:srgbClr val="39428E"/>
                </a:solidFill>
                <a:latin typeface="Calibri" pitchFamily="34" charset="0"/>
                <a:ea typeface="Calibri" pitchFamily="34" charset="-122"/>
                <a:cs typeface="Calibri" pitchFamily="34" charset="-120"/>
              </a:rPr>
              <a:t>Bernhardt Riley | January 2026</a:t>
            </a:r>
            <a:endParaRPr lang="en-US" sz="18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The Problem: Inefficient Intake</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Manual document review requires hours to extract basic facts.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Initial review consumes attorney time without requiring senior judgment.</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Creating findings letters from scratch leads to inconsistencies.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Manual citation is error-prone and creates liability risk</a:t>
            </a:r>
          </a:p>
        </p:txBody>
      </p:sp>
      <p:sp>
        <p:nvSpPr>
          <p:cNvPr id="5" name="Text 3"/>
          <p:cNvSpPr/>
          <p:nvPr/>
        </p:nvSpPr>
        <p:spPr>
          <a:xfrm>
            <a:off x="914399" y="3858051"/>
            <a:ext cx="7189153" cy="293146"/>
          </a:xfrm>
          <a:prstGeom prst="rect">
            <a:avLst/>
          </a:prstGeom>
          <a:noFill/>
          <a:ln/>
        </p:spPr>
        <p:txBody>
          <a:bodyPr wrap="square" rtlCol="0" anchor="ctr"/>
          <a:lstStyle/>
          <a:p>
            <a:pPr marL="0" indent="0" algn="ctr">
              <a:spcAft>
                <a:spcPts val="600"/>
              </a:spcAft>
              <a:buNone/>
            </a:pPr>
            <a:r>
              <a:rPr lang="en-US" sz="2200" b="1" dirty="0">
                <a:solidFill>
                  <a:srgbClr val="181A31"/>
                </a:solidFill>
                <a:latin typeface="Calibri" pitchFamily="34" charset="0"/>
                <a:ea typeface="Calibri" pitchFamily="34" charset="-122"/>
                <a:cs typeface="Calibri" pitchFamily="34" charset="-120"/>
              </a:rPr>
              <a:t>This tool removes the busywork, not your judgment.</a:t>
            </a:r>
            <a:endParaRPr lang="en-US" sz="2200" dirty="0"/>
          </a:p>
        </p:txBody>
      </p:sp>
    </p:spTree>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3" name="Picture 22">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5" name="Straight Connector 24">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29" name="Rectangle 28">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ext 0"/>
          <p:cNvSpPr/>
          <p:nvPr/>
        </p:nvSpPr>
        <p:spPr>
          <a:xfrm>
            <a:off x="609153" y="603389"/>
            <a:ext cx="2431365" cy="3323520"/>
          </a:xfrm>
          <a:prstGeom prst="rect">
            <a:avLst/>
          </a:prstGeom>
        </p:spPr>
        <p:txBody>
          <a:bodyPr vert="horz" lIns="91440" tIns="45720" rIns="91440" bIns="45720" rtlCol="0" anchor="ctr">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The Solution: Harvey AI</a:t>
            </a:r>
          </a:p>
        </p:txBody>
      </p:sp>
      <p:cxnSp>
        <p:nvCxnSpPr>
          <p:cNvPr id="33" name="Straight Connector 32">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Text 1"/>
          <p:cNvSpPr/>
          <p:nvPr/>
        </p:nvSpPr>
        <p:spPr>
          <a:xfrm>
            <a:off x="3478397" y="603390"/>
            <a:ext cx="4576919" cy="3323519"/>
          </a:xfrm>
          <a:prstGeom prst="rect">
            <a:avLst/>
          </a:prstGeom>
        </p:spPr>
        <p:txBody>
          <a:bodyPr vert="horz" lIns="91440" tIns="45720" rIns="91440" bIns="45720" rtlCol="0" anchor="ctr">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Production software that analyzes documents and generates findings letters.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Extracts text, identifies facts, and constructs timelines automatically.</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Validates statute citations against verified legal corpus.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dirty="0"/>
              <a:t>Every fact cited directly to its source document</a:t>
            </a:r>
          </a:p>
        </p:txBody>
      </p:sp>
      <p:pic>
        <p:nvPicPr>
          <p:cNvPr id="35" name="Picture 34">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
        <p:nvSpPr>
          <p:cNvPr id="5" name="Text 3"/>
          <p:cNvSpPr/>
          <p:nvPr/>
        </p:nvSpPr>
        <p:spPr>
          <a:xfrm>
            <a:off x="748834" y="4561913"/>
            <a:ext cx="7646332" cy="299870"/>
          </a:xfrm>
          <a:prstGeom prst="rect">
            <a:avLst/>
          </a:prstGeom>
          <a:noFill/>
          <a:ln/>
        </p:spPr>
        <p:txBody>
          <a:bodyPr wrap="square" rtlCol="0" anchor="ctr"/>
          <a:lstStyle/>
          <a:p>
            <a:pPr marL="0" indent="0" algn="ctr">
              <a:spcAft>
                <a:spcPts val="600"/>
              </a:spcAft>
              <a:buNone/>
            </a:pPr>
            <a:r>
              <a:rPr lang="en-US" sz="2200" b="1" dirty="0">
                <a:solidFill>
                  <a:srgbClr val="181A31"/>
                </a:solidFill>
                <a:latin typeface="Calibri" pitchFamily="34" charset="0"/>
                <a:ea typeface="Calibri" pitchFamily="34" charset="-122"/>
                <a:cs typeface="Calibri" pitchFamily="34" charset="-120"/>
              </a:rPr>
              <a:t>Think of this as a tireless junior associate.</a:t>
            </a:r>
            <a:endParaRPr lang="en-US" sz="2200"/>
          </a:p>
        </p:txBody>
      </p:sp>
    </p:spTree>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43753" y="0"/>
            <a:ext cx="10360152" cy="1097280"/>
          </a:xfrm>
          <a:prstGeom prst="rect">
            <a:avLst/>
          </a:prstGeom>
          <a:noFill/>
          <a:ln/>
        </p:spPr>
        <p:txBody>
          <a:bodyPr wrap="square" rtlCol="0" anchor="ctr"/>
          <a:lstStyle/>
          <a:p>
            <a:pPr marL="0" indent="0" algn="l">
              <a:buNone/>
            </a:pPr>
            <a:r>
              <a:rPr lang="en-US" sz="3600" b="1" dirty="0">
                <a:solidFill>
                  <a:srgbClr val="181A31"/>
                </a:solidFill>
                <a:latin typeface="Calibri" pitchFamily="34" charset="0"/>
                <a:ea typeface="Calibri" pitchFamily="34" charset="-122"/>
                <a:cs typeface="Calibri" pitchFamily="34" charset="-120"/>
              </a:rPr>
              <a:t>The Attorney Workflow</a:t>
            </a:r>
            <a:endParaRPr lang="en-US" sz="3600" dirty="0"/>
          </a:p>
        </p:txBody>
      </p:sp>
      <p:sp>
        <p:nvSpPr>
          <p:cNvPr id="3" name="Shape 1"/>
          <p:cNvSpPr/>
          <p:nvPr/>
        </p:nvSpPr>
        <p:spPr>
          <a:xfrm>
            <a:off x="626633" y="1143000"/>
            <a:ext cx="365760" cy="365760"/>
          </a:xfrm>
          <a:prstGeom prst="ellipse">
            <a:avLst/>
          </a:prstGeom>
          <a:solidFill>
            <a:srgbClr val="5AB7A3"/>
          </a:solidFill>
          <a:ln/>
        </p:spPr>
        <p:txBody>
          <a:bodyPr/>
          <a:lstStyle/>
          <a:p>
            <a:endParaRPr lang="en-US"/>
          </a:p>
        </p:txBody>
      </p:sp>
      <p:sp>
        <p:nvSpPr>
          <p:cNvPr id="4" name="Text 2"/>
          <p:cNvSpPr/>
          <p:nvPr/>
        </p:nvSpPr>
        <p:spPr>
          <a:xfrm>
            <a:off x="626633" y="11430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p:nvPr/>
        </p:nvSpPr>
        <p:spPr>
          <a:xfrm>
            <a:off x="1175273" y="11887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Create Case: Initialize case record with client name and reference number</a:t>
            </a:r>
            <a:endParaRPr lang="en-US" sz="1800" dirty="0"/>
          </a:p>
        </p:txBody>
      </p:sp>
      <p:sp>
        <p:nvSpPr>
          <p:cNvPr id="6" name="Shape 4"/>
          <p:cNvSpPr/>
          <p:nvPr/>
        </p:nvSpPr>
        <p:spPr>
          <a:xfrm>
            <a:off x="626633" y="1828800"/>
            <a:ext cx="365760" cy="365760"/>
          </a:xfrm>
          <a:prstGeom prst="ellipse">
            <a:avLst/>
          </a:prstGeom>
          <a:solidFill>
            <a:srgbClr val="5AB7A3"/>
          </a:solidFill>
          <a:ln/>
        </p:spPr>
        <p:txBody>
          <a:bodyPr/>
          <a:lstStyle/>
          <a:p>
            <a:endParaRPr lang="en-US"/>
          </a:p>
        </p:txBody>
      </p:sp>
      <p:sp>
        <p:nvSpPr>
          <p:cNvPr id="7" name="Text 5"/>
          <p:cNvSpPr/>
          <p:nvPr/>
        </p:nvSpPr>
        <p:spPr>
          <a:xfrm>
            <a:off x="626633" y="18288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p:nvPr/>
        </p:nvSpPr>
        <p:spPr>
          <a:xfrm>
            <a:off x="1175273" y="18745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Upload Documents: Drag-and-drop files or import directly from Clio</a:t>
            </a:r>
            <a:endParaRPr lang="en-US" sz="1800" dirty="0"/>
          </a:p>
        </p:txBody>
      </p:sp>
      <p:sp>
        <p:nvSpPr>
          <p:cNvPr id="9" name="Shape 7"/>
          <p:cNvSpPr/>
          <p:nvPr/>
        </p:nvSpPr>
        <p:spPr>
          <a:xfrm>
            <a:off x="626633" y="2514600"/>
            <a:ext cx="365760" cy="365760"/>
          </a:xfrm>
          <a:prstGeom prst="ellipse">
            <a:avLst/>
          </a:prstGeom>
          <a:solidFill>
            <a:srgbClr val="5AB7A3"/>
          </a:solidFill>
          <a:ln/>
        </p:spPr>
        <p:txBody>
          <a:bodyPr/>
          <a:lstStyle/>
          <a:p>
            <a:endParaRPr lang="en-US"/>
          </a:p>
        </p:txBody>
      </p:sp>
      <p:sp>
        <p:nvSpPr>
          <p:cNvPr id="10" name="Text 8"/>
          <p:cNvSpPr/>
          <p:nvPr/>
        </p:nvSpPr>
        <p:spPr>
          <a:xfrm>
            <a:off x="626633" y="25146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p:nvPr/>
        </p:nvSpPr>
        <p:spPr>
          <a:xfrm>
            <a:off x="1175273" y="25603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Run Analysis: AI processes documents (1–8 minutes)</a:t>
            </a:r>
            <a:endParaRPr lang="en-US" sz="1800" dirty="0"/>
          </a:p>
        </p:txBody>
      </p:sp>
      <p:sp>
        <p:nvSpPr>
          <p:cNvPr id="12" name="Shape 10"/>
          <p:cNvSpPr/>
          <p:nvPr/>
        </p:nvSpPr>
        <p:spPr>
          <a:xfrm>
            <a:off x="626633" y="3200400"/>
            <a:ext cx="365760" cy="365760"/>
          </a:xfrm>
          <a:prstGeom prst="ellipse">
            <a:avLst/>
          </a:prstGeom>
          <a:solidFill>
            <a:srgbClr val="5AB7A3"/>
          </a:solidFill>
          <a:ln/>
        </p:spPr>
        <p:txBody>
          <a:bodyPr/>
          <a:lstStyle/>
          <a:p>
            <a:endParaRPr lang="en-US"/>
          </a:p>
        </p:txBody>
      </p:sp>
      <p:sp>
        <p:nvSpPr>
          <p:cNvPr id="13" name="Text 11"/>
          <p:cNvSpPr/>
          <p:nvPr/>
        </p:nvSpPr>
        <p:spPr>
          <a:xfrm>
            <a:off x="626633" y="32004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2"/>
          <p:cNvSpPr/>
          <p:nvPr/>
        </p:nvSpPr>
        <p:spPr>
          <a:xfrm>
            <a:off x="1175273" y="32461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Review Results: Verify findings letter, timeline, and document summaries</a:t>
            </a:r>
            <a:endParaRPr lang="en-US" sz="1800" dirty="0"/>
          </a:p>
        </p:txBody>
      </p:sp>
      <p:sp>
        <p:nvSpPr>
          <p:cNvPr id="15" name="Shape 13"/>
          <p:cNvSpPr/>
          <p:nvPr/>
        </p:nvSpPr>
        <p:spPr>
          <a:xfrm>
            <a:off x="626633" y="3886200"/>
            <a:ext cx="365760" cy="365760"/>
          </a:xfrm>
          <a:prstGeom prst="ellipse">
            <a:avLst/>
          </a:prstGeom>
          <a:solidFill>
            <a:srgbClr val="5AB7A3"/>
          </a:solidFill>
          <a:ln/>
        </p:spPr>
        <p:txBody>
          <a:bodyPr/>
          <a:lstStyle/>
          <a:p>
            <a:endParaRPr lang="en-US"/>
          </a:p>
        </p:txBody>
      </p:sp>
      <p:sp>
        <p:nvSpPr>
          <p:cNvPr id="16" name="Text 14"/>
          <p:cNvSpPr/>
          <p:nvPr/>
        </p:nvSpPr>
        <p:spPr>
          <a:xfrm>
            <a:off x="626633" y="38862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7" name="Text 15"/>
          <p:cNvSpPr/>
          <p:nvPr/>
        </p:nvSpPr>
        <p:spPr>
          <a:xfrm>
            <a:off x="1175273" y="39319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Export: Edit letter in-browser and export to HTML/Word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9" name="Picture 18">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0" name="Straight Connector 19">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web page&#10;&#10;AI-generated content may be incorrect.">
            <a:extLst>
              <a:ext uri="{FF2B5EF4-FFF2-40B4-BE49-F238E27FC236}">
                <a16:creationId xmlns:a16="http://schemas.microsoft.com/office/drawing/2014/main" id="{E7787325-3544-8577-0AB3-752143048F4B}"/>
              </a:ext>
            </a:extLst>
          </p:cNvPr>
          <p:cNvPicPr>
            <a:picLocks noChangeAspect="1"/>
          </p:cNvPicPr>
          <p:nvPr/>
        </p:nvPicPr>
        <p:blipFill>
          <a:blip r:embed="rId3"/>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4099791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0429847A-151B-CD63-A01D-D869F0E12483}"/>
              </a:ext>
            </a:extLst>
          </p:cNvPr>
          <p:cNvPicPr>
            <a:picLocks noChangeAspect="1"/>
          </p:cNvPicPr>
          <p:nvPr/>
        </p:nvPicPr>
        <p:blipFill>
          <a:blip r:embed="rId3"/>
          <a:srcRect t="14440" b="14343"/>
          <a:stretch>
            <a:fillRect/>
          </a:stretch>
        </p:blipFill>
        <p:spPr>
          <a:xfrm>
            <a:off x="20" y="10"/>
            <a:ext cx="9143980" cy="4590997"/>
          </a:xfrm>
          <a:prstGeom prst="rect">
            <a:avLst/>
          </a:prstGeom>
        </p:spPr>
      </p:pic>
    </p:spTree>
    <p:extLst>
      <p:ext uri="{BB962C8B-B14F-4D97-AF65-F5344CB8AC3E}">
        <p14:creationId xmlns:p14="http://schemas.microsoft.com/office/powerpoint/2010/main" val="3493365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5" name="Picture 24">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6" name="Straight Connector 25">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F5D982E9-D893-FAC4-9D1F-3382ED83D16F}"/>
              </a:ext>
            </a:extLst>
          </p:cNvPr>
          <p:cNvPicPr>
            <a:picLocks noChangeAspect="1"/>
          </p:cNvPicPr>
          <p:nvPr/>
        </p:nvPicPr>
        <p:blipFill>
          <a:blip r:embed="rId3"/>
          <a:srcRect t="7586" b="21197"/>
          <a:stretch>
            <a:fillRect/>
          </a:stretch>
        </p:blipFill>
        <p:spPr>
          <a:xfrm>
            <a:off x="20" y="10"/>
            <a:ext cx="9143980" cy="4590997"/>
          </a:xfrm>
          <a:prstGeom prst="rect">
            <a:avLst/>
          </a:prstGeom>
        </p:spPr>
      </p:pic>
    </p:spTree>
    <p:extLst>
      <p:ext uri="{BB962C8B-B14F-4D97-AF65-F5344CB8AC3E}">
        <p14:creationId xmlns:p14="http://schemas.microsoft.com/office/powerpoint/2010/main" val="553091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70704360-527B-CD3D-CB6A-20BF12D05754}"/>
              </a:ext>
            </a:extLst>
          </p:cNvPr>
          <p:cNvPicPr>
            <a:picLocks noChangeAspect="1"/>
          </p:cNvPicPr>
          <p:nvPr/>
        </p:nvPicPr>
        <p:blipFill>
          <a:blip r:embed="rId3"/>
          <a:srcRect t="14363" b="14420"/>
          <a:stretch>
            <a:fillRect/>
          </a:stretch>
        </p:blipFill>
        <p:spPr>
          <a:xfrm>
            <a:off x="20" y="10"/>
            <a:ext cx="9143980" cy="4590997"/>
          </a:xfrm>
          <a:prstGeom prst="rect">
            <a:avLst/>
          </a:prstGeom>
        </p:spPr>
      </p:pic>
    </p:spTree>
    <p:extLst>
      <p:ext uri="{BB962C8B-B14F-4D97-AF65-F5344CB8AC3E}">
        <p14:creationId xmlns:p14="http://schemas.microsoft.com/office/powerpoint/2010/main" val="1975128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AEEA920-9C91-F17C-F60B-1C8612806B4C}"/>
              </a:ext>
            </a:extLst>
          </p:cNvPr>
          <p:cNvPicPr>
            <a:picLocks noChangeAspect="1"/>
          </p:cNvPicPr>
          <p:nvPr/>
        </p:nvPicPr>
        <p:blipFill>
          <a:blip r:embed="rId3"/>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649173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BBA9649-FCB6-EF01-B9F9-06206F78A285}"/>
              </a:ext>
            </a:extLst>
          </p:cNvPr>
          <p:cNvPicPr>
            <a:picLocks noChangeAspect="1"/>
          </p:cNvPicPr>
          <p:nvPr/>
        </p:nvPicPr>
        <p:blipFill>
          <a:blip r:embed="rId3"/>
          <a:srcRect t="18775" b="10008"/>
          <a:stretch>
            <a:fillRect/>
          </a:stretch>
        </p:blipFill>
        <p:spPr>
          <a:xfrm>
            <a:off x="20" y="10"/>
            <a:ext cx="9143980" cy="4590997"/>
          </a:xfrm>
          <a:prstGeom prst="rect">
            <a:avLst/>
          </a:prstGeom>
        </p:spPr>
      </p:pic>
    </p:spTree>
    <p:extLst>
      <p:ext uri="{BB962C8B-B14F-4D97-AF65-F5344CB8AC3E}">
        <p14:creationId xmlns:p14="http://schemas.microsoft.com/office/powerpoint/2010/main" val="2404876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61E9AFA9-E1CE-E833-DDBF-8BB76123F4C6}"/>
              </a:ext>
            </a:extLst>
          </p:cNvPr>
          <p:cNvPicPr>
            <a:picLocks noChangeAspect="1"/>
          </p:cNvPicPr>
          <p:nvPr/>
        </p:nvPicPr>
        <p:blipFill>
          <a:blip r:embed="rId3"/>
          <a:srcRect b="28783"/>
          <a:stretch>
            <a:fillRect/>
          </a:stretch>
        </p:blipFill>
        <p:spPr>
          <a:xfrm>
            <a:off x="20" y="10"/>
            <a:ext cx="9143980" cy="4590997"/>
          </a:xfrm>
          <a:prstGeom prst="rect">
            <a:avLst/>
          </a:prstGeom>
        </p:spPr>
      </p:pic>
    </p:spTree>
    <p:extLst>
      <p:ext uri="{BB962C8B-B14F-4D97-AF65-F5344CB8AC3E}">
        <p14:creationId xmlns:p14="http://schemas.microsoft.com/office/powerpoint/2010/main" val="2956878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129DBC85-E44B-99E5-1E2D-D9BABD706BC5}"/>
              </a:ext>
            </a:extLst>
          </p:cNvPr>
          <p:cNvPicPr>
            <a:picLocks noChangeAspect="1"/>
          </p:cNvPicPr>
          <p:nvPr/>
        </p:nvPicPr>
        <p:blipFill>
          <a:blip r:embed="rId3"/>
          <a:srcRect t="24939" b="3844"/>
          <a:stretch>
            <a:fillRect/>
          </a:stretch>
        </p:blipFill>
        <p:spPr>
          <a:xfrm>
            <a:off x="20" y="10"/>
            <a:ext cx="9143980" cy="4590997"/>
          </a:xfrm>
          <a:prstGeom prst="rect">
            <a:avLst/>
          </a:prstGeom>
        </p:spPr>
      </p:pic>
    </p:spTree>
    <p:extLst>
      <p:ext uri="{BB962C8B-B14F-4D97-AF65-F5344CB8AC3E}">
        <p14:creationId xmlns:p14="http://schemas.microsoft.com/office/powerpoint/2010/main" val="28766853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38F172-08B9-4BA5-B753-7D93472C0B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0" name="Picture 9">
            <a:extLst>
              <a:ext uri="{FF2B5EF4-FFF2-40B4-BE49-F238E27FC236}">
                <a16:creationId xmlns:a16="http://schemas.microsoft.com/office/drawing/2014/main" id="{C900681B-C4FD-40B3-B5BC-C33231614C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2" name="Straight Connector 11">
            <a:extLst>
              <a:ext uri="{FF2B5EF4-FFF2-40B4-BE49-F238E27FC236}">
                <a16:creationId xmlns:a16="http://schemas.microsoft.com/office/drawing/2014/main" id="{FEAACD67-2FB5-4530-9B74-8D946F1CE9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3" name="Picture 2" descr="A screenshot of a computer&#10;&#10;AI-generated content may be incorrect.">
            <a:extLst>
              <a:ext uri="{FF2B5EF4-FFF2-40B4-BE49-F238E27FC236}">
                <a16:creationId xmlns:a16="http://schemas.microsoft.com/office/drawing/2014/main" id="{D0524FF6-0C80-9C03-E82D-B818DBD1235E}"/>
              </a:ext>
            </a:extLst>
          </p:cNvPr>
          <p:cNvPicPr>
            <a:picLocks noChangeAspect="1"/>
          </p:cNvPicPr>
          <p:nvPr/>
        </p:nvPicPr>
        <p:blipFill>
          <a:blip r:embed="rId3"/>
          <a:srcRect t="13329" b="15454"/>
          <a:stretch>
            <a:fillRect/>
          </a:stretch>
        </p:blipFill>
        <p:spPr>
          <a:xfrm>
            <a:off x="20" y="10"/>
            <a:ext cx="9143980" cy="4590997"/>
          </a:xfrm>
          <a:prstGeom prst="rect">
            <a:avLst/>
          </a:prstGeom>
        </p:spPr>
      </p:pic>
    </p:spTree>
    <p:extLst>
      <p:ext uri="{BB962C8B-B14F-4D97-AF65-F5344CB8AC3E}">
        <p14:creationId xmlns:p14="http://schemas.microsoft.com/office/powerpoint/2010/main" val="3522372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Supported Documents &amp; Intake</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Broad format support: PDF, DOCX, TXT, CSV, JPG, PNG, EML, HTML.</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Integrated OCR processes scanned documents using GPT-4o Vision.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Clio integration imports matters and documents directly.</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Verification Hub fixes or excludes poor-quality documents</a:t>
            </a:r>
          </a:p>
        </p:txBody>
      </p:sp>
      <p:sp>
        <p:nvSpPr>
          <p:cNvPr id="5" name="Text 3"/>
          <p:cNvSpPr/>
          <p:nvPr/>
        </p:nvSpPr>
        <p:spPr>
          <a:xfrm>
            <a:off x="804724" y="4183716"/>
            <a:ext cx="7534552" cy="456528"/>
          </a:xfrm>
          <a:prstGeom prst="rect">
            <a:avLst/>
          </a:prstGeom>
          <a:noFill/>
          <a:ln/>
        </p:spPr>
        <p:txBody>
          <a:bodyPr wrap="square" rtlCol="0" anchor="ctr"/>
          <a:lstStyle/>
          <a:p>
            <a:pPr marL="0" indent="0" algn="ctr">
              <a:spcAft>
                <a:spcPts val="600"/>
              </a:spcAft>
              <a:buNone/>
            </a:pPr>
            <a:r>
              <a:rPr lang="en-US" sz="2000" b="1" dirty="0">
                <a:solidFill>
                  <a:srgbClr val="181A31"/>
                </a:solidFill>
                <a:latin typeface="Calibri" pitchFamily="34" charset="0"/>
                <a:ea typeface="Calibri" pitchFamily="34" charset="-122"/>
                <a:cs typeface="Calibri" pitchFamily="34" charset="-120"/>
              </a:rPr>
              <a:t>Upload core documents first: intake forms, police reports, contracts</a:t>
            </a:r>
            <a:endParaRPr lang="en-US" sz="2000"/>
          </a:p>
        </p:txBody>
      </p:sp>
    </p:spTree>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Findings Letters &amp; Citations</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Professional format: Structured, attorney-style letters.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Source linking: Every fact includes inline citation (e.g., [Client_Intake.pdf]).</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Instant verification: Click any citation to view the original source.</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Draft status: All outputs designed for attorney review</a:t>
            </a:r>
          </a:p>
        </p:txBody>
      </p:sp>
      <p:sp>
        <p:nvSpPr>
          <p:cNvPr id="5" name="Text 3"/>
          <p:cNvSpPr/>
          <p:nvPr/>
        </p:nvSpPr>
        <p:spPr>
          <a:xfrm>
            <a:off x="758279" y="3963296"/>
            <a:ext cx="7664825" cy="548640"/>
          </a:xfrm>
          <a:prstGeom prst="rect">
            <a:avLst/>
          </a:prstGeom>
          <a:noFill/>
          <a:ln/>
        </p:spPr>
        <p:txBody>
          <a:bodyPr wrap="square" rtlCol="0" anchor="ctr"/>
          <a:lstStyle/>
          <a:p>
            <a:pPr marL="0" indent="0" algn="ctr">
              <a:spcAft>
                <a:spcPts val="600"/>
              </a:spcAft>
              <a:buNone/>
            </a:pPr>
            <a:r>
              <a:rPr lang="en-US" sz="2200" b="1" dirty="0">
                <a:solidFill>
                  <a:srgbClr val="181A31"/>
                </a:solidFill>
                <a:latin typeface="Calibri" pitchFamily="34" charset="0"/>
                <a:ea typeface="Calibri" pitchFamily="34" charset="-122"/>
                <a:cs typeface="Calibri" pitchFamily="34" charset="-120"/>
              </a:rPr>
              <a:t>You can audit the AI's work by clicking the citations.</a:t>
            </a:r>
            <a:endParaRPr lang="en-US" sz="2200"/>
          </a:p>
        </p:txBody>
      </p:sp>
    </p:spTree>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Quality, Accuracy &amp; Control</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Verified legal corpus: AI checks citations against 51 FL + 42 NM statutes.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Hallucination guardrails: Citations rejected if not in verified corpus.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Jurisdiction limits: Optimized only for Florida and New Mexico civil litigation.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Attorney responsibility: You verify cited statutes are strategically applicable</a:t>
            </a:r>
          </a:p>
        </p:txBody>
      </p:sp>
      <p:sp>
        <p:nvSpPr>
          <p:cNvPr id="5" name="Text 3"/>
          <p:cNvSpPr/>
          <p:nvPr/>
        </p:nvSpPr>
        <p:spPr>
          <a:xfrm>
            <a:off x="1611761" y="4137660"/>
            <a:ext cx="5920478" cy="548640"/>
          </a:xfrm>
          <a:prstGeom prst="rect">
            <a:avLst/>
          </a:prstGeom>
          <a:noFill/>
          <a:ln/>
        </p:spPr>
        <p:txBody>
          <a:bodyPr wrap="square" rtlCol="0" anchor="ctr"/>
          <a:lstStyle/>
          <a:p>
            <a:pPr marL="0" indent="0" algn="ctr">
              <a:spcAft>
                <a:spcPts val="600"/>
              </a:spcAft>
              <a:buNone/>
            </a:pPr>
            <a:r>
              <a:rPr lang="en-US" sz="2200" b="1" dirty="0">
                <a:solidFill>
                  <a:srgbClr val="181A31"/>
                </a:solidFill>
                <a:latin typeface="Calibri" pitchFamily="34" charset="0"/>
                <a:ea typeface="Calibri" pitchFamily="34" charset="-122"/>
                <a:cs typeface="Calibri" pitchFamily="34" charset="-120"/>
              </a:rPr>
              <a:t>You are the final decision-maker.</a:t>
            </a:r>
            <a:endParaRPr lang="en-US" sz="2200"/>
          </a:p>
        </p:txBody>
      </p:sp>
    </p:spTree>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What Is Rolling Out Now</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Live jurisdictions: Florida and New Mexico civil litigation.</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Included areas: Consumer protection, landlord-tenant, foreclosure, construction, contracts.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Explicit exclusions: No federal claims, criminal law, immigration, bankruptcy, family law.</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Status: Version 3.1.0 is live and available for immediate use</a:t>
            </a:r>
          </a:p>
        </p:txBody>
      </p:sp>
      <p:sp>
        <p:nvSpPr>
          <p:cNvPr id="5" name="Text 3"/>
          <p:cNvSpPr/>
          <p:nvPr/>
        </p:nvSpPr>
        <p:spPr>
          <a:xfrm>
            <a:off x="1503179" y="4362562"/>
            <a:ext cx="6137639" cy="414842"/>
          </a:xfrm>
          <a:prstGeom prst="rect">
            <a:avLst/>
          </a:prstGeom>
          <a:noFill/>
          <a:ln/>
        </p:spPr>
        <p:txBody>
          <a:bodyPr wrap="square" rtlCol="0" anchor="ctr"/>
          <a:lstStyle/>
          <a:p>
            <a:pPr marL="0" indent="0" algn="ctr">
              <a:spcAft>
                <a:spcPts val="600"/>
              </a:spcAft>
              <a:buNone/>
            </a:pPr>
            <a:r>
              <a:rPr lang="en-US" sz="2000" b="1" dirty="0">
                <a:solidFill>
                  <a:srgbClr val="181A31"/>
                </a:solidFill>
                <a:latin typeface="Calibri" pitchFamily="34" charset="0"/>
                <a:ea typeface="Calibri" pitchFamily="34" charset="-122"/>
                <a:cs typeface="Calibri" pitchFamily="34" charset="-120"/>
              </a:rPr>
              <a:t>Do not use for federal cases or criminal law.</a:t>
            </a:r>
            <a:endParaRPr lang="en-US" sz="2000"/>
          </a:p>
        </p:txBody>
      </p:sp>
    </p:spTree>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14" name="Straight Connector 13">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ext 0"/>
          <p:cNvSpPr/>
          <p:nvPr/>
        </p:nvSpPr>
        <p:spPr>
          <a:xfrm>
            <a:off x="1088684" y="603389"/>
            <a:ext cx="7202456" cy="786926"/>
          </a:xfrm>
          <a:prstGeom prst="rect">
            <a:avLst/>
          </a:prstGeom>
        </p:spPr>
        <p:txBody>
          <a:bodyPr vert="horz" lIns="91440" tIns="45720" rIns="91440" bIns="45720" rtlCol="0" anchor="t">
            <a:normAutofit/>
          </a:bodyPr>
          <a:lstStyle/>
          <a:p>
            <a:pPr marL="0" indent="0" defTabSz="914400">
              <a:lnSpc>
                <a:spcPct val="90000"/>
              </a:lnSpc>
              <a:spcBef>
                <a:spcPct val="0"/>
              </a:spcBef>
              <a:spcAft>
                <a:spcPts val="600"/>
              </a:spcAft>
            </a:pPr>
            <a:r>
              <a:rPr lang="en-US" sz="3200" b="0" i="0" kern="1200" cap="all" dirty="0">
                <a:solidFill>
                  <a:schemeClr val="tx1"/>
                </a:solidFill>
                <a:effectLst/>
                <a:latin typeface="+mj-lt"/>
                <a:ea typeface="+mj-ea"/>
                <a:cs typeface="+mj-cs"/>
              </a:rPr>
              <a:t>Adoption Plan &amp; Expectations</a:t>
            </a:r>
          </a:p>
        </p:txBody>
      </p:sp>
      <p:sp>
        <p:nvSpPr>
          <p:cNvPr id="3" name="Text 1"/>
          <p:cNvSpPr/>
          <p:nvPr/>
        </p:nvSpPr>
        <p:spPr>
          <a:xfrm>
            <a:off x="1088684" y="1511799"/>
            <a:ext cx="7202456" cy="2587959"/>
          </a:xfrm>
          <a:prstGeom prst="rect">
            <a:avLst/>
          </a:prstGeom>
        </p:spPr>
        <p:txBody>
          <a:bodyPr vert="horz" lIns="91440" tIns="45720" rIns="91440" bIns="45720" rtlCol="0" anchor="t">
            <a:normAutofit/>
          </a:bodyPr>
          <a:lstStyle/>
          <a:p>
            <a:pPr marL="342900" indent="-228600" defTabSz="914400">
              <a:lnSpc>
                <a:spcPct val="120000"/>
              </a:lnSpc>
              <a:spcAft>
                <a:spcPts val="600"/>
              </a:spcAft>
              <a:buClr>
                <a:schemeClr val="accent1"/>
              </a:buClr>
              <a:buSzPct val="100000"/>
              <a:buFont typeface="Arial" panose="020B0604020202020204" pitchFamily="34" charset="0"/>
              <a:buChar char="•"/>
            </a:pPr>
            <a:r>
              <a:rPr lang="en-US"/>
              <a:t>Immediate access: Your accounts are created; credentials distributed.</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Resources: One-page Quickstart Guide emailed to you.</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Training: Live Q&amp;A session next Wednesday for questions.</a:t>
            </a:r>
          </a:p>
          <a:p>
            <a:pPr marL="342900" indent="-228600" defTabSz="914400">
              <a:lnSpc>
                <a:spcPct val="120000"/>
              </a:lnSpc>
              <a:spcAft>
                <a:spcPts val="600"/>
              </a:spcAft>
              <a:buClr>
                <a:schemeClr val="accent1"/>
              </a:buClr>
              <a:buSzPct val="100000"/>
              <a:buFont typeface="Arial" panose="020B0604020202020204" pitchFamily="34" charset="0"/>
              <a:buChar char="•"/>
            </a:pPr>
            <a:r>
              <a:rPr lang="en-US"/>
              <a:t>Support: Dedicated channels for technical issues and feature requests</a:t>
            </a:r>
          </a:p>
        </p:txBody>
      </p:sp>
      <p:sp>
        <p:nvSpPr>
          <p:cNvPr id="5" name="Text 3"/>
          <p:cNvSpPr/>
          <p:nvPr/>
        </p:nvSpPr>
        <p:spPr>
          <a:xfrm>
            <a:off x="1463177" y="4114800"/>
            <a:ext cx="6217646" cy="403412"/>
          </a:xfrm>
          <a:prstGeom prst="rect">
            <a:avLst/>
          </a:prstGeom>
          <a:noFill/>
          <a:ln/>
        </p:spPr>
        <p:txBody>
          <a:bodyPr wrap="square" rtlCol="0" anchor="ctr"/>
          <a:lstStyle/>
          <a:p>
            <a:pPr marL="0" indent="0" algn="ctr">
              <a:spcAft>
                <a:spcPts val="600"/>
              </a:spcAft>
              <a:buNone/>
            </a:pPr>
            <a:r>
              <a:rPr lang="en-US" sz="2000" b="1" dirty="0">
                <a:solidFill>
                  <a:srgbClr val="181A31"/>
                </a:solidFill>
                <a:latin typeface="Calibri" pitchFamily="34" charset="0"/>
                <a:ea typeface="Calibri" pitchFamily="34" charset="-122"/>
                <a:cs typeface="Calibri" pitchFamily="34" charset="-120"/>
              </a:rPr>
              <a:t>Expectation: Log in and create a test case this week</a:t>
            </a:r>
            <a:endParaRPr lang="en-US" sz="2000"/>
          </a:p>
        </p:txBody>
      </p:sp>
    </p:spTree>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295836" y="0"/>
            <a:ext cx="10360152" cy="1097280"/>
          </a:xfrm>
          <a:prstGeom prst="rect">
            <a:avLst/>
          </a:prstGeom>
          <a:noFill/>
          <a:ln/>
        </p:spPr>
        <p:txBody>
          <a:bodyPr wrap="square" rtlCol="0" anchor="ctr"/>
          <a:lstStyle/>
          <a:p>
            <a:pPr marL="0" indent="0" algn="l">
              <a:buNone/>
            </a:pPr>
            <a:r>
              <a:rPr lang="en-US" sz="3600" b="1" dirty="0">
                <a:solidFill>
                  <a:srgbClr val="181A31"/>
                </a:solidFill>
                <a:latin typeface="Calibri" pitchFamily="34" charset="0"/>
                <a:ea typeface="Calibri" pitchFamily="34" charset="-122"/>
                <a:cs typeface="Calibri" pitchFamily="34" charset="-120"/>
              </a:rPr>
              <a:t>Immediate Next Steps</a:t>
            </a:r>
            <a:endParaRPr lang="en-US" sz="3600" dirty="0"/>
          </a:p>
        </p:txBody>
      </p:sp>
      <p:sp>
        <p:nvSpPr>
          <p:cNvPr id="3" name="Shape 1"/>
          <p:cNvSpPr/>
          <p:nvPr/>
        </p:nvSpPr>
        <p:spPr>
          <a:xfrm>
            <a:off x="478716" y="1143000"/>
            <a:ext cx="365760" cy="365760"/>
          </a:xfrm>
          <a:prstGeom prst="rect">
            <a:avLst/>
          </a:prstGeom>
          <a:solidFill>
            <a:srgbClr val="5AB7A3"/>
          </a:solidFill>
          <a:ln/>
        </p:spPr>
        <p:txBody>
          <a:bodyPr/>
          <a:lstStyle/>
          <a:p>
            <a:endParaRPr lang="en-US"/>
          </a:p>
        </p:txBody>
      </p:sp>
      <p:sp>
        <p:nvSpPr>
          <p:cNvPr id="4" name="Text 2"/>
          <p:cNvSpPr/>
          <p:nvPr/>
        </p:nvSpPr>
        <p:spPr>
          <a:xfrm>
            <a:off x="478716" y="114300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p:nvPr/>
        </p:nvSpPr>
        <p:spPr>
          <a:xfrm>
            <a:off x="1027356" y="118872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Verify Access: Log in to the portal today</a:t>
            </a:r>
            <a:endParaRPr lang="en-US" sz="1800" dirty="0"/>
          </a:p>
        </p:txBody>
      </p:sp>
      <p:sp>
        <p:nvSpPr>
          <p:cNvPr id="6" name="Shape 4"/>
          <p:cNvSpPr/>
          <p:nvPr/>
        </p:nvSpPr>
        <p:spPr>
          <a:xfrm>
            <a:off x="478716" y="1874520"/>
            <a:ext cx="365760" cy="365760"/>
          </a:xfrm>
          <a:prstGeom prst="rect">
            <a:avLst/>
          </a:prstGeom>
          <a:solidFill>
            <a:srgbClr val="5AB7A3"/>
          </a:solidFill>
          <a:ln/>
        </p:spPr>
        <p:txBody>
          <a:bodyPr/>
          <a:lstStyle/>
          <a:p>
            <a:endParaRPr lang="en-US"/>
          </a:p>
        </p:txBody>
      </p:sp>
      <p:sp>
        <p:nvSpPr>
          <p:cNvPr id="7" name="Text 5"/>
          <p:cNvSpPr/>
          <p:nvPr/>
        </p:nvSpPr>
        <p:spPr>
          <a:xfrm>
            <a:off x="478716" y="187452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p:nvPr/>
        </p:nvSpPr>
        <p:spPr>
          <a:xfrm>
            <a:off x="1027356" y="192024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Create Test Case: Upload sample documents to familiarize yourself</a:t>
            </a:r>
            <a:endParaRPr lang="en-US" sz="1800" dirty="0"/>
          </a:p>
        </p:txBody>
      </p:sp>
      <p:sp>
        <p:nvSpPr>
          <p:cNvPr id="9" name="Shape 7"/>
          <p:cNvSpPr/>
          <p:nvPr/>
        </p:nvSpPr>
        <p:spPr>
          <a:xfrm>
            <a:off x="478716" y="2606040"/>
            <a:ext cx="365760" cy="365760"/>
          </a:xfrm>
          <a:prstGeom prst="rect">
            <a:avLst/>
          </a:prstGeom>
          <a:solidFill>
            <a:srgbClr val="5AB7A3"/>
          </a:solidFill>
          <a:ln/>
        </p:spPr>
        <p:txBody>
          <a:bodyPr/>
          <a:lstStyle/>
          <a:p>
            <a:endParaRPr lang="en-US"/>
          </a:p>
        </p:txBody>
      </p:sp>
      <p:sp>
        <p:nvSpPr>
          <p:cNvPr id="10" name="Text 8"/>
          <p:cNvSpPr/>
          <p:nvPr/>
        </p:nvSpPr>
        <p:spPr>
          <a:xfrm>
            <a:off x="478716" y="260604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p:nvPr/>
        </p:nvSpPr>
        <p:spPr>
          <a:xfrm>
            <a:off x="1027356" y="265176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Real Intake: Use Harvey AI for your next eligible case</a:t>
            </a:r>
            <a:endParaRPr lang="en-US" sz="1800" dirty="0"/>
          </a:p>
        </p:txBody>
      </p:sp>
      <p:sp>
        <p:nvSpPr>
          <p:cNvPr id="12" name="Shape 10"/>
          <p:cNvSpPr/>
          <p:nvPr/>
        </p:nvSpPr>
        <p:spPr>
          <a:xfrm>
            <a:off x="478716" y="3337560"/>
            <a:ext cx="365760" cy="365760"/>
          </a:xfrm>
          <a:prstGeom prst="rect">
            <a:avLst/>
          </a:prstGeom>
          <a:solidFill>
            <a:srgbClr val="5AB7A3"/>
          </a:solidFill>
          <a:ln/>
        </p:spPr>
        <p:txBody>
          <a:bodyPr/>
          <a:lstStyle/>
          <a:p>
            <a:endParaRPr lang="en-US"/>
          </a:p>
        </p:txBody>
      </p:sp>
      <p:sp>
        <p:nvSpPr>
          <p:cNvPr id="13" name="Text 11"/>
          <p:cNvSpPr/>
          <p:nvPr/>
        </p:nvSpPr>
        <p:spPr>
          <a:xfrm>
            <a:off x="478716" y="3337560"/>
            <a:ext cx="365760" cy="36576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2"/>
          <p:cNvSpPr/>
          <p:nvPr/>
        </p:nvSpPr>
        <p:spPr>
          <a:xfrm>
            <a:off x="1027356" y="3383280"/>
            <a:ext cx="8686800" cy="457200"/>
          </a:xfrm>
          <a:prstGeom prst="rect">
            <a:avLst/>
          </a:prstGeom>
          <a:noFill/>
          <a:ln/>
        </p:spPr>
        <p:txBody>
          <a:bodyPr wrap="square" rtlCol="0" anchor="t"/>
          <a:lstStyle/>
          <a:p>
            <a:pPr marL="0" indent="0" algn="l">
              <a:buNone/>
            </a:pPr>
            <a:r>
              <a:rPr lang="en-US" sz="1800" dirty="0">
                <a:solidFill>
                  <a:srgbClr val="39428E"/>
                </a:solidFill>
                <a:latin typeface="Calibri" pitchFamily="34" charset="0"/>
                <a:ea typeface="Calibri" pitchFamily="34" charset="-122"/>
                <a:cs typeface="Calibri" pitchFamily="34" charset="-120"/>
              </a:rPr>
              <a:t>Attend Q&amp;A: Bring questions and feedback to next Wednesday's session</a:t>
            </a:r>
            <a:endParaRPr lang="en-US" sz="1800" dirty="0"/>
          </a:p>
        </p:txBody>
      </p:sp>
      <p:sp>
        <p:nvSpPr>
          <p:cNvPr id="16" name="Text 14"/>
          <p:cNvSpPr/>
          <p:nvPr/>
        </p:nvSpPr>
        <p:spPr>
          <a:xfrm>
            <a:off x="1977929" y="3848548"/>
            <a:ext cx="4677155" cy="640080"/>
          </a:xfrm>
          <a:prstGeom prst="rect">
            <a:avLst/>
          </a:prstGeom>
          <a:noFill/>
          <a:ln/>
        </p:spPr>
        <p:txBody>
          <a:bodyPr wrap="square" rtlCol="0" anchor="ctr"/>
          <a:lstStyle/>
          <a:p>
            <a:pPr marL="0" indent="0" algn="ctr">
              <a:buNone/>
            </a:pPr>
            <a:r>
              <a:rPr lang="en-US" sz="2000" b="1" dirty="0">
                <a:latin typeface="Calibri" pitchFamily="34" charset="0"/>
                <a:ea typeface="Calibri" pitchFamily="34" charset="-122"/>
                <a:cs typeface="Calibri" pitchFamily="34" charset="-120"/>
              </a:rPr>
              <a:t>This is live. Use it on your next intake.</a:t>
            </a:r>
            <a:endParaRPr lang="en-US" sz="2000" dirty="0"/>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64</TotalTime>
  <Words>877</Words>
  <Application>Microsoft Macintosh PowerPoint</Application>
  <PresentationFormat>On-screen Show (16:9)</PresentationFormat>
  <Paragraphs>87</Paragraphs>
  <Slides>19</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Gill Sans MT</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Bernhardt Riley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Harvey AI: Legal Document Analysis Portal</dc:title>
  <dc:subject>Harvey AI Attorney Adoption</dc:subject>
  <dc:creator>Bernhardt Riley</dc:creator>
  <cp:lastModifiedBy>Franklin Riley</cp:lastModifiedBy>
  <cp:revision>4</cp:revision>
  <dcterms:created xsi:type="dcterms:W3CDTF">2026-01-23T17:15:23Z</dcterms:created>
  <dcterms:modified xsi:type="dcterms:W3CDTF">2026-01-23T18:23:29Z</dcterms:modified>
</cp:coreProperties>
</file>